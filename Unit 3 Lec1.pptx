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300" r:id="rId21"/>
    <p:sldId id="275" r:id="rId22"/>
    <p:sldId id="276" r:id="rId23"/>
    <p:sldId id="277" r:id="rId24"/>
    <p:sldId id="278" r:id="rId25"/>
    <p:sldId id="279" r:id="rId26"/>
    <p:sldId id="280" r:id="rId27"/>
    <p:sldId id="281" r:id="rId28"/>
    <p:sldId id="282" r:id="rId29"/>
    <p:sldId id="283" r:id="rId30"/>
    <p:sldId id="284" r:id="rId31"/>
    <p:sldId id="285" r:id="rId32"/>
    <p:sldId id="287" r:id="rId33"/>
    <p:sldId id="286" r:id="rId34"/>
    <p:sldId id="288" r:id="rId35"/>
    <p:sldId id="289" r:id="rId36"/>
    <p:sldId id="290" r:id="rId37"/>
    <p:sldId id="291" r:id="rId38"/>
    <p:sldId id="292" r:id="rId39"/>
    <p:sldId id="293" r:id="rId40"/>
    <p:sldId id="294" r:id="rId41"/>
    <p:sldId id="295" r:id="rId42"/>
    <p:sldId id="296" r:id="rId43"/>
    <p:sldId id="297" r:id="rId44"/>
    <p:sldId id="299" r:id="rId45"/>
    <p:sldId id="301" r:id="rId46"/>
    <p:sldId id="302" r:id="rId47"/>
    <p:sldId id="303" r:id="rId48"/>
    <p:sldId id="304" r:id="rId49"/>
    <p:sldId id="298"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19AB56-2571-4051-B291-10CD0209420B}" v="36" dt="2026-03-08T00:20:24.2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3" d="100"/>
          <a:sy n="63" d="100"/>
        </p:scale>
        <p:origin x="76"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EEAFEA-C760-4BB8-B6DB-092A3352C77A}" type="datetimeFigureOut">
              <a:rPr lang="en-US" smtClean="0"/>
              <a:t>3/6/2026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68150F-083D-410A-8685-DD09DEBCAA9F}" type="slidenum">
              <a:rPr lang="en-US" smtClean="0"/>
              <a:t>‹#›</a:t>
            </a:fld>
            <a:endParaRPr lang="en-US"/>
          </a:p>
        </p:txBody>
      </p:sp>
    </p:spTree>
    <p:extLst>
      <p:ext uri="{BB962C8B-B14F-4D97-AF65-F5344CB8AC3E}">
        <p14:creationId xmlns:p14="http://schemas.microsoft.com/office/powerpoint/2010/main" val="414613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68150F-083D-410A-8685-DD09DEBCAA9F}" type="slidenum">
              <a:rPr lang="en-US" smtClean="0"/>
              <a:t>23</a:t>
            </a:fld>
            <a:endParaRPr lang="en-US"/>
          </a:p>
        </p:txBody>
      </p:sp>
    </p:spTree>
    <p:extLst>
      <p:ext uri="{BB962C8B-B14F-4D97-AF65-F5344CB8AC3E}">
        <p14:creationId xmlns:p14="http://schemas.microsoft.com/office/powerpoint/2010/main" val="6719281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34273-19A4-4A29-B40E-9B05408E886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AF0B029-9DE2-2AAC-683A-6062B64463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1A89A9C-E761-5BA0-A1B0-31D4FB17F749}"/>
              </a:ext>
            </a:extLst>
          </p:cNvPr>
          <p:cNvSpPr>
            <a:spLocks noGrp="1"/>
          </p:cNvSpPr>
          <p:nvPr>
            <p:ph type="dt" sz="half" idx="10"/>
          </p:nvPr>
        </p:nvSpPr>
        <p:spPr/>
        <p:txBody>
          <a:bodyPr/>
          <a:lstStyle/>
          <a:p>
            <a:fld id="{92418D3E-0AB3-4A96-A7D2-7D5B6CE9EA76}" type="datetimeFigureOut">
              <a:rPr lang="en-US" smtClean="0"/>
              <a:t>3/6/2026</a:t>
            </a:fld>
            <a:endParaRPr lang="en-US"/>
          </a:p>
        </p:txBody>
      </p:sp>
      <p:sp>
        <p:nvSpPr>
          <p:cNvPr id="5" name="Footer Placeholder 4">
            <a:extLst>
              <a:ext uri="{FF2B5EF4-FFF2-40B4-BE49-F238E27FC236}">
                <a16:creationId xmlns:a16="http://schemas.microsoft.com/office/drawing/2014/main" id="{64EFE3C0-2575-50D3-971B-5360E91055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C137AD-7D9D-2D76-79D1-BA4C95F41D4F}"/>
              </a:ext>
            </a:extLst>
          </p:cNvPr>
          <p:cNvSpPr>
            <a:spLocks noGrp="1"/>
          </p:cNvSpPr>
          <p:nvPr>
            <p:ph type="sldNum" sz="quarter" idx="12"/>
          </p:nvPr>
        </p:nvSpPr>
        <p:spPr/>
        <p:txBody>
          <a:bodyPr/>
          <a:lstStyle/>
          <a:p>
            <a:fld id="{BBE4A4DA-83F2-45C8-B7DA-B6BB897CD865}" type="slidenum">
              <a:rPr lang="en-US" smtClean="0"/>
              <a:t>‹#›</a:t>
            </a:fld>
            <a:endParaRPr lang="en-US"/>
          </a:p>
        </p:txBody>
      </p:sp>
    </p:spTree>
    <p:extLst>
      <p:ext uri="{BB962C8B-B14F-4D97-AF65-F5344CB8AC3E}">
        <p14:creationId xmlns:p14="http://schemas.microsoft.com/office/powerpoint/2010/main" val="2354361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5E3CF-6ACA-79D4-48BD-ECE4D1054C2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793AED-8645-F461-F7E6-33E239C6DA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51DA8E-3C97-86D7-55AF-820B11CF5717}"/>
              </a:ext>
            </a:extLst>
          </p:cNvPr>
          <p:cNvSpPr>
            <a:spLocks noGrp="1"/>
          </p:cNvSpPr>
          <p:nvPr>
            <p:ph type="dt" sz="half" idx="10"/>
          </p:nvPr>
        </p:nvSpPr>
        <p:spPr/>
        <p:txBody>
          <a:bodyPr/>
          <a:lstStyle/>
          <a:p>
            <a:fld id="{92418D3E-0AB3-4A96-A7D2-7D5B6CE9EA76}" type="datetimeFigureOut">
              <a:rPr lang="en-US" smtClean="0"/>
              <a:t>3/6/2026</a:t>
            </a:fld>
            <a:endParaRPr lang="en-US"/>
          </a:p>
        </p:txBody>
      </p:sp>
      <p:sp>
        <p:nvSpPr>
          <p:cNvPr id="5" name="Footer Placeholder 4">
            <a:extLst>
              <a:ext uri="{FF2B5EF4-FFF2-40B4-BE49-F238E27FC236}">
                <a16:creationId xmlns:a16="http://schemas.microsoft.com/office/drawing/2014/main" id="{AA25498E-330D-8B55-04C0-41BF1FC0B0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31E2E6-D40A-5DC6-D283-9FF7211D9448}"/>
              </a:ext>
            </a:extLst>
          </p:cNvPr>
          <p:cNvSpPr>
            <a:spLocks noGrp="1"/>
          </p:cNvSpPr>
          <p:nvPr>
            <p:ph type="sldNum" sz="quarter" idx="12"/>
          </p:nvPr>
        </p:nvSpPr>
        <p:spPr/>
        <p:txBody>
          <a:bodyPr/>
          <a:lstStyle/>
          <a:p>
            <a:fld id="{BBE4A4DA-83F2-45C8-B7DA-B6BB897CD865}" type="slidenum">
              <a:rPr lang="en-US" smtClean="0"/>
              <a:t>‹#›</a:t>
            </a:fld>
            <a:endParaRPr lang="en-US"/>
          </a:p>
        </p:txBody>
      </p:sp>
    </p:spTree>
    <p:extLst>
      <p:ext uri="{BB962C8B-B14F-4D97-AF65-F5344CB8AC3E}">
        <p14:creationId xmlns:p14="http://schemas.microsoft.com/office/powerpoint/2010/main" val="40135242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75CE3-8269-B008-95A3-F653F3752D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86425B6-1DBD-C930-05AA-83B77E8D2C3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B139FE-186A-56FB-B386-2D9B8FCCCE0F}"/>
              </a:ext>
            </a:extLst>
          </p:cNvPr>
          <p:cNvSpPr>
            <a:spLocks noGrp="1"/>
          </p:cNvSpPr>
          <p:nvPr>
            <p:ph type="dt" sz="half" idx="10"/>
          </p:nvPr>
        </p:nvSpPr>
        <p:spPr/>
        <p:txBody>
          <a:bodyPr/>
          <a:lstStyle/>
          <a:p>
            <a:fld id="{92418D3E-0AB3-4A96-A7D2-7D5B6CE9EA76}" type="datetimeFigureOut">
              <a:rPr lang="en-US" smtClean="0"/>
              <a:t>3/6/2026</a:t>
            </a:fld>
            <a:endParaRPr lang="en-US"/>
          </a:p>
        </p:txBody>
      </p:sp>
      <p:sp>
        <p:nvSpPr>
          <p:cNvPr id="5" name="Footer Placeholder 4">
            <a:extLst>
              <a:ext uri="{FF2B5EF4-FFF2-40B4-BE49-F238E27FC236}">
                <a16:creationId xmlns:a16="http://schemas.microsoft.com/office/drawing/2014/main" id="{FE9DEC01-F86F-F2AA-E434-56252B1DEF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CE4DEC-EEED-43E7-001F-960C2633937B}"/>
              </a:ext>
            </a:extLst>
          </p:cNvPr>
          <p:cNvSpPr>
            <a:spLocks noGrp="1"/>
          </p:cNvSpPr>
          <p:nvPr>
            <p:ph type="sldNum" sz="quarter" idx="12"/>
          </p:nvPr>
        </p:nvSpPr>
        <p:spPr/>
        <p:txBody>
          <a:bodyPr/>
          <a:lstStyle/>
          <a:p>
            <a:fld id="{BBE4A4DA-83F2-45C8-B7DA-B6BB897CD865}" type="slidenum">
              <a:rPr lang="en-US" smtClean="0"/>
              <a:t>‹#›</a:t>
            </a:fld>
            <a:endParaRPr lang="en-US"/>
          </a:p>
        </p:txBody>
      </p:sp>
    </p:spTree>
    <p:extLst>
      <p:ext uri="{BB962C8B-B14F-4D97-AF65-F5344CB8AC3E}">
        <p14:creationId xmlns:p14="http://schemas.microsoft.com/office/powerpoint/2010/main" val="3835360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551A1-EB15-5C50-849C-1981F6D7D2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4E3A30-0A32-648A-EF97-22827BE484E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B331DBE-A956-3A94-A0A8-899F16541AC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E442AD-3A35-60C8-9F7B-6B2D83F1CF16}"/>
              </a:ext>
            </a:extLst>
          </p:cNvPr>
          <p:cNvSpPr>
            <a:spLocks noGrp="1"/>
          </p:cNvSpPr>
          <p:nvPr>
            <p:ph type="dt" sz="half" idx="10"/>
          </p:nvPr>
        </p:nvSpPr>
        <p:spPr/>
        <p:txBody>
          <a:bodyPr/>
          <a:lstStyle/>
          <a:p>
            <a:fld id="{92418D3E-0AB3-4A96-A7D2-7D5B6CE9EA76}" type="datetimeFigureOut">
              <a:rPr lang="en-US" smtClean="0"/>
              <a:t>3/6/2026</a:t>
            </a:fld>
            <a:endParaRPr lang="en-US"/>
          </a:p>
        </p:txBody>
      </p:sp>
      <p:sp>
        <p:nvSpPr>
          <p:cNvPr id="6" name="Footer Placeholder 5">
            <a:extLst>
              <a:ext uri="{FF2B5EF4-FFF2-40B4-BE49-F238E27FC236}">
                <a16:creationId xmlns:a16="http://schemas.microsoft.com/office/drawing/2014/main" id="{EC223CAD-9428-E20A-E706-B56B31F586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1EA02D-B39C-850A-866A-5F39F27ACAE4}"/>
              </a:ext>
            </a:extLst>
          </p:cNvPr>
          <p:cNvSpPr>
            <a:spLocks noGrp="1"/>
          </p:cNvSpPr>
          <p:nvPr>
            <p:ph type="sldNum" sz="quarter" idx="12"/>
          </p:nvPr>
        </p:nvSpPr>
        <p:spPr/>
        <p:txBody>
          <a:bodyPr/>
          <a:lstStyle/>
          <a:p>
            <a:fld id="{BBE4A4DA-83F2-45C8-B7DA-B6BB897CD865}" type="slidenum">
              <a:rPr lang="en-US" smtClean="0"/>
              <a:t>‹#›</a:t>
            </a:fld>
            <a:endParaRPr lang="en-US"/>
          </a:p>
        </p:txBody>
      </p:sp>
    </p:spTree>
    <p:extLst>
      <p:ext uri="{BB962C8B-B14F-4D97-AF65-F5344CB8AC3E}">
        <p14:creationId xmlns:p14="http://schemas.microsoft.com/office/powerpoint/2010/main" val="5247585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BD7EA-9717-CFF4-3E30-EFFC025B43F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1207CD6-1BD8-F762-EB8E-664A00782D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CAA72B-E971-58FE-18F1-56576060CD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C882D81-D063-4113-E5F5-4391BC552C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AF5656-0301-F6D6-9F40-D8D259AAC37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A0C1415-8928-C230-B690-27A94848BE97}"/>
              </a:ext>
            </a:extLst>
          </p:cNvPr>
          <p:cNvSpPr>
            <a:spLocks noGrp="1"/>
          </p:cNvSpPr>
          <p:nvPr>
            <p:ph type="dt" sz="half" idx="10"/>
          </p:nvPr>
        </p:nvSpPr>
        <p:spPr/>
        <p:txBody>
          <a:bodyPr/>
          <a:lstStyle/>
          <a:p>
            <a:fld id="{92418D3E-0AB3-4A96-A7D2-7D5B6CE9EA76}" type="datetimeFigureOut">
              <a:rPr lang="en-US" smtClean="0"/>
              <a:t>3/6/2026</a:t>
            </a:fld>
            <a:endParaRPr lang="en-US"/>
          </a:p>
        </p:txBody>
      </p:sp>
      <p:sp>
        <p:nvSpPr>
          <p:cNvPr id="8" name="Footer Placeholder 7">
            <a:extLst>
              <a:ext uri="{FF2B5EF4-FFF2-40B4-BE49-F238E27FC236}">
                <a16:creationId xmlns:a16="http://schemas.microsoft.com/office/drawing/2014/main" id="{E1766028-7FE2-9AC5-C86C-8BB39EC2E7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8424B95-92E9-0E12-739B-CF5949ADC395}"/>
              </a:ext>
            </a:extLst>
          </p:cNvPr>
          <p:cNvSpPr>
            <a:spLocks noGrp="1"/>
          </p:cNvSpPr>
          <p:nvPr>
            <p:ph type="sldNum" sz="quarter" idx="12"/>
          </p:nvPr>
        </p:nvSpPr>
        <p:spPr/>
        <p:txBody>
          <a:bodyPr/>
          <a:lstStyle/>
          <a:p>
            <a:fld id="{BBE4A4DA-83F2-45C8-B7DA-B6BB897CD865}" type="slidenum">
              <a:rPr lang="en-US" smtClean="0"/>
              <a:t>‹#›</a:t>
            </a:fld>
            <a:endParaRPr lang="en-US"/>
          </a:p>
        </p:txBody>
      </p:sp>
    </p:spTree>
    <p:extLst>
      <p:ext uri="{BB962C8B-B14F-4D97-AF65-F5344CB8AC3E}">
        <p14:creationId xmlns:p14="http://schemas.microsoft.com/office/powerpoint/2010/main" val="2583716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989A3-08C0-CD72-3ABB-3EB109373A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4955BAE-0E60-2BE0-B80D-87441BB2A200}"/>
              </a:ext>
            </a:extLst>
          </p:cNvPr>
          <p:cNvSpPr>
            <a:spLocks noGrp="1"/>
          </p:cNvSpPr>
          <p:nvPr>
            <p:ph type="dt" sz="half" idx="10"/>
          </p:nvPr>
        </p:nvSpPr>
        <p:spPr/>
        <p:txBody>
          <a:bodyPr/>
          <a:lstStyle/>
          <a:p>
            <a:fld id="{92418D3E-0AB3-4A96-A7D2-7D5B6CE9EA76}" type="datetimeFigureOut">
              <a:rPr lang="en-US" smtClean="0"/>
              <a:t>3/6/2026</a:t>
            </a:fld>
            <a:endParaRPr lang="en-US"/>
          </a:p>
        </p:txBody>
      </p:sp>
      <p:sp>
        <p:nvSpPr>
          <p:cNvPr id="4" name="Footer Placeholder 3">
            <a:extLst>
              <a:ext uri="{FF2B5EF4-FFF2-40B4-BE49-F238E27FC236}">
                <a16:creationId xmlns:a16="http://schemas.microsoft.com/office/drawing/2014/main" id="{B2745DD9-BC28-3FAD-4A69-C963A1FE9CC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820FF19-8263-C7BD-143D-B41CF1BE569D}"/>
              </a:ext>
            </a:extLst>
          </p:cNvPr>
          <p:cNvSpPr>
            <a:spLocks noGrp="1"/>
          </p:cNvSpPr>
          <p:nvPr>
            <p:ph type="sldNum" sz="quarter" idx="12"/>
          </p:nvPr>
        </p:nvSpPr>
        <p:spPr/>
        <p:txBody>
          <a:bodyPr/>
          <a:lstStyle/>
          <a:p>
            <a:fld id="{BBE4A4DA-83F2-45C8-B7DA-B6BB897CD865}" type="slidenum">
              <a:rPr lang="en-US" smtClean="0"/>
              <a:t>‹#›</a:t>
            </a:fld>
            <a:endParaRPr lang="en-US"/>
          </a:p>
        </p:txBody>
      </p:sp>
    </p:spTree>
    <p:extLst>
      <p:ext uri="{BB962C8B-B14F-4D97-AF65-F5344CB8AC3E}">
        <p14:creationId xmlns:p14="http://schemas.microsoft.com/office/powerpoint/2010/main" val="1720255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BB8DF1-710A-B6B1-6B5D-EFEF677D7DB6}"/>
              </a:ext>
            </a:extLst>
          </p:cNvPr>
          <p:cNvSpPr>
            <a:spLocks noGrp="1"/>
          </p:cNvSpPr>
          <p:nvPr>
            <p:ph type="dt" sz="half" idx="10"/>
          </p:nvPr>
        </p:nvSpPr>
        <p:spPr/>
        <p:txBody>
          <a:bodyPr/>
          <a:lstStyle/>
          <a:p>
            <a:fld id="{92418D3E-0AB3-4A96-A7D2-7D5B6CE9EA76}" type="datetimeFigureOut">
              <a:rPr lang="en-US" smtClean="0"/>
              <a:t>3/6/2026</a:t>
            </a:fld>
            <a:endParaRPr lang="en-US"/>
          </a:p>
        </p:txBody>
      </p:sp>
      <p:sp>
        <p:nvSpPr>
          <p:cNvPr id="3" name="Footer Placeholder 2">
            <a:extLst>
              <a:ext uri="{FF2B5EF4-FFF2-40B4-BE49-F238E27FC236}">
                <a16:creationId xmlns:a16="http://schemas.microsoft.com/office/drawing/2014/main" id="{06056E3E-D8AF-C528-D401-9005FB3BBB7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6C703CB-BB6D-90A6-98C0-E63CC2A6EBFB}"/>
              </a:ext>
            </a:extLst>
          </p:cNvPr>
          <p:cNvSpPr>
            <a:spLocks noGrp="1"/>
          </p:cNvSpPr>
          <p:nvPr>
            <p:ph type="sldNum" sz="quarter" idx="12"/>
          </p:nvPr>
        </p:nvSpPr>
        <p:spPr/>
        <p:txBody>
          <a:bodyPr/>
          <a:lstStyle/>
          <a:p>
            <a:fld id="{BBE4A4DA-83F2-45C8-B7DA-B6BB897CD865}" type="slidenum">
              <a:rPr lang="en-US" smtClean="0"/>
              <a:t>‹#›</a:t>
            </a:fld>
            <a:endParaRPr lang="en-US"/>
          </a:p>
        </p:txBody>
      </p:sp>
    </p:spTree>
    <p:extLst>
      <p:ext uri="{BB962C8B-B14F-4D97-AF65-F5344CB8AC3E}">
        <p14:creationId xmlns:p14="http://schemas.microsoft.com/office/powerpoint/2010/main" val="36157990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4126F-272E-7C54-734F-204F60B9AC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E58CC37-7FDC-04CC-E02A-3CEA9FA967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16E586C-CDF0-73E8-9D59-2345E34D36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B1C59E-2FCB-164A-DB84-DC352CF9342D}"/>
              </a:ext>
            </a:extLst>
          </p:cNvPr>
          <p:cNvSpPr>
            <a:spLocks noGrp="1"/>
          </p:cNvSpPr>
          <p:nvPr>
            <p:ph type="dt" sz="half" idx="10"/>
          </p:nvPr>
        </p:nvSpPr>
        <p:spPr/>
        <p:txBody>
          <a:bodyPr/>
          <a:lstStyle/>
          <a:p>
            <a:fld id="{92418D3E-0AB3-4A96-A7D2-7D5B6CE9EA76}" type="datetimeFigureOut">
              <a:rPr lang="en-US" smtClean="0"/>
              <a:t>3/6/2026</a:t>
            </a:fld>
            <a:endParaRPr lang="en-US"/>
          </a:p>
        </p:txBody>
      </p:sp>
      <p:sp>
        <p:nvSpPr>
          <p:cNvPr id="6" name="Footer Placeholder 5">
            <a:extLst>
              <a:ext uri="{FF2B5EF4-FFF2-40B4-BE49-F238E27FC236}">
                <a16:creationId xmlns:a16="http://schemas.microsoft.com/office/drawing/2014/main" id="{A78E9E87-BAE6-F127-36D8-6C50A530CD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43B3CB-0DC6-549C-544D-10536B6F5284}"/>
              </a:ext>
            </a:extLst>
          </p:cNvPr>
          <p:cNvSpPr>
            <a:spLocks noGrp="1"/>
          </p:cNvSpPr>
          <p:nvPr>
            <p:ph type="sldNum" sz="quarter" idx="12"/>
          </p:nvPr>
        </p:nvSpPr>
        <p:spPr/>
        <p:txBody>
          <a:bodyPr/>
          <a:lstStyle/>
          <a:p>
            <a:fld id="{BBE4A4DA-83F2-45C8-B7DA-B6BB897CD865}" type="slidenum">
              <a:rPr lang="en-US" smtClean="0"/>
              <a:t>‹#›</a:t>
            </a:fld>
            <a:endParaRPr lang="en-US"/>
          </a:p>
        </p:txBody>
      </p:sp>
    </p:spTree>
    <p:extLst>
      <p:ext uri="{BB962C8B-B14F-4D97-AF65-F5344CB8AC3E}">
        <p14:creationId xmlns:p14="http://schemas.microsoft.com/office/powerpoint/2010/main" val="977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E64F6-EBF6-DD2E-464E-116FAC595F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BABF48A-E075-D346-3F86-687FC3D989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134A0F8-F198-7B04-604D-9545D123C0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3CA7FE-7699-7C72-5CC4-F34152CEDD08}"/>
              </a:ext>
            </a:extLst>
          </p:cNvPr>
          <p:cNvSpPr>
            <a:spLocks noGrp="1"/>
          </p:cNvSpPr>
          <p:nvPr>
            <p:ph type="dt" sz="half" idx="10"/>
          </p:nvPr>
        </p:nvSpPr>
        <p:spPr/>
        <p:txBody>
          <a:bodyPr/>
          <a:lstStyle/>
          <a:p>
            <a:fld id="{92418D3E-0AB3-4A96-A7D2-7D5B6CE9EA76}" type="datetimeFigureOut">
              <a:rPr lang="en-US" smtClean="0"/>
              <a:t>3/6/2026</a:t>
            </a:fld>
            <a:endParaRPr lang="en-US"/>
          </a:p>
        </p:txBody>
      </p:sp>
      <p:sp>
        <p:nvSpPr>
          <p:cNvPr id="6" name="Footer Placeholder 5">
            <a:extLst>
              <a:ext uri="{FF2B5EF4-FFF2-40B4-BE49-F238E27FC236}">
                <a16:creationId xmlns:a16="http://schemas.microsoft.com/office/drawing/2014/main" id="{9889634A-8B12-07F4-63B1-51FAA9D40F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D4B7F7-7C7C-8CD1-F4CB-C1A6CAFF3742}"/>
              </a:ext>
            </a:extLst>
          </p:cNvPr>
          <p:cNvSpPr>
            <a:spLocks noGrp="1"/>
          </p:cNvSpPr>
          <p:nvPr>
            <p:ph type="sldNum" sz="quarter" idx="12"/>
          </p:nvPr>
        </p:nvSpPr>
        <p:spPr/>
        <p:txBody>
          <a:bodyPr/>
          <a:lstStyle/>
          <a:p>
            <a:fld id="{BBE4A4DA-83F2-45C8-B7DA-B6BB897CD865}" type="slidenum">
              <a:rPr lang="en-US" smtClean="0"/>
              <a:t>‹#›</a:t>
            </a:fld>
            <a:endParaRPr lang="en-US"/>
          </a:p>
        </p:txBody>
      </p:sp>
    </p:spTree>
    <p:extLst>
      <p:ext uri="{BB962C8B-B14F-4D97-AF65-F5344CB8AC3E}">
        <p14:creationId xmlns:p14="http://schemas.microsoft.com/office/powerpoint/2010/main" val="1087316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562E8-DA66-CF72-CF28-0E9BF4A8B10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4279C16-CF72-6AF5-0477-78DD6E1F320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298041-FF4C-4FC0-ECBB-6C86898D68DC}"/>
              </a:ext>
            </a:extLst>
          </p:cNvPr>
          <p:cNvSpPr>
            <a:spLocks noGrp="1"/>
          </p:cNvSpPr>
          <p:nvPr>
            <p:ph type="dt" sz="half" idx="10"/>
          </p:nvPr>
        </p:nvSpPr>
        <p:spPr/>
        <p:txBody>
          <a:bodyPr/>
          <a:lstStyle/>
          <a:p>
            <a:fld id="{92418D3E-0AB3-4A96-A7D2-7D5B6CE9EA76}" type="datetimeFigureOut">
              <a:rPr lang="en-US" smtClean="0"/>
              <a:t>3/6/2026</a:t>
            </a:fld>
            <a:endParaRPr lang="en-US"/>
          </a:p>
        </p:txBody>
      </p:sp>
      <p:sp>
        <p:nvSpPr>
          <p:cNvPr id="5" name="Footer Placeholder 4">
            <a:extLst>
              <a:ext uri="{FF2B5EF4-FFF2-40B4-BE49-F238E27FC236}">
                <a16:creationId xmlns:a16="http://schemas.microsoft.com/office/drawing/2014/main" id="{66E3997C-2103-8D61-C780-7EDD51788E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AC5B31-4A51-9D34-7873-1244FDEAF7DB}"/>
              </a:ext>
            </a:extLst>
          </p:cNvPr>
          <p:cNvSpPr>
            <a:spLocks noGrp="1"/>
          </p:cNvSpPr>
          <p:nvPr>
            <p:ph type="sldNum" sz="quarter" idx="12"/>
          </p:nvPr>
        </p:nvSpPr>
        <p:spPr/>
        <p:txBody>
          <a:bodyPr/>
          <a:lstStyle/>
          <a:p>
            <a:fld id="{BBE4A4DA-83F2-45C8-B7DA-B6BB897CD865}" type="slidenum">
              <a:rPr lang="en-US" smtClean="0"/>
              <a:t>‹#›</a:t>
            </a:fld>
            <a:endParaRPr lang="en-US"/>
          </a:p>
        </p:txBody>
      </p:sp>
    </p:spTree>
    <p:extLst>
      <p:ext uri="{BB962C8B-B14F-4D97-AF65-F5344CB8AC3E}">
        <p14:creationId xmlns:p14="http://schemas.microsoft.com/office/powerpoint/2010/main" val="2277872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EF7C6A-BF30-C20C-E9D3-40A0BECB4B1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6A51D29-C37F-5933-2E36-4885161791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B99F6E-BA60-82C1-DBCD-3F94D62F97EB}"/>
              </a:ext>
            </a:extLst>
          </p:cNvPr>
          <p:cNvSpPr>
            <a:spLocks noGrp="1"/>
          </p:cNvSpPr>
          <p:nvPr>
            <p:ph type="dt" sz="half" idx="10"/>
          </p:nvPr>
        </p:nvSpPr>
        <p:spPr/>
        <p:txBody>
          <a:bodyPr/>
          <a:lstStyle/>
          <a:p>
            <a:fld id="{92418D3E-0AB3-4A96-A7D2-7D5B6CE9EA76}" type="datetimeFigureOut">
              <a:rPr lang="en-US" smtClean="0"/>
              <a:t>3/6/2026</a:t>
            </a:fld>
            <a:endParaRPr lang="en-US"/>
          </a:p>
        </p:txBody>
      </p:sp>
      <p:sp>
        <p:nvSpPr>
          <p:cNvPr id="5" name="Footer Placeholder 4">
            <a:extLst>
              <a:ext uri="{FF2B5EF4-FFF2-40B4-BE49-F238E27FC236}">
                <a16:creationId xmlns:a16="http://schemas.microsoft.com/office/drawing/2014/main" id="{559D114F-6C39-88EC-567E-C549DAB15E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8E9BAB-B822-AC6A-CB21-8559D7BE283C}"/>
              </a:ext>
            </a:extLst>
          </p:cNvPr>
          <p:cNvSpPr>
            <a:spLocks noGrp="1"/>
          </p:cNvSpPr>
          <p:nvPr>
            <p:ph type="sldNum" sz="quarter" idx="12"/>
          </p:nvPr>
        </p:nvSpPr>
        <p:spPr/>
        <p:txBody>
          <a:bodyPr/>
          <a:lstStyle/>
          <a:p>
            <a:fld id="{BBE4A4DA-83F2-45C8-B7DA-B6BB897CD865}" type="slidenum">
              <a:rPr lang="en-US" smtClean="0"/>
              <a:t>‹#›</a:t>
            </a:fld>
            <a:endParaRPr lang="en-US"/>
          </a:p>
        </p:txBody>
      </p:sp>
    </p:spTree>
    <p:extLst>
      <p:ext uri="{BB962C8B-B14F-4D97-AF65-F5344CB8AC3E}">
        <p14:creationId xmlns:p14="http://schemas.microsoft.com/office/powerpoint/2010/main" val="10619060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EAD8E2-5362-DF41-405E-D94638E82D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239F1FE-B989-B683-B9AA-2D394BAD17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9C2A22-16DC-F1C4-DF5B-FA2A8BED3E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2418D3E-0AB3-4A96-A7D2-7D5B6CE9EA76}" type="datetimeFigureOut">
              <a:rPr lang="en-US" smtClean="0"/>
              <a:t>3/6/2026</a:t>
            </a:fld>
            <a:endParaRPr lang="en-US"/>
          </a:p>
        </p:txBody>
      </p:sp>
      <p:sp>
        <p:nvSpPr>
          <p:cNvPr id="5" name="Footer Placeholder 4">
            <a:extLst>
              <a:ext uri="{FF2B5EF4-FFF2-40B4-BE49-F238E27FC236}">
                <a16:creationId xmlns:a16="http://schemas.microsoft.com/office/drawing/2014/main" id="{29F8A024-F090-23AA-A54D-4F0CE775AE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416F0F6-D205-8741-74FB-5FC9F6A059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E4A4DA-83F2-45C8-B7DA-B6BB897CD865}" type="slidenum">
              <a:rPr lang="en-US" smtClean="0"/>
              <a:t>‹#›</a:t>
            </a:fld>
            <a:endParaRPr lang="en-US"/>
          </a:p>
        </p:txBody>
      </p:sp>
    </p:spTree>
    <p:extLst>
      <p:ext uri="{BB962C8B-B14F-4D97-AF65-F5344CB8AC3E}">
        <p14:creationId xmlns:p14="http://schemas.microsoft.com/office/powerpoint/2010/main" val="1590126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4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4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51.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2.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C3443-F910-CDE7-77C4-35069AC45154}"/>
              </a:ext>
            </a:extLst>
          </p:cNvPr>
          <p:cNvSpPr>
            <a:spLocks noGrp="1"/>
          </p:cNvSpPr>
          <p:nvPr>
            <p:ph type="ctrTitle"/>
          </p:nvPr>
        </p:nvSpPr>
        <p:spPr>
          <a:xfrm>
            <a:off x="109728" y="429071"/>
            <a:ext cx="12006072" cy="741362"/>
          </a:xfrm>
        </p:spPr>
        <p:txBody>
          <a:bodyPr>
            <a:noAutofit/>
          </a:bodyPr>
          <a:lstStyle/>
          <a:p>
            <a:r>
              <a:rPr lang="en-US" sz="2400" dirty="0">
                <a:latin typeface="Times New Roman" panose="02020603050405020304" pitchFamily="18" charset="0"/>
                <a:cs typeface="Times New Roman" panose="02020603050405020304" pitchFamily="18" charset="0"/>
              </a:rPr>
              <a:t>Unit 3 Lec1</a:t>
            </a:r>
            <a:br>
              <a:rPr lang="en-US" sz="2400" dirty="0">
                <a:latin typeface="Times New Roman" panose="02020603050405020304" pitchFamily="18" charset="0"/>
                <a:cs typeface="Times New Roman" panose="02020603050405020304" pitchFamily="18" charset="0"/>
              </a:rPr>
            </a:br>
            <a:r>
              <a:rPr lang="en-US" sz="2400" dirty="0">
                <a:highlight>
                  <a:srgbClr val="FFFF00"/>
                </a:highlight>
                <a:latin typeface="Times New Roman" panose="02020603050405020304" pitchFamily="18" charset="0"/>
                <a:cs typeface="Times New Roman" panose="02020603050405020304" pitchFamily="18" charset="0"/>
              </a:rPr>
              <a:t>Concept of population and sample, sampling techniques, estimation, confidence intervals, </a:t>
            </a:r>
            <a:r>
              <a:rPr lang="en-US" sz="2400" dirty="0">
                <a:latin typeface="Times New Roman" panose="02020603050405020304" pitchFamily="18" charset="0"/>
                <a:cs typeface="Times New Roman" panose="02020603050405020304" pitchFamily="18" charset="0"/>
              </a:rPr>
              <a:t>chi-square test, ANOVA, non-parametric tests), p-values and interpretation.</a:t>
            </a:r>
            <a:r>
              <a:rPr lang="en-IN"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E2F08F2-FC64-D26C-9088-A8C186A8D502}"/>
              </a:ext>
            </a:extLst>
          </p:cNvPr>
          <p:cNvSpPr>
            <a:spLocks noGrp="1"/>
          </p:cNvSpPr>
          <p:nvPr>
            <p:ph type="subTitle" idx="1"/>
          </p:nvPr>
        </p:nvSpPr>
        <p:spPr>
          <a:xfrm>
            <a:off x="472440" y="1361758"/>
            <a:ext cx="11405616" cy="2487866"/>
          </a:xfrm>
        </p:spPr>
        <p:txBody>
          <a:bodyPr/>
          <a:lstStyle/>
          <a:p>
            <a:r>
              <a:rPr lang="en-US" b="1" dirty="0"/>
              <a:t>Population: </a:t>
            </a:r>
            <a:r>
              <a:rPr lang="en-US" dirty="0">
                <a:latin typeface="Times New Roman" panose="02020603050405020304" pitchFamily="18" charset="0"/>
                <a:cs typeface="Times New Roman" panose="02020603050405020304" pitchFamily="18" charset="0"/>
              </a:rPr>
              <a:t>A population is the complete set of all observations or individuals that we want to study.</a:t>
            </a:r>
          </a:p>
          <a:p>
            <a:endParaRPr lang="en-US"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7B7B6F35-BD48-FE8F-937D-7759CAA860E0}"/>
              </a:ext>
            </a:extLst>
          </p:cNvPr>
          <p:cNvSpPr>
            <a:spLocks noChangeArrowheads="1"/>
          </p:cNvSpPr>
          <p:nvPr/>
        </p:nvSpPr>
        <p:spPr bwMode="auto">
          <a:xfrm>
            <a:off x="1060704" y="2505670"/>
            <a:ext cx="426110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Arial" panose="020B0604020202020204" pitchFamily="34" charset="0"/>
              </a:rPr>
              <a:t>Examples All students in a university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All households in India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All blood samples from patients</a:t>
            </a:r>
          </a:p>
        </p:txBody>
      </p:sp>
      <p:sp>
        <p:nvSpPr>
          <p:cNvPr id="6" name="Rectangle 3">
            <a:extLst>
              <a:ext uri="{FF2B5EF4-FFF2-40B4-BE49-F238E27FC236}">
                <a16:creationId xmlns:a16="http://schemas.microsoft.com/office/drawing/2014/main" id="{08C4FC93-F2B9-3CE1-E9DC-6215E4865A0E}"/>
              </a:ext>
            </a:extLst>
          </p:cNvPr>
          <p:cNvSpPr>
            <a:spLocks noChangeArrowheads="1"/>
          </p:cNvSpPr>
          <p:nvPr/>
        </p:nvSpPr>
        <p:spPr bwMode="auto">
          <a:xfrm>
            <a:off x="6376416" y="2367171"/>
            <a:ext cx="366674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Population Metrics (N)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Mean (μ)</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Variance (σ²)</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Standard deviation (σ)</a:t>
            </a:r>
          </a:p>
        </p:txBody>
      </p:sp>
      <p:sp>
        <p:nvSpPr>
          <p:cNvPr id="8" name="TextBox 7">
            <a:extLst>
              <a:ext uri="{FF2B5EF4-FFF2-40B4-BE49-F238E27FC236}">
                <a16:creationId xmlns:a16="http://schemas.microsoft.com/office/drawing/2014/main" id="{061E17B9-7AF6-AC34-FA9A-F881941C9A4F}"/>
              </a:ext>
            </a:extLst>
          </p:cNvPr>
          <p:cNvSpPr txBox="1"/>
          <p:nvPr/>
        </p:nvSpPr>
        <p:spPr>
          <a:xfrm>
            <a:off x="1060704" y="3995443"/>
            <a:ext cx="6748272" cy="1200329"/>
          </a:xfrm>
          <a:prstGeom prst="rect">
            <a:avLst/>
          </a:prstGeom>
          <a:noFill/>
        </p:spPr>
        <p:txBody>
          <a:bodyPr wrap="square">
            <a:spAutoFit/>
          </a:bodyPr>
          <a:lstStyle/>
          <a:p>
            <a:pPr>
              <a:buNone/>
            </a:pPr>
            <a:r>
              <a:rPr lang="en-US" dirty="0">
                <a:highlight>
                  <a:srgbClr val="FFFF00"/>
                </a:highlight>
              </a:rPr>
              <a:t>Example 1</a:t>
            </a:r>
            <a:br>
              <a:rPr lang="en-US" dirty="0"/>
            </a:br>
            <a:r>
              <a:rPr lang="en-US" dirty="0">
                <a:latin typeface="Times New Roman" panose="02020603050405020304" pitchFamily="18" charset="0"/>
                <a:cs typeface="Times New Roman" panose="02020603050405020304" pitchFamily="18" charset="0"/>
              </a:rPr>
              <a:t>Suppose we want to know average height of all students in India.</a:t>
            </a:r>
          </a:p>
          <a:p>
            <a:pPr>
              <a:buNone/>
            </a:pPr>
            <a:r>
              <a:rPr lang="en-US" dirty="0">
                <a:latin typeface="Times New Roman" panose="02020603050405020304" pitchFamily="18" charset="0"/>
                <a:cs typeface="Times New Roman" panose="02020603050405020304" pitchFamily="18" charset="0"/>
              </a:rPr>
              <a:t>Population = all students in India</a:t>
            </a:r>
          </a:p>
          <a:p>
            <a:pPr>
              <a:buNone/>
            </a:pPr>
            <a:r>
              <a:rPr lang="en-US" dirty="0">
                <a:latin typeface="Times New Roman" panose="02020603050405020304" pitchFamily="18" charset="0"/>
                <a:cs typeface="Times New Roman" panose="02020603050405020304" pitchFamily="18" charset="0"/>
              </a:rPr>
              <a:t>Studying the whole population is usually impossible or expensive</a:t>
            </a:r>
            <a:r>
              <a:rPr lang="en-US" dirty="0"/>
              <a:t>.</a:t>
            </a:r>
          </a:p>
        </p:txBody>
      </p:sp>
    </p:spTree>
    <p:extLst>
      <p:ext uri="{BB962C8B-B14F-4D97-AF65-F5344CB8AC3E}">
        <p14:creationId xmlns:p14="http://schemas.microsoft.com/office/powerpoint/2010/main" val="19532443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F624F202-D7BB-B4C3-36B9-CFF2AD36089E}"/>
              </a:ext>
            </a:extLst>
          </p:cNvPr>
          <p:cNvPicPr>
            <a:picLocks noGrp="1" noChangeAspect="1"/>
          </p:cNvPicPr>
          <p:nvPr>
            <p:ph idx="1"/>
          </p:nvPr>
        </p:nvPicPr>
        <p:blipFill>
          <a:blip r:embed="rId2"/>
          <a:stretch>
            <a:fillRect/>
          </a:stretch>
        </p:blipFill>
        <p:spPr>
          <a:xfrm>
            <a:off x="5806681" y="272218"/>
            <a:ext cx="5627339" cy="5571065"/>
          </a:xfrm>
          <a:prstGeom prst="rect">
            <a:avLst/>
          </a:prstGeom>
          <a:ln>
            <a:noFill/>
          </a:ln>
        </p:spPr>
      </p:pic>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3B1EC1C-E9E3-9691-F281-8490D5C41337}"/>
              </a:ext>
            </a:extLst>
          </p:cNvPr>
          <p:cNvSpPr txBox="1"/>
          <p:nvPr/>
        </p:nvSpPr>
        <p:spPr>
          <a:xfrm>
            <a:off x="453158" y="4510141"/>
            <a:ext cx="6099048" cy="2031325"/>
          </a:xfrm>
          <a:prstGeom prst="rect">
            <a:avLst/>
          </a:prstGeom>
          <a:noFill/>
        </p:spPr>
        <p:txBody>
          <a:bodyPr wrap="square">
            <a:spAutoFit/>
          </a:bodyPr>
          <a:lstStyle/>
          <a:p>
            <a:pPr algn="l"/>
            <a:r>
              <a:rPr lang="en-US" sz="3600" b="1" i="0" u="none" strike="noStrike" baseline="0" dirty="0">
                <a:solidFill>
                  <a:srgbClr val="8F0012"/>
                </a:solidFill>
                <a:latin typeface="Arial-BoldMT"/>
              </a:rPr>
              <a:t>Random Sampling and Sample Bias</a:t>
            </a:r>
          </a:p>
          <a:p>
            <a:pPr algn="l"/>
            <a:r>
              <a:rPr lang="en-US" sz="1800" b="0" i="0" u="none" strike="noStrike" baseline="0" dirty="0">
                <a:solidFill>
                  <a:srgbClr val="333333"/>
                </a:solidFill>
                <a:latin typeface="TimesNewRomanPSMT"/>
              </a:rPr>
              <a:t>A </a:t>
            </a:r>
            <a:r>
              <a:rPr lang="en-US" sz="1800" b="0" i="1" u="none" strike="noStrike" baseline="0" dirty="0">
                <a:solidFill>
                  <a:srgbClr val="333333"/>
                </a:solidFill>
                <a:latin typeface="TimesNewRomanPS-ItalicMT"/>
              </a:rPr>
              <a:t>sample </a:t>
            </a:r>
            <a:r>
              <a:rPr lang="en-US" sz="1800" b="0" i="0" u="none" strike="noStrike" baseline="0" dirty="0">
                <a:solidFill>
                  <a:srgbClr val="333333"/>
                </a:solidFill>
                <a:latin typeface="TimesNewRomanPSMT"/>
              </a:rPr>
              <a:t>is a subset of data from a larger data set; statisticians call this larger data set</a:t>
            </a:r>
          </a:p>
          <a:p>
            <a:pPr algn="l"/>
            <a:r>
              <a:rPr lang="en-US" sz="1800" b="0" i="0" u="none" strike="noStrike" baseline="0" dirty="0">
                <a:solidFill>
                  <a:srgbClr val="333333"/>
                </a:solidFill>
                <a:latin typeface="TimesNewRomanPSMT"/>
              </a:rPr>
              <a:t>the </a:t>
            </a:r>
            <a:r>
              <a:rPr lang="en-US" sz="1800" b="0" i="1" u="none" strike="noStrike" baseline="0" dirty="0">
                <a:solidFill>
                  <a:srgbClr val="333333"/>
                </a:solidFill>
                <a:latin typeface="TimesNewRomanPS-ItalicMT"/>
              </a:rPr>
              <a:t>population</a:t>
            </a:r>
            <a:r>
              <a:rPr lang="en-US" sz="1800" b="0" i="0" u="none" strike="noStrike" baseline="0" dirty="0">
                <a:solidFill>
                  <a:srgbClr val="333333"/>
                </a:solidFill>
                <a:latin typeface="TimesNewRomanPSMT"/>
              </a:rPr>
              <a:t>.</a:t>
            </a:r>
            <a:endParaRPr lang="en-US" dirty="0"/>
          </a:p>
        </p:txBody>
      </p:sp>
      <p:sp>
        <p:nvSpPr>
          <p:cNvPr id="9" name="TextBox 8">
            <a:extLst>
              <a:ext uri="{FF2B5EF4-FFF2-40B4-BE49-F238E27FC236}">
                <a16:creationId xmlns:a16="http://schemas.microsoft.com/office/drawing/2014/main" id="{ADF74265-CC2E-20CE-AE21-DF6D4531237A}"/>
              </a:ext>
            </a:extLst>
          </p:cNvPr>
          <p:cNvSpPr txBox="1"/>
          <p:nvPr/>
        </p:nvSpPr>
        <p:spPr>
          <a:xfrm>
            <a:off x="480300" y="243317"/>
            <a:ext cx="6099048" cy="1477328"/>
          </a:xfrm>
          <a:prstGeom prst="rect">
            <a:avLst/>
          </a:prstGeom>
          <a:noFill/>
        </p:spPr>
        <p:txBody>
          <a:bodyPr wrap="square">
            <a:spAutoFit/>
          </a:bodyPr>
          <a:lstStyle/>
          <a:p>
            <a:pPr>
              <a:buNone/>
            </a:pPr>
            <a:r>
              <a:rPr lang="en-US" b="1" dirty="0"/>
              <a:t>Sample</a:t>
            </a:r>
          </a:p>
          <a:p>
            <a:pPr>
              <a:buNone/>
            </a:pPr>
            <a:r>
              <a:rPr lang="en-US" dirty="0">
                <a:latin typeface="Times New Roman" panose="02020603050405020304" pitchFamily="18" charset="0"/>
                <a:cs typeface="Times New Roman" panose="02020603050405020304" pitchFamily="18" charset="0"/>
              </a:rPr>
              <a:t>A sample is a subset of the population selected for analysis.</a:t>
            </a:r>
          </a:p>
          <a:p>
            <a:pPr>
              <a:buNone/>
            </a:pPr>
            <a:r>
              <a:rPr lang="en-US" b="1" dirty="0">
                <a:highlight>
                  <a:srgbClr val="FFFF00"/>
                </a:highlight>
                <a:latin typeface="Times New Roman" panose="02020603050405020304" pitchFamily="18" charset="0"/>
                <a:cs typeface="Times New Roman" panose="02020603050405020304" pitchFamily="18" charset="0"/>
              </a:rPr>
              <a:t>Example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If we measure height of 100 students from different colleges, that is a sample.</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3CF4DC6-0C95-6BE8-322E-C356687B844B}"/>
                  </a:ext>
                </a:extLst>
              </p:cNvPr>
              <p:cNvSpPr txBox="1"/>
              <p:nvPr/>
            </p:nvSpPr>
            <p:spPr>
              <a:xfrm>
                <a:off x="453158" y="1956391"/>
                <a:ext cx="3350746" cy="2113527"/>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Sample statistics:</a:t>
                </a:r>
              </a:p>
              <a:p>
                <a:pPr>
                  <a:buFont typeface="Arial" panose="020B0604020202020204" pitchFamily="34" charset="0"/>
                  <a:buChar char="•"/>
                </a:pPr>
                <a:r>
                  <a:rPr lang="en-US" dirty="0"/>
                  <a:t>Sample mean </a:t>
                </a:r>
                <a14:m>
                  <m:oMath xmlns:m="http://schemas.openxmlformats.org/officeDocument/2006/math">
                    <m:limUpp>
                      <m:limUppPr>
                        <m:ctrlPr>
                          <a:rPr lang="ar-AE" i="1">
                            <a:latin typeface="Cambria Math" panose="02040503050406030204" pitchFamily="18" charset="0"/>
                          </a:rPr>
                        </m:ctrlPr>
                      </m:limUppPr>
                      <m:e>
                        <m:r>
                          <a:rPr lang="ar-AE" i="1">
                            <a:latin typeface="Cambria Math" panose="02040503050406030204" pitchFamily="18" charset="0"/>
                          </a:rPr>
                          <m:t>𝑥</m:t>
                        </m:r>
                      </m:e>
                      <m:lim>
                        <m:r>
                          <a:rPr lang="ar-AE" i="0">
                            <a:latin typeface="Cambria Math" panose="02040503050406030204" pitchFamily="18" charset="0"/>
                          </a:rPr>
                          <m:t>ˉ</m:t>
                        </m:r>
                      </m:lim>
                    </m:limUpp>
                  </m:oMath>
                </a14:m>
                <a:endParaRPr lang="ar-AE" dirty="0"/>
              </a:p>
              <a:p>
                <a:pPr>
                  <a:buFont typeface="Arial" panose="020B0604020202020204" pitchFamily="34" charset="0"/>
                  <a:buChar char="•"/>
                </a:pPr>
                <a:r>
                  <a:rPr lang="en-US" dirty="0"/>
                  <a:t>Sample variance </a:t>
                </a:r>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𝑠</m:t>
                        </m:r>
                      </m:e>
                      <m:sup>
                        <m:r>
                          <a:rPr lang="ar-AE" i="0">
                            <a:latin typeface="Cambria Math" panose="02040503050406030204" pitchFamily="18" charset="0"/>
                          </a:rPr>
                          <m:t>2</m:t>
                        </m:r>
                      </m:sup>
                    </m:sSup>
                  </m:oMath>
                </a14:m>
                <a:endParaRPr lang="ar-AE" dirty="0"/>
              </a:p>
              <a:p>
                <a:pPr>
                  <a:buFont typeface="Arial" panose="020B0604020202020204" pitchFamily="34" charset="0"/>
                  <a:buChar char="•"/>
                </a:pPr>
                <a:r>
                  <a:rPr lang="en-US" dirty="0"/>
                  <a:t>Sample standard deviation </a:t>
                </a:r>
                <a14:m>
                  <m:oMath xmlns:m="http://schemas.openxmlformats.org/officeDocument/2006/math">
                    <m:r>
                      <a:rPr lang="en-US" i="1">
                        <a:latin typeface="Cambria Math" panose="02040503050406030204" pitchFamily="18" charset="0"/>
                      </a:rPr>
                      <m:t>𝑠</m:t>
                    </m:r>
                  </m:oMath>
                </a14:m>
                <a:endParaRPr lang="en-US" dirty="0"/>
              </a:p>
              <a:p>
                <a:pPr>
                  <a:buNone/>
                </a:pPr>
                <a:r>
                  <a:rPr lang="en-US" b="1" dirty="0">
                    <a:latin typeface="Times New Roman" panose="02020603050405020304" pitchFamily="18" charset="0"/>
                    <a:cs typeface="Times New Roman" panose="02020603050405020304" pitchFamily="18" charset="0"/>
                  </a:rPr>
                  <a:t>Example dataset</a:t>
                </a:r>
              </a:p>
              <a:p>
                <a:pPr>
                  <a:buNone/>
                </a:pPr>
                <a:r>
                  <a:rPr lang="en-US" dirty="0"/>
                  <a:t>Student Heights (cm)</a:t>
                </a:r>
              </a:p>
              <a:p>
                <a:pPr>
                  <a:buNone/>
                </a:pPr>
                <a:r>
                  <a:rPr lang="en-US" dirty="0"/>
                  <a:t>160, 165, 170, 168, 172</a:t>
                </a:r>
              </a:p>
            </p:txBody>
          </p:sp>
        </mc:Choice>
        <mc:Fallback xmlns="">
          <p:sp>
            <p:nvSpPr>
              <p:cNvPr id="13" name="TextBox 12">
                <a:extLst>
                  <a:ext uri="{FF2B5EF4-FFF2-40B4-BE49-F238E27FC236}">
                    <a16:creationId xmlns:a16="http://schemas.microsoft.com/office/drawing/2014/main" id="{C3CF4DC6-0C95-6BE8-322E-C356687B844B}"/>
                  </a:ext>
                </a:extLst>
              </p:cNvPr>
              <p:cNvSpPr txBox="1">
                <a:spLocks noRot="1" noChangeAspect="1" noMove="1" noResize="1" noEditPoints="1" noAdjustHandles="1" noChangeArrowheads="1" noChangeShapeType="1" noTextEdit="1"/>
              </p:cNvSpPr>
              <p:nvPr/>
            </p:nvSpPr>
            <p:spPr>
              <a:xfrm>
                <a:off x="453158" y="1956391"/>
                <a:ext cx="3350746" cy="2113527"/>
              </a:xfrm>
              <a:prstGeom prst="rect">
                <a:avLst/>
              </a:prstGeom>
              <a:blipFill>
                <a:blip r:embed="rId3"/>
                <a:stretch>
                  <a:fillRect l="-1455" t="-1729" b="-3746"/>
                </a:stretch>
              </a:blipFill>
            </p:spPr>
            <p:txBody>
              <a:bodyPr/>
              <a:lstStyle/>
              <a:p>
                <a:r>
                  <a:rPr lang="en-US">
                    <a:noFill/>
                  </a:rPr>
                  <a:t> </a:t>
                </a:r>
              </a:p>
            </p:txBody>
          </p:sp>
        </mc:Fallback>
      </mc:AlternateContent>
    </p:spTree>
    <p:extLst>
      <p:ext uri="{BB962C8B-B14F-4D97-AF65-F5344CB8AC3E}">
        <p14:creationId xmlns:p14="http://schemas.microsoft.com/office/powerpoint/2010/main" val="3311474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97505-CA8D-D560-BEF3-63AAAF49665C}"/>
              </a:ext>
            </a:extLst>
          </p:cNvPr>
          <p:cNvSpPr>
            <a:spLocks noGrp="1"/>
          </p:cNvSpPr>
          <p:nvPr>
            <p:ph type="ctrTitle"/>
          </p:nvPr>
        </p:nvSpPr>
        <p:spPr>
          <a:xfrm>
            <a:off x="353568" y="128016"/>
            <a:ext cx="3057144" cy="566928"/>
          </a:xfrm>
        </p:spPr>
        <p:txBody>
          <a:bodyPr>
            <a:normAutofit/>
          </a:bodyPr>
          <a:lstStyle/>
          <a:p>
            <a:r>
              <a:rPr lang="en-US" sz="2400" b="1" dirty="0">
                <a:latin typeface="Times New Roman" panose="02020603050405020304" pitchFamily="18" charset="0"/>
                <a:cs typeface="Times New Roman" panose="02020603050405020304" pitchFamily="18" charset="0"/>
              </a:rPr>
              <a:t>Sampling Techniques</a:t>
            </a:r>
          </a:p>
        </p:txBody>
      </p:sp>
      <p:sp>
        <p:nvSpPr>
          <p:cNvPr id="3" name="Subtitle 2">
            <a:extLst>
              <a:ext uri="{FF2B5EF4-FFF2-40B4-BE49-F238E27FC236}">
                <a16:creationId xmlns:a16="http://schemas.microsoft.com/office/drawing/2014/main" id="{1B4471EE-B397-13A3-13AE-B36BBDEA3901}"/>
              </a:ext>
            </a:extLst>
          </p:cNvPr>
          <p:cNvSpPr>
            <a:spLocks noGrp="1"/>
          </p:cNvSpPr>
          <p:nvPr>
            <p:ph type="subTitle" idx="1"/>
          </p:nvPr>
        </p:nvSpPr>
        <p:spPr>
          <a:xfrm>
            <a:off x="280416" y="858838"/>
            <a:ext cx="11469624" cy="1372298"/>
          </a:xfrm>
        </p:spPr>
        <p:txBody>
          <a:bodyPr>
            <a:normAutofit/>
          </a:bodyPr>
          <a:lstStyle/>
          <a:p>
            <a:pPr algn="l"/>
            <a:r>
              <a:rPr lang="en-US" b="1" i="1" dirty="0"/>
              <a:t>1. Random sampling </a:t>
            </a:r>
            <a:r>
              <a:rPr lang="en-US" dirty="0"/>
              <a:t>is a process in which each available member of the population</a:t>
            </a:r>
          </a:p>
          <a:p>
            <a:pPr algn="l"/>
            <a:r>
              <a:rPr lang="en-US" dirty="0"/>
              <a:t>being sampled has an equal chance of being chosen for the sample at each draw. The</a:t>
            </a:r>
          </a:p>
          <a:p>
            <a:pPr algn="l"/>
            <a:r>
              <a:rPr lang="en-US" dirty="0"/>
              <a:t>sample that results is called a </a:t>
            </a:r>
            <a:r>
              <a:rPr lang="en-US" i="1" dirty="0"/>
              <a:t>simple random sample</a:t>
            </a:r>
            <a:r>
              <a:rPr lang="en-US" dirty="0"/>
              <a:t>.</a:t>
            </a:r>
          </a:p>
          <a:p>
            <a:pPr algn="l"/>
            <a:endParaRPr lang="en-US" dirty="0"/>
          </a:p>
        </p:txBody>
      </p:sp>
      <p:sp>
        <p:nvSpPr>
          <p:cNvPr id="5" name="TextBox 4">
            <a:extLst>
              <a:ext uri="{FF2B5EF4-FFF2-40B4-BE49-F238E27FC236}">
                <a16:creationId xmlns:a16="http://schemas.microsoft.com/office/drawing/2014/main" id="{CBF48E57-C456-4582-E04A-AD7C0647508D}"/>
              </a:ext>
            </a:extLst>
          </p:cNvPr>
          <p:cNvSpPr txBox="1"/>
          <p:nvPr/>
        </p:nvSpPr>
        <p:spPr>
          <a:xfrm>
            <a:off x="363474" y="2306288"/>
            <a:ext cx="6094476" cy="1477328"/>
          </a:xfrm>
          <a:prstGeom prst="rect">
            <a:avLst/>
          </a:prstGeom>
          <a:noFill/>
        </p:spPr>
        <p:txBody>
          <a:bodyPr wrap="square">
            <a:spAutoFit/>
          </a:bodyPr>
          <a:lstStyle/>
          <a:p>
            <a:pPr>
              <a:buNone/>
            </a:pPr>
            <a:r>
              <a:rPr lang="en-US" b="1" dirty="0"/>
              <a:t>Example</a:t>
            </a:r>
            <a:br>
              <a:rPr lang="en-US" dirty="0"/>
            </a:br>
            <a:r>
              <a:rPr lang="en-US" dirty="0"/>
              <a:t>  Select 50 students randomly using random numbers.</a:t>
            </a:r>
          </a:p>
          <a:p>
            <a:pPr>
              <a:buNone/>
            </a:pPr>
            <a:r>
              <a:rPr lang="en-US" dirty="0"/>
              <a:t>Advantages</a:t>
            </a:r>
          </a:p>
          <a:p>
            <a:pPr>
              <a:buFont typeface="Arial" panose="020B0604020202020204" pitchFamily="34" charset="0"/>
              <a:buChar char="•"/>
            </a:pPr>
            <a:r>
              <a:rPr lang="en-US" dirty="0"/>
              <a:t>No bias</a:t>
            </a:r>
          </a:p>
          <a:p>
            <a:pPr>
              <a:buFont typeface="Arial" panose="020B0604020202020204" pitchFamily="34" charset="0"/>
              <a:buChar char="•"/>
            </a:pPr>
            <a:r>
              <a:rPr lang="en-US" dirty="0"/>
              <a:t>Easy statistical analysis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FC244F5-2612-4D5C-229E-6BAFF6932CC3}"/>
                  </a:ext>
                </a:extLst>
              </p:cNvPr>
              <p:cNvSpPr txBox="1"/>
              <p:nvPr/>
            </p:nvSpPr>
            <p:spPr>
              <a:xfrm>
                <a:off x="441198" y="3879056"/>
                <a:ext cx="6094476" cy="2367058"/>
              </a:xfrm>
              <a:prstGeom prst="rect">
                <a:avLst/>
              </a:prstGeom>
              <a:noFill/>
            </p:spPr>
            <p:txBody>
              <a:bodyPr wrap="square">
                <a:spAutoFit/>
              </a:bodyPr>
              <a:lstStyle/>
              <a:p>
                <a:pPr>
                  <a:buNone/>
                </a:pPr>
                <a:r>
                  <a:rPr lang="en-US" sz="2400" b="1" i="1" dirty="0"/>
                  <a:t>2. Systematic Sampling</a:t>
                </a:r>
              </a:p>
              <a:p>
                <a:pPr>
                  <a:buNone/>
                </a:pPr>
                <a:r>
                  <a:rPr lang="en-US" dirty="0"/>
                  <a:t>Select every kth element.</a:t>
                </a:r>
              </a:p>
              <a:p>
                <a:pPr>
                  <a:buNone/>
                </a:pPr>
                <a:r>
                  <a:rPr lang="en-US" dirty="0"/>
                  <a:t>Example</a:t>
                </a:r>
                <a:br>
                  <a:rPr lang="en-US" dirty="0"/>
                </a:br>
                <a:r>
                  <a:rPr lang="en-US" dirty="0"/>
                  <a:t>Population = 1000</a:t>
                </a:r>
                <a:br>
                  <a:rPr lang="en-US" dirty="0"/>
                </a:br>
                <a:r>
                  <a:rPr lang="en-US" dirty="0"/>
                  <a:t>Sample = 100</a:t>
                </a:r>
              </a:p>
              <a:p>
                <a:pP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𝑘</m:t>
                      </m:r>
                      <m:r>
                        <a:rPr lang="en-US"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1000</m:t>
                          </m:r>
                        </m:num>
                        <m:den>
                          <m:r>
                            <a:rPr lang="ar-AE" i="0">
                              <a:latin typeface="Cambria Math" panose="02040503050406030204" pitchFamily="18" charset="0"/>
                            </a:rPr>
                            <m:t>100</m:t>
                          </m:r>
                        </m:den>
                      </m:f>
                      <m:r>
                        <a:rPr lang="ar-AE" i="0">
                          <a:latin typeface="Cambria Math" panose="02040503050406030204" pitchFamily="18" charset="0"/>
                        </a:rPr>
                        <m:t>=</m:t>
                      </m:r>
                      <m:r>
                        <a:rPr lang="ar-AE" i="0">
                          <a:latin typeface="Cambria Math" panose="02040503050406030204" pitchFamily="18" charset="0"/>
                        </a:rPr>
                        <m:t>10</m:t>
                      </m:r>
                    </m:oMath>
                  </m:oMathPara>
                </a14:m>
                <a:endParaRPr lang="ar-AE" dirty="0"/>
              </a:p>
              <a:p>
                <a:pPr>
                  <a:buNone/>
                </a:pPr>
                <a:r>
                  <a:rPr lang="en-US" dirty="0"/>
                  <a:t>Choose every </a:t>
                </a:r>
                <a:r>
                  <a:rPr lang="en-US" b="1" dirty="0"/>
                  <a:t>10th student</a:t>
                </a:r>
                <a:r>
                  <a:rPr lang="en-US" dirty="0"/>
                  <a:t>.</a:t>
                </a:r>
              </a:p>
            </p:txBody>
          </p:sp>
        </mc:Choice>
        <mc:Fallback xmlns="">
          <p:sp>
            <p:nvSpPr>
              <p:cNvPr id="7" name="TextBox 6">
                <a:extLst>
                  <a:ext uri="{FF2B5EF4-FFF2-40B4-BE49-F238E27FC236}">
                    <a16:creationId xmlns:a16="http://schemas.microsoft.com/office/drawing/2014/main" id="{CFC244F5-2612-4D5C-229E-6BAFF6932CC3}"/>
                  </a:ext>
                </a:extLst>
              </p:cNvPr>
              <p:cNvSpPr txBox="1">
                <a:spLocks noRot="1" noChangeAspect="1" noMove="1" noResize="1" noEditPoints="1" noAdjustHandles="1" noChangeArrowheads="1" noChangeShapeType="1" noTextEdit="1"/>
              </p:cNvSpPr>
              <p:nvPr/>
            </p:nvSpPr>
            <p:spPr>
              <a:xfrm>
                <a:off x="441198" y="3879056"/>
                <a:ext cx="6094476" cy="2367058"/>
              </a:xfrm>
              <a:prstGeom prst="rect">
                <a:avLst/>
              </a:prstGeom>
              <a:blipFill>
                <a:blip r:embed="rId2"/>
                <a:stretch>
                  <a:fillRect l="-1500" t="-2057" b="-3085"/>
                </a:stretch>
              </a:blipFill>
            </p:spPr>
            <p:txBody>
              <a:bodyPr/>
              <a:lstStyle/>
              <a:p>
                <a:r>
                  <a:rPr lang="en-US">
                    <a:noFill/>
                  </a:rPr>
                  <a:t> </a:t>
                </a:r>
              </a:p>
            </p:txBody>
          </p:sp>
        </mc:Fallback>
      </mc:AlternateContent>
    </p:spTree>
    <p:extLst>
      <p:ext uri="{BB962C8B-B14F-4D97-AF65-F5344CB8AC3E}">
        <p14:creationId xmlns:p14="http://schemas.microsoft.com/office/powerpoint/2010/main" val="42520263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9DCFC0-13B8-5CAA-A871-96AB734BBFBE}"/>
              </a:ext>
            </a:extLst>
          </p:cNvPr>
          <p:cNvSpPr>
            <a:spLocks noGrp="1"/>
          </p:cNvSpPr>
          <p:nvPr>
            <p:ph idx="1"/>
          </p:nvPr>
        </p:nvSpPr>
        <p:spPr>
          <a:xfrm>
            <a:off x="545592" y="481457"/>
            <a:ext cx="7034784" cy="4657472"/>
          </a:xfrm>
        </p:spPr>
        <p:txBody>
          <a:bodyPr/>
          <a:lstStyle/>
          <a:p>
            <a:pPr marL="0" indent="0">
              <a:buNone/>
            </a:pPr>
            <a:r>
              <a:rPr lang="en-US" b="1" dirty="0">
                <a:latin typeface="Times New Roman" panose="02020603050405020304" pitchFamily="18" charset="0"/>
                <a:cs typeface="Times New Roman" panose="02020603050405020304" pitchFamily="18" charset="0"/>
              </a:rPr>
              <a:t>(c) Stratified Sampling</a:t>
            </a:r>
          </a:p>
          <a:p>
            <a:r>
              <a:rPr lang="en-US" dirty="0">
                <a:latin typeface="Times New Roman" panose="02020603050405020304" pitchFamily="18" charset="0"/>
                <a:cs typeface="Times New Roman" panose="02020603050405020304" pitchFamily="18" charset="0"/>
              </a:rPr>
              <a:t>Population divided into </a:t>
            </a:r>
            <a:r>
              <a:rPr lang="en-US" b="1" dirty="0">
                <a:latin typeface="Times New Roman" panose="02020603050405020304" pitchFamily="18" charset="0"/>
                <a:cs typeface="Times New Roman" panose="02020603050405020304" pitchFamily="18" charset="0"/>
              </a:rPr>
              <a:t>groups (strata)</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Example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Students grouped by department:</a:t>
            </a:r>
          </a:p>
          <a:p>
            <a:pPr lvl="1"/>
            <a:r>
              <a:rPr lang="en-US" dirty="0">
                <a:latin typeface="Times New Roman" panose="02020603050405020304" pitchFamily="18" charset="0"/>
                <a:cs typeface="Times New Roman" panose="02020603050405020304" pitchFamily="18" charset="0"/>
              </a:rPr>
              <a:t>CSE</a:t>
            </a:r>
          </a:p>
          <a:p>
            <a:pPr lvl="1"/>
            <a:r>
              <a:rPr lang="en-US" dirty="0">
                <a:latin typeface="Times New Roman" panose="02020603050405020304" pitchFamily="18" charset="0"/>
                <a:cs typeface="Times New Roman" panose="02020603050405020304" pitchFamily="18" charset="0"/>
              </a:rPr>
              <a:t>Mechanical</a:t>
            </a:r>
          </a:p>
          <a:p>
            <a:pPr lvl="1"/>
            <a:r>
              <a:rPr lang="en-US" dirty="0">
                <a:latin typeface="Times New Roman" panose="02020603050405020304" pitchFamily="18" charset="0"/>
                <a:cs typeface="Times New Roman" panose="02020603050405020304" pitchFamily="18" charset="0"/>
              </a:rPr>
              <a:t>Civil</a:t>
            </a:r>
          </a:p>
          <a:p>
            <a:r>
              <a:rPr lang="en-US" dirty="0">
                <a:latin typeface="Times New Roman" panose="02020603050405020304" pitchFamily="18" charset="0"/>
                <a:cs typeface="Times New Roman" panose="02020603050405020304" pitchFamily="18" charset="0"/>
              </a:rPr>
              <a:t>Then random sample from each group.</a:t>
            </a:r>
          </a:p>
          <a:p>
            <a:r>
              <a:rPr lang="en-US" dirty="0">
                <a:latin typeface="Times New Roman" panose="02020603050405020304" pitchFamily="18" charset="0"/>
                <a:cs typeface="Times New Roman" panose="02020603050405020304" pitchFamily="18" charset="0"/>
              </a:rPr>
              <a:t>Advantage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Improves representation.</a:t>
            </a:r>
          </a:p>
          <a:p>
            <a:pPr marL="0" indent="0">
              <a:buNone/>
            </a:pPr>
            <a:endParaRPr lang="en-US" dirty="0"/>
          </a:p>
        </p:txBody>
      </p:sp>
    </p:spTree>
    <p:extLst>
      <p:ext uri="{BB962C8B-B14F-4D97-AF65-F5344CB8AC3E}">
        <p14:creationId xmlns:p14="http://schemas.microsoft.com/office/powerpoint/2010/main" val="22359735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AC1D9-F14E-C2C4-7CA0-34B2894D164A}"/>
              </a:ext>
            </a:extLst>
          </p:cNvPr>
          <p:cNvSpPr>
            <a:spLocks noGrp="1"/>
          </p:cNvSpPr>
          <p:nvPr>
            <p:ph type="title"/>
          </p:nvPr>
        </p:nvSpPr>
        <p:spPr>
          <a:xfrm>
            <a:off x="-76200" y="99949"/>
            <a:ext cx="10515600" cy="476123"/>
          </a:xfrm>
        </p:spPr>
        <p:txBody>
          <a:bodyPr>
            <a:normAutofit fontScale="90000"/>
          </a:bodyPr>
          <a:lstStyle/>
          <a:p>
            <a:r>
              <a:rPr lang="en-US" dirty="0">
                <a:highlight>
                  <a:srgbClr val="FFFF00"/>
                </a:highlight>
              </a:rPr>
              <a:t>Estimation</a:t>
            </a:r>
          </a:p>
        </p:txBody>
      </p:sp>
      <p:sp>
        <p:nvSpPr>
          <p:cNvPr id="3" name="Content Placeholder 2">
            <a:extLst>
              <a:ext uri="{FF2B5EF4-FFF2-40B4-BE49-F238E27FC236}">
                <a16:creationId xmlns:a16="http://schemas.microsoft.com/office/drawing/2014/main" id="{857B4699-B1B9-DE8A-4A3E-C7546B71791E}"/>
              </a:ext>
            </a:extLst>
          </p:cNvPr>
          <p:cNvSpPr>
            <a:spLocks noGrp="1"/>
          </p:cNvSpPr>
          <p:nvPr>
            <p:ph idx="1"/>
          </p:nvPr>
        </p:nvSpPr>
        <p:spPr>
          <a:xfrm>
            <a:off x="188976" y="892937"/>
            <a:ext cx="11762232" cy="5758120"/>
          </a:xfrm>
        </p:spPr>
        <p:txBody>
          <a:bodyPr>
            <a:normAutofit fontScale="85000" lnSpcReduction="10000"/>
          </a:bodyPr>
          <a:lstStyle/>
          <a:p>
            <a:r>
              <a:rPr lang="en-US" dirty="0">
                <a:latin typeface="Times New Roman" panose="02020603050405020304" pitchFamily="18" charset="0"/>
                <a:cs typeface="Times New Roman" panose="02020603050405020304" pitchFamily="18" charset="0"/>
              </a:rPr>
              <a:t>Estimation is a fundamental concept in statistical inference, where we use information from a sample to estimate unknown characteristics of a population.</a:t>
            </a:r>
          </a:p>
          <a:p>
            <a:r>
              <a:rPr lang="en-US" dirty="0">
                <a:latin typeface="Times New Roman" panose="02020603050405020304" pitchFamily="18" charset="0"/>
                <a:cs typeface="Times New Roman" panose="02020603050405020304" pitchFamily="18" charset="0"/>
              </a:rPr>
              <a:t>Since collecting data from the entire population is often impractical or impossible, estimation allows researchers to draw conclusions about the population using only a subset of data.</a:t>
            </a:r>
          </a:p>
          <a:p>
            <a:endParaRPr lang="en-US" dirty="0">
              <a:latin typeface="Times New Roman" panose="02020603050405020304" pitchFamily="18" charset="0"/>
              <a:cs typeface="Times New Roman" panose="02020603050405020304" pitchFamily="18" charset="0"/>
            </a:endParaRPr>
          </a:p>
          <a:p>
            <a:r>
              <a:rPr lang="en-US" dirty="0">
                <a:solidFill>
                  <a:srgbClr val="FF0000"/>
                </a:solidFill>
                <a:latin typeface="Times New Roman" panose="02020603050405020304" pitchFamily="18" charset="0"/>
                <a:cs typeface="Times New Roman" panose="02020603050405020304" pitchFamily="18" charset="0"/>
              </a:rPr>
              <a:t>Definition: </a:t>
            </a:r>
            <a:r>
              <a:rPr lang="en-US" dirty="0">
                <a:latin typeface="Times New Roman" panose="02020603050405020304" pitchFamily="18" charset="0"/>
                <a:cs typeface="Times New Roman" panose="02020603050405020304" pitchFamily="18" charset="0"/>
              </a:rPr>
              <a:t>Estimation is the process of approximating the value of an unknown population parameter based on sample data. </a:t>
            </a:r>
          </a:p>
          <a:p>
            <a:endParaRPr lang="en-US" dirty="0"/>
          </a:p>
          <a:p>
            <a:pPr marL="0" indent="0">
              <a:buNone/>
            </a:pPr>
            <a:r>
              <a:rPr lang="en-US" dirty="0">
                <a:latin typeface="Times New Roman" panose="02020603050405020304" pitchFamily="18" charset="0"/>
                <a:cs typeface="Times New Roman" panose="02020603050405020304" pitchFamily="18" charset="0"/>
              </a:rPr>
              <a:t>Population parameters are fixed but unknown values describing a population, such as:</a:t>
            </a:r>
          </a:p>
          <a:p>
            <a:r>
              <a:rPr lang="en-US" dirty="0">
                <a:latin typeface="Times New Roman" panose="02020603050405020304" pitchFamily="18" charset="0"/>
                <a:cs typeface="Times New Roman" panose="02020603050405020304" pitchFamily="18" charset="0"/>
              </a:rPr>
              <a:t>Population mean (μ)</a:t>
            </a:r>
          </a:p>
          <a:p>
            <a:r>
              <a:rPr lang="en-US" dirty="0">
                <a:latin typeface="Times New Roman" panose="02020603050405020304" pitchFamily="18" charset="0"/>
                <a:cs typeface="Times New Roman" panose="02020603050405020304" pitchFamily="18" charset="0"/>
              </a:rPr>
              <a:t>Population variance (σ²)</a:t>
            </a:r>
          </a:p>
          <a:p>
            <a:r>
              <a:rPr lang="en-US" dirty="0">
                <a:latin typeface="Times New Roman" panose="02020603050405020304" pitchFamily="18" charset="0"/>
                <a:cs typeface="Times New Roman" panose="02020603050405020304" pitchFamily="18" charset="0"/>
              </a:rPr>
              <a:t>Population standard deviation (σ)</a:t>
            </a:r>
          </a:p>
          <a:p>
            <a:r>
              <a:rPr lang="en-US" dirty="0">
                <a:latin typeface="Times New Roman" panose="02020603050405020304" pitchFamily="18" charset="0"/>
                <a:cs typeface="Times New Roman" panose="02020603050405020304" pitchFamily="18" charset="0"/>
              </a:rPr>
              <a:t>Population proportion (P)</a:t>
            </a:r>
          </a:p>
          <a:p>
            <a:r>
              <a:rPr lang="en-US" dirty="0">
                <a:latin typeface="Times New Roman" panose="02020603050405020304" pitchFamily="18" charset="0"/>
                <a:cs typeface="Times New Roman" panose="02020603050405020304" pitchFamily="18" charset="0"/>
              </a:rPr>
              <a:t>A sample statistic is calculated from the sample and used to estimate these parameters.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1704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EC962A-E263-C184-A67B-E05665277200}"/>
              </a:ext>
            </a:extLst>
          </p:cNvPr>
          <p:cNvSpPr>
            <a:spLocks noGrp="1"/>
          </p:cNvSpPr>
          <p:nvPr>
            <p:ph idx="1"/>
          </p:nvPr>
        </p:nvSpPr>
        <p:spPr>
          <a:xfrm>
            <a:off x="472440" y="426593"/>
            <a:ext cx="10515600" cy="4351338"/>
          </a:xfrm>
        </p:spPr>
        <p:txBody>
          <a:bodyPr>
            <a:normAutofit/>
          </a:bodyPr>
          <a:lstStyle/>
          <a:p>
            <a:pPr marL="0" indent="0">
              <a:buNone/>
            </a:pPr>
            <a:r>
              <a:rPr lang="en-US" dirty="0">
                <a:highlight>
                  <a:srgbClr val="00FF00"/>
                </a:highlight>
              </a:rPr>
              <a:t>Example 1:</a:t>
            </a:r>
          </a:p>
          <a:p>
            <a:r>
              <a:rPr lang="en-US" dirty="0">
                <a:latin typeface="Times New Roman" panose="02020603050405020304" pitchFamily="18" charset="0"/>
                <a:cs typeface="Times New Roman" panose="02020603050405020304" pitchFamily="18" charset="0"/>
              </a:rPr>
              <a:t>Suppose we want to know the average protein intake of all adults in India.</a:t>
            </a:r>
          </a:p>
          <a:p>
            <a:r>
              <a:rPr lang="en-US" dirty="0">
                <a:highlight>
                  <a:srgbClr val="FFFF00"/>
                </a:highlight>
              </a:rPr>
              <a:t>Population: </a:t>
            </a:r>
            <a:r>
              <a:rPr lang="en-US" dirty="0"/>
              <a:t>All adults in India</a:t>
            </a:r>
            <a:br>
              <a:rPr lang="en-US" dirty="0"/>
            </a:br>
            <a:r>
              <a:rPr lang="en-US" dirty="0">
                <a:highlight>
                  <a:srgbClr val="FFFF00"/>
                </a:highlight>
              </a:rPr>
              <a:t>Sample: </a:t>
            </a:r>
            <a:r>
              <a:rPr lang="en-US" dirty="0"/>
              <a:t>500 adults surveyed</a:t>
            </a:r>
          </a:p>
          <a:p>
            <a:r>
              <a:rPr lang="en-US" dirty="0"/>
              <a:t>If the sample mean protein intake is </a:t>
            </a:r>
            <a:r>
              <a:rPr lang="en-US" b="1" dirty="0">
                <a:highlight>
                  <a:srgbClr val="FFFF00"/>
                </a:highlight>
              </a:rPr>
              <a:t>52 grams</a:t>
            </a:r>
            <a:r>
              <a:rPr lang="en-US" dirty="0"/>
              <a:t>, we use it to estimate the population mean. Thus:</a:t>
            </a:r>
          </a:p>
          <a:p>
            <a:pPr algn="ctr"/>
            <a:r>
              <a:rPr lang="en-US" dirty="0">
                <a:highlight>
                  <a:srgbClr val="FFFF00"/>
                </a:highlight>
              </a:rPr>
              <a:t>μ ≈ 52 grams</a:t>
            </a:r>
          </a:p>
          <a:p>
            <a:r>
              <a:rPr lang="en-US" dirty="0"/>
              <a:t>This approximation is called estimation.</a:t>
            </a:r>
          </a:p>
          <a:p>
            <a:pPr marL="0" indent="0">
              <a:buNone/>
            </a:pPr>
            <a:endParaRPr lang="en-US" dirty="0"/>
          </a:p>
        </p:txBody>
      </p:sp>
    </p:spTree>
    <p:extLst>
      <p:ext uri="{BB962C8B-B14F-4D97-AF65-F5344CB8AC3E}">
        <p14:creationId xmlns:p14="http://schemas.microsoft.com/office/powerpoint/2010/main" val="1244825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8CC61-779E-8A49-567D-C860B6DFAC2F}"/>
              </a:ext>
            </a:extLst>
          </p:cNvPr>
          <p:cNvSpPr>
            <a:spLocks noGrp="1"/>
          </p:cNvSpPr>
          <p:nvPr>
            <p:ph type="ctrTitle"/>
          </p:nvPr>
        </p:nvSpPr>
        <p:spPr>
          <a:xfrm>
            <a:off x="0" y="896112"/>
            <a:ext cx="3517392" cy="438912"/>
          </a:xfrm>
        </p:spPr>
        <p:txBody>
          <a:bodyPr>
            <a:normAutofit fontScale="90000"/>
          </a:bodyPr>
          <a:lstStyle/>
          <a:p>
            <a:r>
              <a:rPr lang="en-US" sz="3100" b="1" dirty="0">
                <a:highlight>
                  <a:srgbClr val="FFFF00"/>
                </a:highlight>
                <a:latin typeface="Times New Roman" panose="02020603050405020304" pitchFamily="18" charset="0"/>
                <a:cs typeface="Times New Roman" panose="02020603050405020304" pitchFamily="18" charset="0"/>
              </a:rPr>
              <a:t>Types of Estimation</a:t>
            </a:r>
            <a:br>
              <a:rPr lang="en-US" b="1" dirty="0"/>
            </a:br>
            <a:endParaRPr lang="en-US" dirty="0"/>
          </a:p>
        </p:txBody>
      </p:sp>
      <p:sp>
        <p:nvSpPr>
          <p:cNvPr id="3" name="Subtitle 2">
            <a:extLst>
              <a:ext uri="{FF2B5EF4-FFF2-40B4-BE49-F238E27FC236}">
                <a16:creationId xmlns:a16="http://schemas.microsoft.com/office/drawing/2014/main" id="{814BAB03-6AED-D789-030A-23200FBFCD5A}"/>
              </a:ext>
            </a:extLst>
          </p:cNvPr>
          <p:cNvSpPr>
            <a:spLocks noGrp="1"/>
          </p:cNvSpPr>
          <p:nvPr>
            <p:ph type="subTitle" idx="1"/>
          </p:nvPr>
        </p:nvSpPr>
        <p:spPr>
          <a:xfrm>
            <a:off x="252984" y="630936"/>
            <a:ext cx="9144000" cy="1426464"/>
          </a:xfrm>
        </p:spPr>
        <p:txBody>
          <a:bodyPr>
            <a:normAutofit/>
          </a:bodyPr>
          <a:lstStyle/>
          <a:p>
            <a:pPr algn="l"/>
            <a:r>
              <a:rPr lang="en-US" dirty="0"/>
              <a:t>There are </a:t>
            </a:r>
            <a:r>
              <a:rPr lang="en-US" dirty="0">
                <a:latin typeface="Times New Roman" panose="02020603050405020304" pitchFamily="18" charset="0"/>
                <a:cs typeface="Times New Roman" panose="02020603050405020304" pitchFamily="18" charset="0"/>
              </a:rPr>
              <a:t>two main types of estimation:</a:t>
            </a:r>
          </a:p>
          <a:p>
            <a:pPr marL="342900" indent="-342900" algn="l">
              <a:buFont typeface="Arial" panose="020B0604020202020204" pitchFamily="34" charset="0"/>
              <a:buChar char="•"/>
            </a:pPr>
            <a:r>
              <a:rPr lang="en-US" dirty="0"/>
              <a:t>Point Estimation</a:t>
            </a:r>
          </a:p>
          <a:p>
            <a:pPr marL="342900" indent="-342900" algn="l">
              <a:buFont typeface="Arial" panose="020B0604020202020204" pitchFamily="34" charset="0"/>
              <a:buChar char="•"/>
            </a:pPr>
            <a:r>
              <a:rPr lang="en-US" dirty="0"/>
              <a:t>Interval Estimation</a:t>
            </a:r>
          </a:p>
          <a:p>
            <a:endParaRPr lang="en-US" dirty="0"/>
          </a:p>
        </p:txBody>
      </p:sp>
      <p:sp>
        <p:nvSpPr>
          <p:cNvPr id="7" name="TextBox 6">
            <a:extLst>
              <a:ext uri="{FF2B5EF4-FFF2-40B4-BE49-F238E27FC236}">
                <a16:creationId xmlns:a16="http://schemas.microsoft.com/office/drawing/2014/main" id="{B6E35FC2-8030-22D1-02ED-C5FCF975185B}"/>
              </a:ext>
            </a:extLst>
          </p:cNvPr>
          <p:cNvSpPr txBox="1"/>
          <p:nvPr/>
        </p:nvSpPr>
        <p:spPr>
          <a:xfrm>
            <a:off x="550926" y="1965960"/>
            <a:ext cx="6094476" cy="1477328"/>
          </a:xfrm>
          <a:prstGeom prst="rect">
            <a:avLst/>
          </a:prstGeom>
          <a:noFill/>
        </p:spPr>
        <p:txBody>
          <a:bodyPr wrap="square">
            <a:spAutoFit/>
          </a:bodyPr>
          <a:lstStyle/>
          <a:p>
            <a:pPr>
              <a:buNone/>
            </a:pPr>
            <a:r>
              <a:rPr lang="en-US" dirty="0"/>
              <a:t>A </a:t>
            </a:r>
            <a:r>
              <a:rPr lang="en-US" b="1" dirty="0">
                <a:highlight>
                  <a:srgbClr val="FFFF00"/>
                </a:highlight>
              </a:rPr>
              <a:t>point estimate</a:t>
            </a:r>
            <a:r>
              <a:rPr lang="en-US" dirty="0">
                <a:highlight>
                  <a:srgbClr val="FFFF00"/>
                </a:highlight>
              </a:rPr>
              <a:t> </a:t>
            </a:r>
            <a:r>
              <a:rPr lang="en-US" dirty="0"/>
              <a:t>is a single numerical value used to estimate a population parameter.</a:t>
            </a:r>
          </a:p>
          <a:p>
            <a:pPr>
              <a:buNone/>
            </a:pPr>
            <a:r>
              <a:rPr lang="en-US" dirty="0"/>
              <a:t>Example: Sample mean = 52 grams. Then:</a:t>
            </a:r>
          </a:p>
          <a:p>
            <a:pPr>
              <a:buNone/>
            </a:pPr>
            <a:r>
              <a:rPr lang="en-US" dirty="0"/>
              <a:t>Population mean ≈ 52 grams</a:t>
            </a:r>
          </a:p>
          <a:p>
            <a:pPr>
              <a:buNone/>
            </a:pPr>
            <a:r>
              <a:rPr lang="en-US" dirty="0"/>
              <a:t>The value </a:t>
            </a:r>
            <a:r>
              <a:rPr lang="en-US" b="1" dirty="0"/>
              <a:t>52 </a:t>
            </a:r>
            <a:r>
              <a:rPr lang="en-US" dirty="0"/>
              <a:t>is the point estimate.</a:t>
            </a:r>
          </a:p>
        </p:txBody>
      </p:sp>
      <p:graphicFrame>
        <p:nvGraphicFramePr>
          <p:cNvPr id="8" name="Table 7">
            <a:extLst>
              <a:ext uri="{FF2B5EF4-FFF2-40B4-BE49-F238E27FC236}">
                <a16:creationId xmlns:a16="http://schemas.microsoft.com/office/drawing/2014/main" id="{BB1AF1FE-8294-4793-C8DD-F6C023DE5094}"/>
              </a:ext>
            </a:extLst>
          </p:cNvPr>
          <p:cNvGraphicFramePr>
            <a:graphicFrameLocks noGrp="1"/>
          </p:cNvGraphicFramePr>
          <p:nvPr>
            <p:extLst>
              <p:ext uri="{D42A27DB-BD31-4B8C-83A1-F6EECF244321}">
                <p14:modId xmlns:p14="http://schemas.microsoft.com/office/powerpoint/2010/main" val="3189973657"/>
              </p:ext>
            </p:extLst>
          </p:nvPr>
        </p:nvGraphicFramePr>
        <p:xfrm>
          <a:off x="691896" y="3830210"/>
          <a:ext cx="10591800" cy="2616347"/>
        </p:xfrm>
        <a:graphic>
          <a:graphicData uri="http://schemas.openxmlformats.org/drawingml/2006/table">
            <a:tbl>
              <a:tblPr/>
              <a:tblGrid>
                <a:gridCol w="3530600">
                  <a:extLst>
                    <a:ext uri="{9D8B030D-6E8A-4147-A177-3AD203B41FA5}">
                      <a16:colId xmlns:a16="http://schemas.microsoft.com/office/drawing/2014/main" val="1123251070"/>
                    </a:ext>
                  </a:extLst>
                </a:gridCol>
                <a:gridCol w="3530600">
                  <a:extLst>
                    <a:ext uri="{9D8B030D-6E8A-4147-A177-3AD203B41FA5}">
                      <a16:colId xmlns:a16="http://schemas.microsoft.com/office/drawing/2014/main" val="2315424101"/>
                    </a:ext>
                  </a:extLst>
                </a:gridCol>
                <a:gridCol w="3530600">
                  <a:extLst>
                    <a:ext uri="{9D8B030D-6E8A-4147-A177-3AD203B41FA5}">
                      <a16:colId xmlns:a16="http://schemas.microsoft.com/office/drawing/2014/main" val="817600600"/>
                    </a:ext>
                  </a:extLst>
                </a:gridCol>
              </a:tblGrid>
              <a:tr h="421787">
                <a:tc>
                  <a:txBody>
                    <a:bodyPr/>
                    <a:lstStyle/>
                    <a:p>
                      <a:pPr>
                        <a:buNone/>
                      </a:pPr>
                      <a:r>
                        <a:rPr lang="en-US" b="1"/>
                        <a:t>Population Parameter</a:t>
                      </a:r>
                    </a:p>
                  </a:txBody>
                  <a:tcPr anchor="ctr">
                    <a:lnL>
                      <a:noFill/>
                    </a:lnL>
                    <a:lnR>
                      <a:noFill/>
                    </a:lnR>
                    <a:lnT>
                      <a:noFill/>
                    </a:lnT>
                    <a:lnB>
                      <a:noFill/>
                    </a:lnB>
                    <a:noFill/>
                  </a:tcPr>
                </a:tc>
                <a:tc>
                  <a:txBody>
                    <a:bodyPr/>
                    <a:lstStyle/>
                    <a:p>
                      <a:pPr>
                        <a:buNone/>
                      </a:pPr>
                      <a:r>
                        <a:rPr lang="en-US" b="1"/>
                        <a:t>Symbol</a:t>
                      </a:r>
                    </a:p>
                  </a:txBody>
                  <a:tcPr anchor="ctr">
                    <a:lnL>
                      <a:noFill/>
                    </a:lnL>
                    <a:lnR>
                      <a:noFill/>
                    </a:lnR>
                    <a:lnT>
                      <a:noFill/>
                    </a:lnT>
                    <a:lnB>
                      <a:noFill/>
                    </a:lnB>
                    <a:noFill/>
                  </a:tcPr>
                </a:tc>
                <a:tc>
                  <a:txBody>
                    <a:bodyPr/>
                    <a:lstStyle/>
                    <a:p>
                      <a:pPr>
                        <a:buNone/>
                      </a:pPr>
                      <a:r>
                        <a:rPr lang="en-US" b="1" dirty="0"/>
                        <a:t>Point Estimator</a:t>
                      </a:r>
                    </a:p>
                  </a:txBody>
                  <a:tcPr anchor="ctr">
                    <a:lnL>
                      <a:noFill/>
                    </a:lnL>
                    <a:lnR>
                      <a:noFill/>
                    </a:lnR>
                    <a:lnT>
                      <a:noFill/>
                    </a:lnT>
                    <a:lnB>
                      <a:noFill/>
                    </a:lnB>
                    <a:noFill/>
                  </a:tcPr>
                </a:tc>
                <a:extLst>
                  <a:ext uri="{0D108BD9-81ED-4DB2-BD59-A6C34878D82A}">
                    <a16:rowId xmlns:a16="http://schemas.microsoft.com/office/drawing/2014/main" val="355789132"/>
                  </a:ext>
                </a:extLst>
              </a:tr>
              <a:tr h="421787">
                <a:tc>
                  <a:txBody>
                    <a:bodyPr/>
                    <a:lstStyle/>
                    <a:p>
                      <a:pPr>
                        <a:buNone/>
                      </a:pPr>
                      <a:r>
                        <a:rPr lang="en-US" sz="2400" b="0" dirty="0">
                          <a:latin typeface="Times New Roman" panose="02020603050405020304" pitchFamily="18" charset="0"/>
                          <a:cs typeface="Times New Roman" panose="02020603050405020304" pitchFamily="18" charset="0"/>
                        </a:rPr>
                        <a:t>Population Mean</a:t>
                      </a:r>
                    </a:p>
                  </a:txBody>
                  <a:tcPr anchor="ctr">
                    <a:lnL>
                      <a:noFill/>
                    </a:lnL>
                    <a:lnR>
                      <a:noFill/>
                    </a:lnR>
                    <a:lnT>
                      <a:noFill/>
                    </a:lnT>
                    <a:lnB>
                      <a:noFill/>
                    </a:lnB>
                    <a:noFill/>
                  </a:tcPr>
                </a:tc>
                <a:tc>
                  <a:txBody>
                    <a:bodyPr/>
                    <a:lstStyle/>
                    <a:p>
                      <a:pPr>
                        <a:buNone/>
                      </a:pPr>
                      <a:r>
                        <a:rPr lang="el-GR" sz="2400" b="0" dirty="0">
                          <a:latin typeface="Times New Roman" panose="02020603050405020304" pitchFamily="18" charset="0"/>
                          <a:cs typeface="Times New Roman" panose="02020603050405020304" pitchFamily="18" charset="0"/>
                        </a:rPr>
                        <a:t>μ</a:t>
                      </a:r>
                    </a:p>
                  </a:txBody>
                  <a:tcPr anchor="ctr">
                    <a:lnL>
                      <a:noFill/>
                    </a:lnL>
                    <a:lnR>
                      <a:noFill/>
                    </a:lnR>
                    <a:lnT>
                      <a:noFill/>
                    </a:lnT>
                    <a:lnB>
                      <a:noFill/>
                    </a:lnB>
                    <a:noFill/>
                  </a:tcPr>
                </a:tc>
                <a:tc>
                  <a:txBody>
                    <a:bodyPr/>
                    <a:lstStyle/>
                    <a:p>
                      <a:pPr>
                        <a:buNone/>
                      </a:pPr>
                      <a:r>
                        <a:rPr lang="en-US" sz="2400" b="0" dirty="0">
                          <a:latin typeface="Times New Roman" panose="02020603050405020304" pitchFamily="18" charset="0"/>
                          <a:cs typeface="Times New Roman" panose="02020603050405020304" pitchFamily="18" charset="0"/>
                        </a:rPr>
                        <a:t>Sample Mean (x̄)</a:t>
                      </a:r>
                    </a:p>
                  </a:txBody>
                  <a:tcPr anchor="ctr">
                    <a:lnL>
                      <a:noFill/>
                    </a:lnL>
                    <a:lnR>
                      <a:noFill/>
                    </a:lnR>
                    <a:lnT>
                      <a:noFill/>
                    </a:lnT>
                    <a:lnB>
                      <a:noFill/>
                    </a:lnB>
                    <a:noFill/>
                  </a:tcPr>
                </a:tc>
                <a:extLst>
                  <a:ext uri="{0D108BD9-81ED-4DB2-BD59-A6C34878D82A}">
                    <a16:rowId xmlns:a16="http://schemas.microsoft.com/office/drawing/2014/main" val="1293766513"/>
                  </a:ext>
                </a:extLst>
              </a:tr>
              <a:tr h="421787">
                <a:tc>
                  <a:txBody>
                    <a:bodyPr/>
                    <a:lstStyle/>
                    <a:p>
                      <a:pPr>
                        <a:buNone/>
                      </a:pPr>
                      <a:r>
                        <a:rPr lang="en-US" sz="2400" b="0" dirty="0">
                          <a:latin typeface="Times New Roman" panose="02020603050405020304" pitchFamily="18" charset="0"/>
                          <a:cs typeface="Times New Roman" panose="02020603050405020304" pitchFamily="18" charset="0"/>
                        </a:rPr>
                        <a:t>Population Variance</a:t>
                      </a:r>
                    </a:p>
                  </a:txBody>
                  <a:tcPr anchor="ctr">
                    <a:lnL>
                      <a:noFill/>
                    </a:lnL>
                    <a:lnR>
                      <a:noFill/>
                    </a:lnR>
                    <a:lnT>
                      <a:noFill/>
                    </a:lnT>
                    <a:lnB>
                      <a:noFill/>
                    </a:lnB>
                    <a:noFill/>
                  </a:tcPr>
                </a:tc>
                <a:tc>
                  <a:txBody>
                    <a:bodyPr/>
                    <a:lstStyle/>
                    <a:p>
                      <a:pPr>
                        <a:buNone/>
                      </a:pPr>
                      <a:r>
                        <a:rPr lang="el-GR" sz="2400" b="0">
                          <a:latin typeface="Times New Roman" panose="02020603050405020304" pitchFamily="18" charset="0"/>
                          <a:cs typeface="Times New Roman" panose="02020603050405020304" pitchFamily="18" charset="0"/>
                        </a:rPr>
                        <a:t>σ²</a:t>
                      </a:r>
                    </a:p>
                  </a:txBody>
                  <a:tcPr anchor="ctr">
                    <a:lnL>
                      <a:noFill/>
                    </a:lnL>
                    <a:lnR>
                      <a:noFill/>
                    </a:lnR>
                    <a:lnT>
                      <a:noFill/>
                    </a:lnT>
                    <a:lnB>
                      <a:noFill/>
                    </a:lnB>
                    <a:noFill/>
                  </a:tcPr>
                </a:tc>
                <a:tc>
                  <a:txBody>
                    <a:bodyPr/>
                    <a:lstStyle/>
                    <a:p>
                      <a:pPr>
                        <a:buNone/>
                      </a:pPr>
                      <a:r>
                        <a:rPr lang="en-US" sz="2400" b="0">
                          <a:latin typeface="Times New Roman" panose="02020603050405020304" pitchFamily="18" charset="0"/>
                          <a:cs typeface="Times New Roman" panose="02020603050405020304" pitchFamily="18" charset="0"/>
                        </a:rPr>
                        <a:t>Sample Variance (s²)</a:t>
                      </a:r>
                    </a:p>
                  </a:txBody>
                  <a:tcPr anchor="ctr">
                    <a:lnL>
                      <a:noFill/>
                    </a:lnL>
                    <a:lnR>
                      <a:noFill/>
                    </a:lnR>
                    <a:lnT>
                      <a:noFill/>
                    </a:lnT>
                    <a:lnB>
                      <a:noFill/>
                    </a:lnB>
                    <a:noFill/>
                  </a:tcPr>
                </a:tc>
                <a:extLst>
                  <a:ext uri="{0D108BD9-81ED-4DB2-BD59-A6C34878D82A}">
                    <a16:rowId xmlns:a16="http://schemas.microsoft.com/office/drawing/2014/main" val="2353511088"/>
                  </a:ext>
                </a:extLst>
              </a:tr>
              <a:tr h="738127">
                <a:tc>
                  <a:txBody>
                    <a:bodyPr/>
                    <a:lstStyle/>
                    <a:p>
                      <a:pPr>
                        <a:buNone/>
                      </a:pPr>
                      <a:r>
                        <a:rPr lang="en-US" sz="2400" b="0" dirty="0">
                          <a:latin typeface="Times New Roman" panose="02020603050405020304" pitchFamily="18" charset="0"/>
                          <a:cs typeface="Times New Roman" panose="02020603050405020304" pitchFamily="18" charset="0"/>
                        </a:rPr>
                        <a:t>Population Standard Deviation</a:t>
                      </a:r>
                    </a:p>
                  </a:txBody>
                  <a:tcPr anchor="ctr">
                    <a:lnL>
                      <a:noFill/>
                    </a:lnL>
                    <a:lnR>
                      <a:noFill/>
                    </a:lnR>
                    <a:lnT>
                      <a:noFill/>
                    </a:lnT>
                    <a:lnB>
                      <a:noFill/>
                    </a:lnB>
                    <a:noFill/>
                  </a:tcPr>
                </a:tc>
                <a:tc>
                  <a:txBody>
                    <a:bodyPr/>
                    <a:lstStyle/>
                    <a:p>
                      <a:pPr>
                        <a:buNone/>
                      </a:pPr>
                      <a:r>
                        <a:rPr lang="el-GR" sz="2400" b="0">
                          <a:latin typeface="Times New Roman" panose="02020603050405020304" pitchFamily="18" charset="0"/>
                          <a:cs typeface="Times New Roman" panose="02020603050405020304" pitchFamily="18" charset="0"/>
                        </a:rPr>
                        <a:t>σ</a:t>
                      </a:r>
                    </a:p>
                  </a:txBody>
                  <a:tcPr anchor="ctr">
                    <a:lnL>
                      <a:noFill/>
                    </a:lnL>
                    <a:lnR>
                      <a:noFill/>
                    </a:lnR>
                    <a:lnT>
                      <a:noFill/>
                    </a:lnT>
                    <a:lnB>
                      <a:noFill/>
                    </a:lnB>
                    <a:noFill/>
                  </a:tcPr>
                </a:tc>
                <a:tc>
                  <a:txBody>
                    <a:bodyPr/>
                    <a:lstStyle/>
                    <a:p>
                      <a:pPr>
                        <a:buNone/>
                      </a:pPr>
                      <a:r>
                        <a:rPr lang="en-US" sz="2400" b="0">
                          <a:latin typeface="Times New Roman" panose="02020603050405020304" pitchFamily="18" charset="0"/>
                          <a:cs typeface="Times New Roman" panose="02020603050405020304" pitchFamily="18" charset="0"/>
                        </a:rPr>
                        <a:t>Sample Standard Deviation (s)</a:t>
                      </a:r>
                    </a:p>
                  </a:txBody>
                  <a:tcPr anchor="ctr">
                    <a:lnL>
                      <a:noFill/>
                    </a:lnL>
                    <a:lnR>
                      <a:noFill/>
                    </a:lnR>
                    <a:lnT>
                      <a:noFill/>
                    </a:lnT>
                    <a:lnB>
                      <a:noFill/>
                    </a:lnB>
                    <a:noFill/>
                  </a:tcPr>
                </a:tc>
                <a:extLst>
                  <a:ext uri="{0D108BD9-81ED-4DB2-BD59-A6C34878D82A}">
                    <a16:rowId xmlns:a16="http://schemas.microsoft.com/office/drawing/2014/main" val="3285998076"/>
                  </a:ext>
                </a:extLst>
              </a:tr>
              <a:tr h="421787">
                <a:tc>
                  <a:txBody>
                    <a:bodyPr/>
                    <a:lstStyle/>
                    <a:p>
                      <a:pPr>
                        <a:buNone/>
                      </a:pPr>
                      <a:r>
                        <a:rPr lang="en-US" sz="2400" b="0" dirty="0">
                          <a:latin typeface="Times New Roman" panose="02020603050405020304" pitchFamily="18" charset="0"/>
                          <a:cs typeface="Times New Roman" panose="02020603050405020304" pitchFamily="18" charset="0"/>
                        </a:rPr>
                        <a:t>Population Proportion</a:t>
                      </a:r>
                    </a:p>
                  </a:txBody>
                  <a:tcPr anchor="ctr">
                    <a:lnL>
                      <a:noFill/>
                    </a:lnL>
                    <a:lnR>
                      <a:noFill/>
                    </a:lnR>
                    <a:lnT>
                      <a:noFill/>
                    </a:lnT>
                    <a:lnB>
                      <a:noFill/>
                    </a:lnB>
                    <a:noFill/>
                  </a:tcPr>
                </a:tc>
                <a:tc>
                  <a:txBody>
                    <a:bodyPr/>
                    <a:lstStyle/>
                    <a:p>
                      <a:pPr>
                        <a:buNone/>
                      </a:pPr>
                      <a:r>
                        <a:rPr lang="en-US" sz="2400" b="0" dirty="0">
                          <a:latin typeface="Times New Roman" panose="02020603050405020304" pitchFamily="18" charset="0"/>
                          <a:cs typeface="Times New Roman" panose="02020603050405020304" pitchFamily="18" charset="0"/>
                        </a:rPr>
                        <a:t>P</a:t>
                      </a:r>
                    </a:p>
                  </a:txBody>
                  <a:tcPr anchor="ctr">
                    <a:lnL>
                      <a:noFill/>
                    </a:lnL>
                    <a:lnR>
                      <a:noFill/>
                    </a:lnR>
                    <a:lnT>
                      <a:noFill/>
                    </a:lnT>
                    <a:lnB>
                      <a:noFill/>
                    </a:lnB>
                    <a:noFill/>
                  </a:tcPr>
                </a:tc>
                <a:tc>
                  <a:txBody>
                    <a:bodyPr/>
                    <a:lstStyle/>
                    <a:p>
                      <a:pPr>
                        <a:buNone/>
                      </a:pPr>
                      <a:r>
                        <a:rPr lang="en-US" sz="2400" b="0" dirty="0">
                          <a:latin typeface="Times New Roman" panose="02020603050405020304" pitchFamily="18" charset="0"/>
                          <a:cs typeface="Times New Roman" panose="02020603050405020304" pitchFamily="18" charset="0"/>
                        </a:rPr>
                        <a:t>Sample Proportion (p̂)</a:t>
                      </a:r>
                    </a:p>
                  </a:txBody>
                  <a:tcPr anchor="ctr">
                    <a:lnL>
                      <a:noFill/>
                    </a:lnL>
                    <a:lnR>
                      <a:noFill/>
                    </a:lnR>
                    <a:lnT>
                      <a:noFill/>
                    </a:lnT>
                    <a:lnB>
                      <a:noFill/>
                    </a:lnB>
                    <a:noFill/>
                  </a:tcPr>
                </a:tc>
                <a:extLst>
                  <a:ext uri="{0D108BD9-81ED-4DB2-BD59-A6C34878D82A}">
                    <a16:rowId xmlns:a16="http://schemas.microsoft.com/office/drawing/2014/main" val="3068186708"/>
                  </a:ext>
                </a:extLst>
              </a:tr>
            </a:tbl>
          </a:graphicData>
        </a:graphic>
      </p:graphicFrame>
      <p:sp>
        <p:nvSpPr>
          <p:cNvPr id="11" name="TextBox 10">
            <a:extLst>
              <a:ext uri="{FF2B5EF4-FFF2-40B4-BE49-F238E27FC236}">
                <a16:creationId xmlns:a16="http://schemas.microsoft.com/office/drawing/2014/main" id="{D9E2781C-783E-0170-6069-4ED4FDCDDA0E}"/>
              </a:ext>
            </a:extLst>
          </p:cNvPr>
          <p:cNvSpPr txBox="1"/>
          <p:nvPr/>
        </p:nvSpPr>
        <p:spPr>
          <a:xfrm>
            <a:off x="2196846" y="3413226"/>
            <a:ext cx="6094476"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Examples of Point Estimators</a:t>
            </a:r>
          </a:p>
        </p:txBody>
      </p:sp>
    </p:spTree>
    <p:extLst>
      <p:ext uri="{BB962C8B-B14F-4D97-AF65-F5344CB8AC3E}">
        <p14:creationId xmlns:p14="http://schemas.microsoft.com/office/powerpoint/2010/main" val="47450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F6BD5A-B423-E20C-E621-B9C9E0D063DB}"/>
              </a:ext>
            </a:extLst>
          </p:cNvPr>
          <p:cNvSpPr>
            <a:spLocks noGrp="1"/>
          </p:cNvSpPr>
          <p:nvPr>
            <p:ph idx="1"/>
          </p:nvPr>
        </p:nvSpPr>
        <p:spPr>
          <a:xfrm>
            <a:off x="591312" y="188848"/>
            <a:ext cx="11277600" cy="6202807"/>
          </a:xfrm>
        </p:spPr>
        <p:txBody>
          <a:bodyPr>
            <a:normAutofit/>
          </a:bodyPr>
          <a:lstStyle/>
          <a:p>
            <a:pPr marL="0" indent="0">
              <a:buNone/>
            </a:pPr>
            <a:r>
              <a:rPr lang="en-US" b="1" dirty="0"/>
              <a:t>Interval Estimation</a:t>
            </a:r>
          </a:p>
          <a:p>
            <a:r>
              <a:rPr lang="en-US" dirty="0">
                <a:latin typeface="Times New Roman" panose="02020603050405020304" pitchFamily="18" charset="0"/>
                <a:cs typeface="Times New Roman" panose="02020603050405020304" pitchFamily="18" charset="0"/>
              </a:rPr>
              <a:t>A point estimate alone is not sufficient, because it does not indicate how accurate the estimate is.</a:t>
            </a:r>
          </a:p>
          <a:p>
            <a:r>
              <a:rPr lang="en-US" dirty="0">
                <a:latin typeface="Times New Roman" panose="02020603050405020304" pitchFamily="18" charset="0"/>
                <a:cs typeface="Times New Roman" panose="02020603050405020304" pitchFamily="18" charset="0"/>
              </a:rPr>
              <a:t>Therefore, we use interval estimation, which gives a range of values within which the population parameter likely lies.</a:t>
            </a:r>
          </a:p>
          <a:p>
            <a:pPr marL="0" indent="0">
              <a:buNone/>
            </a:pPr>
            <a:r>
              <a:rPr lang="en-US" b="1" dirty="0">
                <a:highlight>
                  <a:srgbClr val="FFFF00"/>
                </a:highlight>
              </a:rPr>
              <a:t>Example:</a:t>
            </a:r>
          </a:p>
          <a:p>
            <a:pPr marL="0" indent="0">
              <a:buNone/>
            </a:pPr>
            <a:r>
              <a:rPr lang="en-US" dirty="0"/>
              <a:t>Estimated mean sodium level = 80 mg</a:t>
            </a:r>
          </a:p>
          <a:p>
            <a:pPr marL="0" indent="0">
              <a:buNone/>
            </a:pPr>
            <a:r>
              <a:rPr lang="en-US" dirty="0"/>
              <a:t>Instead of saying:</a:t>
            </a:r>
          </a:p>
          <a:p>
            <a:pPr marL="0" indent="0">
              <a:buNone/>
            </a:pPr>
            <a:r>
              <a:rPr lang="en-US" dirty="0"/>
              <a:t>μ = 80</a:t>
            </a:r>
          </a:p>
          <a:p>
            <a:pPr marL="0" indent="0">
              <a:buNone/>
            </a:pPr>
            <a:r>
              <a:rPr lang="en-US" dirty="0"/>
              <a:t>We say:</a:t>
            </a:r>
          </a:p>
          <a:p>
            <a:pPr marL="0" indent="0">
              <a:buNone/>
            </a:pPr>
            <a:r>
              <a:rPr lang="en-US" dirty="0"/>
              <a:t>μ lies between </a:t>
            </a:r>
            <a:r>
              <a:rPr lang="en-US" b="1" dirty="0">
                <a:highlight>
                  <a:srgbClr val="FFFF00"/>
                </a:highlight>
                <a:latin typeface="Times New Roman" panose="02020603050405020304" pitchFamily="18" charset="0"/>
                <a:cs typeface="Times New Roman" panose="02020603050405020304" pitchFamily="18" charset="0"/>
              </a:rPr>
              <a:t>75 and 85 mg</a:t>
            </a:r>
            <a:endParaRPr lang="en-US" dirty="0">
              <a:highlight>
                <a:srgbClr val="FFFF00"/>
              </a:highlight>
              <a:latin typeface="Times New Roman" panose="02020603050405020304" pitchFamily="18" charset="0"/>
              <a:cs typeface="Times New Roman" panose="02020603050405020304" pitchFamily="18" charset="0"/>
            </a:endParaRPr>
          </a:p>
          <a:p>
            <a:pPr marL="0" indent="0">
              <a:buNone/>
            </a:pPr>
            <a:r>
              <a:rPr lang="en-US" dirty="0"/>
              <a:t>This range is called a </a:t>
            </a:r>
            <a:r>
              <a:rPr lang="en-US" b="1" dirty="0">
                <a:highlight>
                  <a:srgbClr val="FFFF00"/>
                </a:highlight>
              </a:rPr>
              <a:t>confidence interval</a:t>
            </a:r>
            <a:r>
              <a:rPr lang="en-US" dirty="0">
                <a:highlight>
                  <a:srgbClr val="FFFF00"/>
                </a:highlight>
              </a:rPr>
              <a:t>.</a:t>
            </a:r>
          </a:p>
          <a:p>
            <a:pPr marL="0" indent="0">
              <a:buNone/>
            </a:pPr>
            <a:endParaRPr lang="en-US" dirty="0"/>
          </a:p>
        </p:txBody>
      </p:sp>
    </p:spTree>
    <p:extLst>
      <p:ext uri="{BB962C8B-B14F-4D97-AF65-F5344CB8AC3E}">
        <p14:creationId xmlns:p14="http://schemas.microsoft.com/office/powerpoint/2010/main" val="1833749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38BF25-3FBE-090A-A34C-85C3565F82D6}"/>
                  </a:ext>
                </a:extLst>
              </p:cNvPr>
              <p:cNvSpPr>
                <a:spLocks noGrp="1"/>
              </p:cNvSpPr>
              <p:nvPr>
                <p:ph idx="1"/>
              </p:nvPr>
            </p:nvSpPr>
            <p:spPr>
              <a:xfrm>
                <a:off x="673608" y="234569"/>
                <a:ext cx="10994136" cy="4351338"/>
              </a:xfrm>
            </p:spPr>
            <p:txBody>
              <a:bodyPr/>
              <a:lstStyle/>
              <a:p>
                <a:pPr marL="0" indent="0">
                  <a:buNone/>
                </a:pPr>
                <a:r>
                  <a:rPr lang="en-US" b="1" dirty="0">
                    <a:highlight>
                      <a:srgbClr val="FFFF00"/>
                    </a:highlight>
                    <a:latin typeface="Times New Roman" panose="02020603050405020304" pitchFamily="18" charset="0"/>
                    <a:cs typeface="Times New Roman" panose="02020603050405020304" pitchFamily="18" charset="0"/>
                  </a:rPr>
                  <a:t>Definition: Confidence Interval</a:t>
                </a:r>
              </a:p>
              <a:p>
                <a:pPr marL="0" indent="0">
                  <a:buNone/>
                </a:pPr>
                <a:r>
                  <a:rPr lang="en-US" dirty="0"/>
                  <a:t>A </a:t>
                </a:r>
                <a:r>
                  <a:rPr lang="en-US" u="sng" dirty="0"/>
                  <a:t>confidence interval (CI) </a:t>
                </a:r>
                <a:r>
                  <a:rPr lang="en-US" dirty="0"/>
                  <a:t>is a range of values constructed from sample data that likely contains the population parameter.</a:t>
                </a:r>
              </a:p>
              <a:p>
                <a:pPr marL="0" indent="0">
                  <a:buNone/>
                </a:pPr>
                <a:r>
                  <a:rPr lang="en-US" dirty="0"/>
                  <a:t>Confidence interval has two components:</a:t>
                </a:r>
              </a:p>
              <a:p>
                <a:r>
                  <a:rPr lang="en-US" dirty="0"/>
                  <a:t>Estimate (sample statistic)</a:t>
                </a:r>
              </a:p>
              <a:p>
                <a:r>
                  <a:rPr lang="en-US" dirty="0"/>
                  <a:t>Margin of error</a:t>
                </a:r>
              </a:p>
              <a:p>
                <a:pPr marL="0" indent="0">
                  <a:buNone/>
                </a:pPr>
                <a:r>
                  <a:rPr lang="en-US" dirty="0"/>
                  <a:t>General form:</a:t>
                </a:r>
                <a:endParaRPr lang="en-US" dirty="0">
                  <a:highlight>
                    <a:srgbClr val="FFFF00"/>
                  </a:highlight>
                </a:endParaRPr>
              </a:p>
              <a:p>
                <a:pPr marL="0" indent="0">
                  <a:buNone/>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𝑪𝑰</m:t>
                      </m:r>
                      <m:r>
                        <a:rPr lang="en-US" b="1">
                          <a:latin typeface="Cambria Math" panose="02040503050406030204" pitchFamily="18" charset="0"/>
                        </a:rPr>
                        <m:t>=</m:t>
                      </m:r>
                      <m:r>
                        <a:rPr lang="en-US" b="1" i="1">
                          <a:latin typeface="Cambria Math" panose="02040503050406030204" pitchFamily="18" charset="0"/>
                        </a:rPr>
                        <m:t>𝑬𝒔𝒕𝒊𝒎𝒂𝒕𝒆</m:t>
                      </m:r>
                      <m:r>
                        <a:rPr lang="en-US" b="1">
                          <a:latin typeface="Cambria Math" panose="02040503050406030204" pitchFamily="18" charset="0"/>
                        </a:rPr>
                        <m:t>±</m:t>
                      </m:r>
                      <m:r>
                        <a:rPr lang="en-US" b="1" i="1">
                          <a:latin typeface="Cambria Math" panose="02040503050406030204" pitchFamily="18" charset="0"/>
                        </a:rPr>
                        <m:t>𝑴𝒂𝒓𝒈𝒊𝒏</m:t>
                      </m:r>
                      <m:r>
                        <m:rPr>
                          <m:nor/>
                        </m:rPr>
                        <a:rPr lang="en-US" b="1" i="1">
                          <a:latin typeface="Times New Roman" panose="02020603050405020304" pitchFamily="18" charset="0"/>
                          <a:cs typeface="Times New Roman" panose="02020603050405020304" pitchFamily="18" charset="0"/>
                        </a:rPr>
                        <m:t> </m:t>
                      </m:r>
                      <m:r>
                        <a:rPr lang="en-US" b="1" i="1">
                          <a:latin typeface="Cambria Math" panose="02040503050406030204" pitchFamily="18" charset="0"/>
                        </a:rPr>
                        <m:t>𝒐𝒇</m:t>
                      </m:r>
                      <m:r>
                        <m:rPr>
                          <m:nor/>
                        </m:rPr>
                        <a:rPr lang="en-US" b="1" i="1">
                          <a:latin typeface="Times New Roman" panose="02020603050405020304" pitchFamily="18" charset="0"/>
                          <a:cs typeface="Times New Roman" panose="02020603050405020304" pitchFamily="18" charset="0"/>
                        </a:rPr>
                        <m:t> </m:t>
                      </m:r>
                      <m:r>
                        <a:rPr lang="en-US" b="1" i="1">
                          <a:latin typeface="Cambria Math" panose="02040503050406030204" pitchFamily="18" charset="0"/>
                        </a:rPr>
                        <m:t>𝑬𝒓𝒓𝒐𝒓</m:t>
                      </m:r>
                    </m:oMath>
                  </m:oMathPara>
                </a14:m>
                <a:endParaRPr lang="en-US" b="1" dirty="0">
                  <a:latin typeface="Times New Roman" panose="02020603050405020304" pitchFamily="18" charset="0"/>
                  <a:cs typeface="Times New Roman" panose="02020603050405020304" pitchFamily="18" charset="0"/>
                </a:endParaRPr>
              </a:p>
              <a:p>
                <a:pPr marL="0" indent="0">
                  <a:buNone/>
                </a:pPr>
                <a:endParaRPr lang="en-US" dirty="0"/>
              </a:p>
            </p:txBody>
          </p:sp>
        </mc:Choice>
        <mc:Fallback xmlns="">
          <p:sp>
            <p:nvSpPr>
              <p:cNvPr id="3" name="Content Placeholder 2">
                <a:extLst>
                  <a:ext uri="{FF2B5EF4-FFF2-40B4-BE49-F238E27FC236}">
                    <a16:creationId xmlns:a16="http://schemas.microsoft.com/office/drawing/2014/main" id="{4A38BF25-3FBE-090A-A34C-85C3565F82D6}"/>
                  </a:ext>
                </a:extLst>
              </p:cNvPr>
              <p:cNvSpPr>
                <a:spLocks noGrp="1" noRot="1" noChangeAspect="1" noMove="1" noResize="1" noEditPoints="1" noAdjustHandles="1" noChangeArrowheads="1" noChangeShapeType="1" noTextEdit="1"/>
              </p:cNvSpPr>
              <p:nvPr>
                <p:ph idx="1"/>
              </p:nvPr>
            </p:nvSpPr>
            <p:spPr>
              <a:xfrm>
                <a:off x="673608" y="234569"/>
                <a:ext cx="10994136" cy="4351338"/>
              </a:xfrm>
              <a:blipFill>
                <a:blip r:embed="rId2"/>
                <a:stretch>
                  <a:fillRect l="-1165" t="-2381" r="-1387"/>
                </a:stretch>
              </a:blipFill>
            </p:spPr>
            <p:txBody>
              <a:bodyPr/>
              <a:lstStyle/>
              <a:p>
                <a:r>
                  <a:rPr lang="en-US">
                    <a:noFill/>
                  </a:rPr>
                  <a:t> </a:t>
                </a:r>
              </a:p>
            </p:txBody>
          </p:sp>
        </mc:Fallback>
      </mc:AlternateContent>
    </p:spTree>
    <p:extLst>
      <p:ext uri="{BB962C8B-B14F-4D97-AF65-F5344CB8AC3E}">
        <p14:creationId xmlns:p14="http://schemas.microsoft.com/office/powerpoint/2010/main" val="33039377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5EE1DB-54DA-90E1-692A-D9E6201896B7}"/>
              </a:ext>
            </a:extLst>
          </p:cNvPr>
          <p:cNvSpPr>
            <a:spLocks noGrp="1"/>
          </p:cNvSpPr>
          <p:nvPr>
            <p:ph idx="1"/>
          </p:nvPr>
        </p:nvSpPr>
        <p:spPr>
          <a:xfrm>
            <a:off x="554736" y="252857"/>
            <a:ext cx="10515600" cy="1959991"/>
          </a:xfrm>
        </p:spPr>
        <p:txBody>
          <a:bodyPr/>
          <a:lstStyle/>
          <a:p>
            <a:pPr marL="0" indent="0">
              <a:buNone/>
            </a:pPr>
            <a:r>
              <a:rPr lang="en-US" b="1" dirty="0">
                <a:latin typeface="Times New Roman" panose="02020603050405020304" pitchFamily="18" charset="0"/>
                <a:cs typeface="Times New Roman" panose="02020603050405020304" pitchFamily="18" charset="0"/>
              </a:rPr>
              <a:t>Confidence Level</a:t>
            </a:r>
          </a:p>
          <a:p>
            <a:r>
              <a:rPr lang="en-US" dirty="0"/>
              <a:t>Confidence level indicates how certain we are that the interval contains the true parameter.</a:t>
            </a:r>
          </a:p>
          <a:p>
            <a:r>
              <a:rPr lang="en-US" dirty="0"/>
              <a:t>Common confidence levels:</a:t>
            </a:r>
          </a:p>
          <a:p>
            <a:pPr marL="0" indent="0">
              <a:buNone/>
            </a:pPr>
            <a:endParaRPr lang="en-US" dirty="0"/>
          </a:p>
        </p:txBody>
      </p:sp>
      <p:graphicFrame>
        <p:nvGraphicFramePr>
          <p:cNvPr id="170" name="Table 169">
            <a:extLst>
              <a:ext uri="{FF2B5EF4-FFF2-40B4-BE49-F238E27FC236}">
                <a16:creationId xmlns:a16="http://schemas.microsoft.com/office/drawing/2014/main" id="{29AE6767-E605-83AE-7D16-1C2522AE5E83}"/>
              </a:ext>
            </a:extLst>
          </p:cNvPr>
          <p:cNvGraphicFramePr>
            <a:graphicFrameLocks noGrp="1"/>
          </p:cNvGraphicFramePr>
          <p:nvPr>
            <p:extLst>
              <p:ext uri="{D42A27DB-BD31-4B8C-83A1-F6EECF244321}">
                <p14:modId xmlns:p14="http://schemas.microsoft.com/office/powerpoint/2010/main" val="224508635"/>
              </p:ext>
            </p:extLst>
          </p:nvPr>
        </p:nvGraphicFramePr>
        <p:xfrm>
          <a:off x="3767328" y="2212848"/>
          <a:ext cx="3657600" cy="2331719"/>
        </p:xfrm>
        <a:graphic>
          <a:graphicData uri="http://schemas.openxmlformats.org/drawingml/2006/table">
            <a:tbl>
              <a:tblPr/>
              <a:tblGrid>
                <a:gridCol w="1828800">
                  <a:extLst>
                    <a:ext uri="{9D8B030D-6E8A-4147-A177-3AD203B41FA5}">
                      <a16:colId xmlns:a16="http://schemas.microsoft.com/office/drawing/2014/main" val="3669167603"/>
                    </a:ext>
                  </a:extLst>
                </a:gridCol>
                <a:gridCol w="1828800">
                  <a:extLst>
                    <a:ext uri="{9D8B030D-6E8A-4147-A177-3AD203B41FA5}">
                      <a16:colId xmlns:a16="http://schemas.microsoft.com/office/drawing/2014/main" val="3994371918"/>
                    </a:ext>
                  </a:extLst>
                </a:gridCol>
              </a:tblGrid>
              <a:tr h="859055">
                <a:tc>
                  <a:txBody>
                    <a:bodyPr/>
                    <a:lstStyle/>
                    <a:p>
                      <a:pPr>
                        <a:buNone/>
                      </a:pPr>
                      <a:r>
                        <a:rPr lang="en-US" b="1"/>
                        <a:t>Confidence Level</a:t>
                      </a:r>
                    </a:p>
                  </a:txBody>
                  <a:tcPr anchor="ctr">
                    <a:lnL>
                      <a:noFill/>
                    </a:lnL>
                    <a:lnR>
                      <a:noFill/>
                    </a:lnR>
                    <a:lnT>
                      <a:noFill/>
                    </a:lnT>
                    <a:lnB>
                      <a:noFill/>
                    </a:lnB>
                    <a:noFill/>
                  </a:tcPr>
                </a:tc>
                <a:tc>
                  <a:txBody>
                    <a:bodyPr/>
                    <a:lstStyle/>
                    <a:p>
                      <a:pPr>
                        <a:buNone/>
                      </a:pPr>
                      <a:r>
                        <a:rPr lang="en-US" b="1" dirty="0"/>
                        <a:t>Z value</a:t>
                      </a:r>
                    </a:p>
                  </a:txBody>
                  <a:tcPr anchor="ctr">
                    <a:lnL>
                      <a:noFill/>
                    </a:lnL>
                    <a:lnR>
                      <a:noFill/>
                    </a:lnR>
                    <a:lnT>
                      <a:noFill/>
                    </a:lnT>
                    <a:lnB>
                      <a:noFill/>
                    </a:lnB>
                    <a:noFill/>
                  </a:tcPr>
                </a:tc>
                <a:extLst>
                  <a:ext uri="{0D108BD9-81ED-4DB2-BD59-A6C34878D82A}">
                    <a16:rowId xmlns:a16="http://schemas.microsoft.com/office/drawing/2014/main" val="1866332989"/>
                  </a:ext>
                </a:extLst>
              </a:tr>
              <a:tr h="490888">
                <a:tc>
                  <a:txBody>
                    <a:bodyPr/>
                    <a:lstStyle/>
                    <a:p>
                      <a:pPr>
                        <a:buNone/>
                      </a:pPr>
                      <a:r>
                        <a:rPr lang="en-US"/>
                        <a:t>90%</a:t>
                      </a:r>
                    </a:p>
                  </a:txBody>
                  <a:tcPr anchor="ctr">
                    <a:lnL>
                      <a:noFill/>
                    </a:lnL>
                    <a:lnR>
                      <a:noFill/>
                    </a:lnR>
                    <a:lnT>
                      <a:noFill/>
                    </a:lnT>
                    <a:lnB>
                      <a:noFill/>
                    </a:lnB>
                    <a:noFill/>
                  </a:tcPr>
                </a:tc>
                <a:tc>
                  <a:txBody>
                    <a:bodyPr/>
                    <a:lstStyle/>
                    <a:p>
                      <a:pPr>
                        <a:buNone/>
                      </a:pPr>
                      <a:r>
                        <a:rPr lang="en-US" dirty="0"/>
                        <a:t>1.645</a:t>
                      </a:r>
                    </a:p>
                  </a:txBody>
                  <a:tcPr anchor="ctr">
                    <a:lnL>
                      <a:noFill/>
                    </a:lnL>
                    <a:lnR>
                      <a:noFill/>
                    </a:lnR>
                    <a:lnT>
                      <a:noFill/>
                    </a:lnT>
                    <a:lnB>
                      <a:noFill/>
                    </a:lnB>
                    <a:noFill/>
                  </a:tcPr>
                </a:tc>
                <a:extLst>
                  <a:ext uri="{0D108BD9-81ED-4DB2-BD59-A6C34878D82A}">
                    <a16:rowId xmlns:a16="http://schemas.microsoft.com/office/drawing/2014/main" val="236869899"/>
                  </a:ext>
                </a:extLst>
              </a:tr>
              <a:tr h="490888">
                <a:tc>
                  <a:txBody>
                    <a:bodyPr/>
                    <a:lstStyle/>
                    <a:p>
                      <a:pPr>
                        <a:buNone/>
                      </a:pPr>
                      <a:r>
                        <a:rPr lang="en-US"/>
                        <a:t>95%</a:t>
                      </a:r>
                    </a:p>
                  </a:txBody>
                  <a:tcPr anchor="ctr">
                    <a:lnL>
                      <a:noFill/>
                    </a:lnL>
                    <a:lnR>
                      <a:noFill/>
                    </a:lnR>
                    <a:lnT>
                      <a:noFill/>
                    </a:lnT>
                    <a:lnB>
                      <a:noFill/>
                    </a:lnB>
                    <a:noFill/>
                  </a:tcPr>
                </a:tc>
                <a:tc>
                  <a:txBody>
                    <a:bodyPr/>
                    <a:lstStyle/>
                    <a:p>
                      <a:pPr>
                        <a:buNone/>
                      </a:pPr>
                      <a:r>
                        <a:rPr lang="en-US" dirty="0"/>
                        <a:t>1.96</a:t>
                      </a:r>
                    </a:p>
                  </a:txBody>
                  <a:tcPr anchor="ctr">
                    <a:lnL>
                      <a:noFill/>
                    </a:lnL>
                    <a:lnR>
                      <a:noFill/>
                    </a:lnR>
                    <a:lnT>
                      <a:noFill/>
                    </a:lnT>
                    <a:lnB>
                      <a:noFill/>
                    </a:lnB>
                    <a:noFill/>
                  </a:tcPr>
                </a:tc>
                <a:extLst>
                  <a:ext uri="{0D108BD9-81ED-4DB2-BD59-A6C34878D82A}">
                    <a16:rowId xmlns:a16="http://schemas.microsoft.com/office/drawing/2014/main" val="2092778309"/>
                  </a:ext>
                </a:extLst>
              </a:tr>
              <a:tr h="490888">
                <a:tc>
                  <a:txBody>
                    <a:bodyPr/>
                    <a:lstStyle/>
                    <a:p>
                      <a:pPr>
                        <a:buNone/>
                      </a:pPr>
                      <a:r>
                        <a:rPr lang="en-US"/>
                        <a:t>99%</a:t>
                      </a:r>
                    </a:p>
                  </a:txBody>
                  <a:tcPr anchor="ctr">
                    <a:lnL>
                      <a:noFill/>
                    </a:lnL>
                    <a:lnR>
                      <a:noFill/>
                    </a:lnR>
                    <a:lnT>
                      <a:noFill/>
                    </a:lnT>
                    <a:lnB>
                      <a:noFill/>
                    </a:lnB>
                    <a:noFill/>
                  </a:tcPr>
                </a:tc>
                <a:tc>
                  <a:txBody>
                    <a:bodyPr/>
                    <a:lstStyle/>
                    <a:p>
                      <a:pPr>
                        <a:buNone/>
                      </a:pPr>
                      <a:r>
                        <a:rPr lang="en-US" dirty="0"/>
                        <a:t>2.576</a:t>
                      </a:r>
                    </a:p>
                  </a:txBody>
                  <a:tcPr anchor="ctr">
                    <a:lnL>
                      <a:noFill/>
                    </a:lnL>
                    <a:lnR>
                      <a:noFill/>
                    </a:lnR>
                    <a:lnT>
                      <a:noFill/>
                    </a:lnT>
                    <a:lnB>
                      <a:noFill/>
                    </a:lnB>
                    <a:noFill/>
                  </a:tcPr>
                </a:tc>
                <a:extLst>
                  <a:ext uri="{0D108BD9-81ED-4DB2-BD59-A6C34878D82A}">
                    <a16:rowId xmlns:a16="http://schemas.microsoft.com/office/drawing/2014/main" val="1917291255"/>
                  </a:ext>
                </a:extLst>
              </a:tr>
            </a:tbl>
          </a:graphicData>
        </a:graphic>
      </p:graphicFrame>
      <p:sp>
        <p:nvSpPr>
          <p:cNvPr id="172" name="TextBox 171">
            <a:extLst>
              <a:ext uri="{FF2B5EF4-FFF2-40B4-BE49-F238E27FC236}">
                <a16:creationId xmlns:a16="http://schemas.microsoft.com/office/drawing/2014/main" id="{E93E364D-1E10-DF9E-82F1-5476A86EBFF1}"/>
              </a:ext>
            </a:extLst>
          </p:cNvPr>
          <p:cNvSpPr txBox="1"/>
          <p:nvPr/>
        </p:nvSpPr>
        <p:spPr>
          <a:xfrm>
            <a:off x="1172718" y="5033879"/>
            <a:ext cx="10687050" cy="923330"/>
          </a:xfrm>
          <a:prstGeom prst="rect">
            <a:avLst/>
          </a:prstGeom>
          <a:noFill/>
        </p:spPr>
        <p:txBody>
          <a:bodyPr wrap="square">
            <a:spAutoFit/>
          </a:bodyPr>
          <a:lstStyle/>
          <a:p>
            <a:pPr>
              <a:buNone/>
            </a:pPr>
            <a:r>
              <a:rPr lang="en-US" dirty="0"/>
              <a:t>A 95% confidence level means:</a:t>
            </a:r>
          </a:p>
          <a:p>
            <a:pPr>
              <a:buNone/>
            </a:pPr>
            <a:r>
              <a:rPr lang="en-US" dirty="0"/>
              <a:t>If we repeatedly draw samples and construct intervals, 95% of them will contain the true population parameter.</a:t>
            </a:r>
          </a:p>
        </p:txBody>
      </p:sp>
    </p:spTree>
    <p:extLst>
      <p:ext uri="{BB962C8B-B14F-4D97-AF65-F5344CB8AC3E}">
        <p14:creationId xmlns:p14="http://schemas.microsoft.com/office/powerpoint/2010/main" val="22499400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E2C3212-4D9D-FA8F-8865-BB81A5BF68A5}"/>
                  </a:ext>
                </a:extLst>
              </p:cNvPr>
              <p:cNvSpPr>
                <a:spLocks noGrp="1"/>
              </p:cNvSpPr>
              <p:nvPr>
                <p:ph idx="1"/>
              </p:nvPr>
            </p:nvSpPr>
            <p:spPr>
              <a:xfrm>
                <a:off x="682752" y="417449"/>
                <a:ext cx="10515600" cy="4063112"/>
              </a:xfrm>
            </p:spPr>
            <p:txBody>
              <a:bodyPr/>
              <a:lstStyle/>
              <a:p>
                <a:r>
                  <a:rPr lang="en-US" b="1" dirty="0"/>
                  <a:t>Confidence Interval for Population Mean</a:t>
                </a:r>
              </a:p>
              <a:p>
                <a:pPr marL="0" indent="0">
                  <a:buNone/>
                </a:pPr>
                <a:r>
                  <a:rPr lang="en-US" dirty="0"/>
                  <a:t>For large samples:</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𝐶𝐼</m:t>
                      </m:r>
                      <m:r>
                        <a:rPr lang="en-US">
                          <a:latin typeface="Cambria Math" panose="02040503050406030204" pitchFamily="18" charset="0"/>
                        </a:rPr>
                        <m:t>=</m:t>
                      </m:r>
                      <m:limUpp>
                        <m:limUppPr>
                          <m:ctrlPr>
                            <a:rPr lang="ar-AE" i="1" smtClean="0">
                              <a:latin typeface="Cambria Math" panose="02040503050406030204" pitchFamily="18" charset="0"/>
                            </a:rPr>
                          </m:ctrlPr>
                        </m:limUppPr>
                        <m:e>
                          <m:r>
                            <a:rPr lang="ar-AE" i="1">
                              <a:latin typeface="Cambria Math" panose="02040503050406030204" pitchFamily="18" charset="0"/>
                            </a:rPr>
                            <m:t>𝑥</m:t>
                          </m:r>
                        </m:e>
                        <m:lim>
                          <m:r>
                            <a:rPr lang="ar-AE">
                              <a:latin typeface="Cambria Math" panose="02040503050406030204" pitchFamily="18" charset="0"/>
                            </a:rPr>
                            <m:t>ˉ</m:t>
                          </m:r>
                        </m:lim>
                      </m:limUpp>
                      <m:r>
                        <a:rPr lang="ar-AE">
                          <a:latin typeface="Cambria Math" panose="02040503050406030204" pitchFamily="18" charset="0"/>
                        </a:rPr>
                        <m:t>±</m:t>
                      </m:r>
                      <m:r>
                        <a:rPr lang="ar-AE" i="1">
                          <a:latin typeface="Cambria Math" panose="02040503050406030204" pitchFamily="18" charset="0"/>
                        </a:rPr>
                        <m:t>𝑍</m:t>
                      </m:r>
                      <m:f>
                        <m:fPr>
                          <m:ctrlPr>
                            <a:rPr lang="ar-AE" i="1">
                              <a:latin typeface="Cambria Math" panose="02040503050406030204" pitchFamily="18" charset="0"/>
                            </a:rPr>
                          </m:ctrlPr>
                        </m:fPr>
                        <m:num>
                          <m:r>
                            <a:rPr lang="ar-AE" i="1">
                              <a:latin typeface="Cambria Math" panose="02040503050406030204" pitchFamily="18" charset="0"/>
                            </a:rPr>
                            <m:t>𝜎</m:t>
                          </m:r>
                        </m:num>
                        <m:den>
                          <m:rad>
                            <m:radPr>
                              <m:degHide m:val="on"/>
                              <m:ctrlPr>
                                <a:rPr lang="ar-AE" i="1">
                                  <a:latin typeface="Cambria Math" panose="02040503050406030204" pitchFamily="18" charset="0"/>
                                </a:rPr>
                              </m:ctrlPr>
                            </m:radPr>
                            <m:deg/>
                            <m:e>
                              <m:r>
                                <a:rPr lang="ar-AE" i="1">
                                  <a:latin typeface="Cambria Math" panose="02040503050406030204" pitchFamily="18" charset="0"/>
                                </a:rPr>
                                <m:t>𝑛</m:t>
                              </m:r>
                            </m:e>
                          </m:rad>
                        </m:den>
                      </m:f>
                    </m:oMath>
                  </m:oMathPara>
                </a14:m>
                <a:endParaRPr lang="ar-AE" dirty="0"/>
              </a:p>
              <a:p>
                <a:pPr marL="0" indent="0">
                  <a:buNone/>
                </a:pPr>
                <a:r>
                  <a:rPr lang="en-US" dirty="0"/>
                  <a:t>Where:</a:t>
                </a:r>
              </a:p>
              <a:p>
                <a:pPr marL="0" indent="0">
                  <a:buNone/>
                </a:pPr>
                <a:r>
                  <a:rPr lang="en-US" dirty="0"/>
                  <a:t>x̄ = sample mean</a:t>
                </a:r>
                <a:br>
                  <a:rPr lang="en-US" dirty="0"/>
                </a:br>
                <a:r>
                  <a:rPr lang="el-GR" dirty="0"/>
                  <a:t>σ = </a:t>
                </a:r>
                <a:r>
                  <a:rPr lang="en-US" dirty="0"/>
                  <a:t>population standard deviation</a:t>
                </a:r>
                <a:br>
                  <a:rPr lang="en-US" dirty="0"/>
                </a:br>
                <a:r>
                  <a:rPr lang="en-US" dirty="0"/>
                  <a:t>n = sample size</a:t>
                </a:r>
                <a:br>
                  <a:rPr lang="en-US" dirty="0"/>
                </a:br>
                <a:r>
                  <a:rPr lang="en-US" dirty="0"/>
                  <a:t>Z = Z score</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3E2C3212-4D9D-FA8F-8865-BB81A5BF68A5}"/>
                  </a:ext>
                </a:extLst>
              </p:cNvPr>
              <p:cNvSpPr>
                <a:spLocks noGrp="1" noRot="1" noChangeAspect="1" noMove="1" noResize="1" noEditPoints="1" noAdjustHandles="1" noChangeArrowheads="1" noChangeShapeType="1" noTextEdit="1"/>
              </p:cNvSpPr>
              <p:nvPr>
                <p:ph idx="1"/>
              </p:nvPr>
            </p:nvSpPr>
            <p:spPr>
              <a:xfrm>
                <a:off x="682752" y="417449"/>
                <a:ext cx="10515600" cy="4063112"/>
              </a:xfrm>
              <a:blipFill>
                <a:blip r:embed="rId2"/>
                <a:stretch>
                  <a:fillRect l="-1159" t="-2549"/>
                </a:stretch>
              </a:blipFill>
            </p:spPr>
            <p:txBody>
              <a:bodyPr/>
              <a:lstStyle/>
              <a:p>
                <a:r>
                  <a:rPr lang="en-US">
                    <a:noFill/>
                  </a:rPr>
                  <a:t> </a:t>
                </a:r>
              </a:p>
            </p:txBody>
          </p:sp>
        </mc:Fallback>
      </mc:AlternateContent>
    </p:spTree>
    <p:extLst>
      <p:ext uri="{BB962C8B-B14F-4D97-AF65-F5344CB8AC3E}">
        <p14:creationId xmlns:p14="http://schemas.microsoft.com/office/powerpoint/2010/main" val="4344502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F448FC6-F353-61B8-B82C-70A0B5AC9024}"/>
                  </a:ext>
                </a:extLst>
              </p:cNvPr>
              <p:cNvSpPr>
                <a:spLocks noGrp="1"/>
              </p:cNvSpPr>
              <p:nvPr>
                <p:ph idx="1"/>
              </p:nvPr>
            </p:nvSpPr>
            <p:spPr>
              <a:xfrm>
                <a:off x="454152" y="143128"/>
                <a:ext cx="10515600" cy="6138800"/>
              </a:xfrm>
            </p:spPr>
            <p:txBody>
              <a:bodyPr>
                <a:normAutofit lnSpcReduction="10000"/>
              </a:bodyPr>
              <a:lstStyle/>
              <a:p>
                <a:pPr marL="0" indent="0">
                  <a:buNone/>
                </a:pPr>
                <a:r>
                  <a:rPr lang="en-US" b="1" dirty="0"/>
                  <a:t>Example</a:t>
                </a:r>
              </a:p>
              <a:p>
                <a:r>
                  <a:rPr lang="en-US" dirty="0"/>
                  <a:t>Suppose:</a:t>
                </a:r>
              </a:p>
              <a:p>
                <a:r>
                  <a:rPr lang="en-US" dirty="0"/>
                  <a:t>Sample mean = 50</a:t>
                </a:r>
                <a:br>
                  <a:rPr lang="en-US" dirty="0"/>
                </a:br>
                <a:r>
                  <a:rPr lang="en-US" dirty="0"/>
                  <a:t>Population standard deviation = 10</a:t>
                </a:r>
                <a:br>
                  <a:rPr lang="en-US" dirty="0"/>
                </a:br>
                <a:r>
                  <a:rPr lang="en-US" dirty="0"/>
                  <a:t>Sample size = 100</a:t>
                </a:r>
                <a:br>
                  <a:rPr lang="en-US" dirty="0"/>
                </a:br>
                <a:r>
                  <a:rPr lang="en-US" dirty="0">
                    <a:highlight>
                      <a:srgbClr val="00FF00"/>
                    </a:highlight>
                  </a:rPr>
                  <a:t>Confidence level = 95%</a:t>
                </a:r>
              </a:p>
              <a:p>
                <a:pPr marL="0" indent="0">
                  <a:buNone/>
                </a:pPr>
                <a:r>
                  <a:rPr lang="en-US" dirty="0"/>
                  <a:t>Z = 1.96</a:t>
                </a:r>
              </a:p>
              <a:p>
                <a:pPr marL="0" indent="0">
                  <a:buNone/>
                </a:pPr>
                <a14:m>
                  <m:oMathPara xmlns:m="http://schemas.openxmlformats.org/officeDocument/2006/math">
                    <m:oMathParaPr>
                      <m:jc m:val="centerGroup"/>
                    </m:oMathParaPr>
                    <m:oMath xmlns:m="http://schemas.openxmlformats.org/officeDocument/2006/math">
                      <m:f>
                        <m:fPr>
                          <m:ctrlPr>
                            <a:rPr lang="ar-AE" i="1">
                              <a:latin typeface="Cambria Math" panose="02040503050406030204" pitchFamily="18" charset="0"/>
                            </a:rPr>
                          </m:ctrlPr>
                        </m:fPr>
                        <m:num>
                          <m:r>
                            <a:rPr lang="ar-AE" i="1">
                              <a:latin typeface="Cambria Math" panose="02040503050406030204" pitchFamily="18" charset="0"/>
                            </a:rPr>
                            <m:t>𝜎</m:t>
                          </m:r>
                        </m:num>
                        <m:den>
                          <m:rad>
                            <m:radPr>
                              <m:degHide m:val="on"/>
                              <m:ctrlPr>
                                <a:rPr lang="ar-AE" i="1">
                                  <a:latin typeface="Cambria Math" panose="02040503050406030204" pitchFamily="18" charset="0"/>
                                </a:rPr>
                              </m:ctrlPr>
                            </m:radPr>
                            <m:deg/>
                            <m:e>
                              <m:r>
                                <a:rPr lang="ar-AE" i="1">
                                  <a:latin typeface="Cambria Math" panose="02040503050406030204" pitchFamily="18" charset="0"/>
                                </a:rPr>
                                <m:t>𝑛</m:t>
                              </m:r>
                            </m:e>
                          </m:rad>
                        </m:den>
                      </m:f>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10</m:t>
                          </m:r>
                        </m:num>
                        <m:den>
                          <m:r>
                            <a:rPr lang="ar-AE">
                              <a:latin typeface="Cambria Math" panose="02040503050406030204" pitchFamily="18" charset="0"/>
                            </a:rPr>
                            <m:t>10</m:t>
                          </m:r>
                        </m:den>
                      </m:f>
                      <m:r>
                        <a:rPr lang="ar-AE">
                          <a:latin typeface="Cambria Math" panose="02040503050406030204" pitchFamily="18" charset="0"/>
                        </a:rPr>
                        <m:t>=</m:t>
                      </m:r>
                      <m:r>
                        <a:rPr lang="ar-AE">
                          <a:latin typeface="Cambria Math" panose="02040503050406030204" pitchFamily="18" charset="0"/>
                        </a:rPr>
                        <m:t>1</m:t>
                      </m:r>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𝐶𝐼</m:t>
                      </m:r>
                      <m:r>
                        <a:rPr lang="en-US">
                          <a:latin typeface="Cambria Math" panose="02040503050406030204" pitchFamily="18" charset="0"/>
                        </a:rPr>
                        <m:t>=</m:t>
                      </m:r>
                      <m:limUpp>
                        <m:limUppPr>
                          <m:ctrlPr>
                            <a:rPr lang="ar-AE" i="1">
                              <a:latin typeface="Cambria Math" panose="02040503050406030204" pitchFamily="18" charset="0"/>
                            </a:rPr>
                          </m:ctrlPr>
                        </m:limUppPr>
                        <m:e>
                          <m:r>
                            <a:rPr lang="ar-AE" i="1">
                              <a:latin typeface="Cambria Math" panose="02040503050406030204" pitchFamily="18" charset="0"/>
                            </a:rPr>
                            <m:t>𝑥</m:t>
                          </m:r>
                        </m:e>
                        <m:lim>
                          <m:r>
                            <a:rPr lang="ar-AE">
                              <a:latin typeface="Cambria Math" panose="02040503050406030204" pitchFamily="18" charset="0"/>
                            </a:rPr>
                            <m:t>ˉ</m:t>
                          </m:r>
                        </m:lim>
                      </m:limUpp>
                      <m:r>
                        <a:rPr lang="ar-AE">
                          <a:latin typeface="Cambria Math" panose="02040503050406030204" pitchFamily="18" charset="0"/>
                        </a:rPr>
                        <m:t>±</m:t>
                      </m:r>
                      <m:r>
                        <a:rPr lang="ar-AE" i="1">
                          <a:latin typeface="Cambria Math" panose="02040503050406030204" pitchFamily="18" charset="0"/>
                        </a:rPr>
                        <m:t>𝑍</m:t>
                      </m:r>
                      <m:f>
                        <m:fPr>
                          <m:ctrlPr>
                            <a:rPr lang="ar-AE" i="1">
                              <a:latin typeface="Cambria Math" panose="02040503050406030204" pitchFamily="18" charset="0"/>
                            </a:rPr>
                          </m:ctrlPr>
                        </m:fPr>
                        <m:num>
                          <m:r>
                            <a:rPr lang="ar-AE" i="1">
                              <a:latin typeface="Cambria Math" panose="02040503050406030204" pitchFamily="18" charset="0"/>
                            </a:rPr>
                            <m:t>𝜎</m:t>
                          </m:r>
                        </m:num>
                        <m:den>
                          <m:rad>
                            <m:radPr>
                              <m:degHide m:val="on"/>
                              <m:ctrlPr>
                                <a:rPr lang="ar-AE" i="1">
                                  <a:latin typeface="Cambria Math" panose="02040503050406030204" pitchFamily="18" charset="0"/>
                                </a:rPr>
                              </m:ctrlPr>
                            </m:radPr>
                            <m:deg/>
                            <m:e>
                              <m:r>
                                <a:rPr lang="ar-AE" i="1">
                                  <a:latin typeface="Cambria Math" panose="02040503050406030204" pitchFamily="18" charset="0"/>
                                </a:rPr>
                                <m:t>𝑛</m:t>
                              </m:r>
                            </m:e>
                          </m:rad>
                        </m:den>
                      </m:f>
                    </m:oMath>
                  </m:oMathPara>
                </a14:m>
                <a:endParaRPr lang="en-US" dirty="0"/>
              </a:p>
              <a:p>
                <a:pPr marL="0" indent="0">
                  <a:buNone/>
                </a:pPr>
                <a:endParaRPr lang="en-US" dirty="0"/>
              </a:p>
              <a:p>
                <a:pPr marL="0" indent="0">
                  <a:buNone/>
                </a:pPr>
                <a:r>
                  <a:rPr lang="en-US" dirty="0"/>
                  <a:t>       CI=50</a:t>
                </a:r>
                <a:r>
                  <a:rPr lang="ar-AE" dirty="0"/>
                  <a:t> </a:t>
                </a:r>
                <a14:m>
                  <m:oMath xmlns:m="http://schemas.openxmlformats.org/officeDocument/2006/math">
                    <m:r>
                      <a:rPr lang="ar-AE">
                        <a:latin typeface="Cambria Math" panose="02040503050406030204" pitchFamily="18" charset="0"/>
                      </a:rPr>
                      <m:t>±</m:t>
                    </m:r>
                    <m:r>
                      <a:rPr lang="en-US" b="0" i="0" smtClean="0">
                        <a:latin typeface="Cambria Math" panose="02040503050406030204" pitchFamily="18" charset="0"/>
                      </a:rPr>
                      <m:t>1</m:t>
                    </m:r>
                    <m:r>
                      <a:rPr lang="en-US" b="0" i="0" smtClean="0">
                        <a:latin typeface="Cambria Math" panose="02040503050406030204" pitchFamily="18" charset="0"/>
                      </a:rPr>
                      <m:t>.</m:t>
                    </m:r>
                    <m:r>
                      <a:rPr lang="en-US" b="0" i="0" smtClean="0">
                        <a:latin typeface="Cambria Math" panose="02040503050406030204" pitchFamily="18" charset="0"/>
                      </a:rPr>
                      <m:t>96</m:t>
                    </m:r>
                  </m:oMath>
                </a14:m>
                <a:r>
                  <a:rPr lang="en-US" b="0" dirty="0"/>
                  <a:t>                   So </a:t>
                </a:r>
                <a:r>
                  <a:rPr lang="en-US" b="0" dirty="0">
                    <a:highlight>
                      <a:srgbClr val="00FF00"/>
                    </a:highlight>
                    <a:latin typeface="Times New Roman" panose="02020603050405020304" pitchFamily="18" charset="0"/>
                    <a:cs typeface="Times New Roman" panose="02020603050405020304" pitchFamily="18" charset="0"/>
                  </a:rPr>
                  <a:t>CI=</a:t>
                </a:r>
                <a:r>
                  <a:rPr lang="en-US" dirty="0">
                    <a:highlight>
                      <a:srgbClr val="00FF00"/>
                    </a:highlight>
                    <a:latin typeface="Times New Roman" panose="02020603050405020304" pitchFamily="18" charset="0"/>
                    <a:cs typeface="Times New Roman" panose="02020603050405020304" pitchFamily="18" charset="0"/>
                  </a:rPr>
                  <a:t> [48.04,51.96]</a:t>
                </a:r>
              </a:p>
              <a:p>
                <a:pPr marL="0" indent="0">
                  <a:buNone/>
                </a:pPr>
                <a:r>
                  <a:rPr lang="en-US" dirty="0">
                    <a:latin typeface="Times New Roman" panose="02020603050405020304" pitchFamily="18" charset="0"/>
                    <a:cs typeface="Times New Roman" panose="02020603050405020304" pitchFamily="18" charset="0"/>
                  </a:rPr>
                  <a:t>We are 95% confident that the population mean lies between 48.04 and 51.96.</a:t>
                </a:r>
                <a:endParaRPr lang="en-US" dirty="0">
                  <a:highlight>
                    <a:srgbClr val="00FF00"/>
                  </a:highlight>
                  <a:latin typeface="Times New Roman" panose="02020603050405020304" pitchFamily="18" charset="0"/>
                  <a:cs typeface="Times New Roman" panose="02020603050405020304" pitchFamily="18" charset="0"/>
                </a:endParaRPr>
              </a:p>
              <a:p>
                <a:pPr marL="0" indent="0">
                  <a:buNone/>
                </a:pPr>
                <a:endParaRPr lang="en-US" b="0" dirty="0">
                  <a:highlight>
                    <a:srgbClr val="00FF00"/>
                  </a:highlight>
                  <a:latin typeface="Times New Roman" panose="02020603050405020304" pitchFamily="18" charset="0"/>
                  <a:cs typeface="Times New Roman" panose="02020603050405020304" pitchFamily="18" charset="0"/>
                </a:endParaRPr>
              </a:p>
              <a:p>
                <a:pPr marL="0" indent="0">
                  <a:buNone/>
                </a:pPr>
                <a:endParaRPr lang="ar-AE"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2F448FC6-F353-61B8-B82C-70A0B5AC9024}"/>
                  </a:ext>
                </a:extLst>
              </p:cNvPr>
              <p:cNvSpPr>
                <a:spLocks noGrp="1" noRot="1" noChangeAspect="1" noMove="1" noResize="1" noEditPoints="1" noAdjustHandles="1" noChangeArrowheads="1" noChangeShapeType="1" noTextEdit="1"/>
              </p:cNvSpPr>
              <p:nvPr>
                <p:ph idx="1"/>
              </p:nvPr>
            </p:nvSpPr>
            <p:spPr>
              <a:xfrm>
                <a:off x="454152" y="143128"/>
                <a:ext cx="10515600" cy="6138800"/>
              </a:xfrm>
              <a:blipFill>
                <a:blip r:embed="rId2"/>
                <a:stretch>
                  <a:fillRect l="-1217" t="-2183" b="-2579"/>
                </a:stretch>
              </a:blipFill>
            </p:spPr>
            <p:txBody>
              <a:bodyPr/>
              <a:lstStyle/>
              <a:p>
                <a:r>
                  <a:rPr lang="en-US">
                    <a:noFill/>
                  </a:rPr>
                  <a:t> </a:t>
                </a:r>
              </a:p>
            </p:txBody>
          </p:sp>
        </mc:Fallback>
      </mc:AlternateContent>
    </p:spTree>
    <p:extLst>
      <p:ext uri="{BB962C8B-B14F-4D97-AF65-F5344CB8AC3E}">
        <p14:creationId xmlns:p14="http://schemas.microsoft.com/office/powerpoint/2010/main" val="41417838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1F1617-E18A-8C3A-4ACA-FDC5D86512C1}"/>
              </a:ext>
            </a:extLst>
          </p:cNvPr>
          <p:cNvSpPr>
            <a:spLocks noGrp="1"/>
          </p:cNvSpPr>
          <p:nvPr>
            <p:ph idx="1"/>
          </p:nvPr>
        </p:nvSpPr>
        <p:spPr>
          <a:xfrm>
            <a:off x="838200" y="271145"/>
            <a:ext cx="10515600" cy="1877695"/>
          </a:xfrm>
        </p:spPr>
        <p:txBody>
          <a:bodyPr/>
          <a:lstStyle/>
          <a:p>
            <a:pPr marL="0" indent="0">
              <a:buNone/>
            </a:pPr>
            <a:r>
              <a:rPr lang="en-US" b="1" dirty="0">
                <a:latin typeface="Times New Roman" panose="02020603050405020304" pitchFamily="18" charset="0"/>
                <a:cs typeface="Times New Roman" panose="02020603050405020304" pitchFamily="18" charset="0"/>
              </a:rPr>
              <a:t>Example 3</a:t>
            </a:r>
          </a:p>
          <a:p>
            <a:pPr marL="0" indent="0">
              <a:buNone/>
            </a:pPr>
            <a:r>
              <a:rPr lang="en-US" dirty="0">
                <a:latin typeface="Times New Roman" panose="02020603050405020304" pitchFamily="18" charset="0"/>
                <a:cs typeface="Times New Roman" panose="02020603050405020304" pitchFamily="18" charset="0"/>
              </a:rPr>
              <a:t>A sample of </a:t>
            </a:r>
            <a:r>
              <a:rPr lang="en-US" b="1" dirty="0">
                <a:latin typeface="Times New Roman" panose="02020603050405020304" pitchFamily="18" charset="0"/>
                <a:cs typeface="Times New Roman" panose="02020603050405020304" pitchFamily="18" charset="0"/>
              </a:rPr>
              <a:t>100 food items</a:t>
            </a:r>
            <a:r>
              <a:rPr lang="en-US" dirty="0">
                <a:latin typeface="Times New Roman" panose="02020603050405020304" pitchFamily="18" charset="0"/>
                <a:cs typeface="Times New Roman" panose="02020603050405020304" pitchFamily="18" charset="0"/>
              </a:rPr>
              <a:t> has an average sodium content of </a:t>
            </a:r>
            <a:r>
              <a:rPr lang="en-US" b="1" dirty="0">
                <a:latin typeface="Times New Roman" panose="02020603050405020304" pitchFamily="18" charset="0"/>
                <a:cs typeface="Times New Roman" panose="02020603050405020304" pitchFamily="18" charset="0"/>
              </a:rPr>
              <a:t>80 mg</a:t>
            </a:r>
            <a:r>
              <a:rPr lang="en-US" dirty="0">
                <a:latin typeface="Times New Roman" panose="02020603050405020304" pitchFamily="18" charset="0"/>
                <a:cs typeface="Times New Roman" panose="02020603050405020304" pitchFamily="18" charset="0"/>
              </a:rPr>
              <a:t>. The Population standard deviation = </a:t>
            </a:r>
            <a:r>
              <a:rPr lang="en-US" b="1" dirty="0">
                <a:latin typeface="Times New Roman" panose="02020603050405020304" pitchFamily="18" charset="0"/>
                <a:cs typeface="Times New Roman" panose="02020603050405020304" pitchFamily="18" charset="0"/>
              </a:rPr>
              <a:t>10 mg. </a:t>
            </a:r>
            <a:r>
              <a:rPr lang="en-US" dirty="0">
                <a:latin typeface="Times New Roman" panose="02020603050405020304" pitchFamily="18" charset="0"/>
                <a:cs typeface="Times New Roman" panose="02020603050405020304" pitchFamily="18" charset="0"/>
              </a:rPr>
              <a:t>Construct a </a:t>
            </a:r>
            <a:r>
              <a:rPr lang="en-US" b="1" dirty="0">
                <a:latin typeface="Times New Roman" panose="02020603050405020304" pitchFamily="18" charset="0"/>
                <a:cs typeface="Times New Roman" panose="02020603050405020304" pitchFamily="18" charset="0"/>
              </a:rPr>
              <a:t>95% confidence interval</a:t>
            </a:r>
            <a:r>
              <a:rPr lang="en-US" dirty="0">
                <a:latin typeface="Times New Roman" panose="02020603050405020304" pitchFamily="18" charset="0"/>
                <a:cs typeface="Times New Roman" panose="02020603050405020304" pitchFamily="18" charset="0"/>
              </a:rPr>
              <a:t> for the population mean.</a:t>
            </a:r>
          </a:p>
          <a:p>
            <a:pPr marL="0" indent="0">
              <a:buNone/>
            </a:pPr>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9D36E68-6A98-CE8C-D48E-F35195180D58}"/>
                  </a:ext>
                </a:extLst>
              </p:cNvPr>
              <p:cNvSpPr txBox="1"/>
              <p:nvPr/>
            </p:nvSpPr>
            <p:spPr>
              <a:xfrm>
                <a:off x="2407158" y="2148840"/>
                <a:ext cx="6094476" cy="10245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rPr>
                        <m:t>𝐶𝐼</m:t>
                      </m:r>
                      <m:r>
                        <a:rPr lang="en-US" sz="3200">
                          <a:latin typeface="Cambria Math" panose="02040503050406030204" pitchFamily="18" charset="0"/>
                        </a:rPr>
                        <m:t>=</m:t>
                      </m:r>
                      <m:limUpp>
                        <m:limUppPr>
                          <m:ctrlPr>
                            <a:rPr lang="ar-AE" sz="3200" i="1">
                              <a:latin typeface="Cambria Math" panose="02040503050406030204" pitchFamily="18" charset="0"/>
                            </a:rPr>
                          </m:ctrlPr>
                        </m:limUppPr>
                        <m:e>
                          <m:r>
                            <a:rPr lang="ar-AE" sz="3200" i="1">
                              <a:latin typeface="Cambria Math" panose="02040503050406030204" pitchFamily="18" charset="0"/>
                            </a:rPr>
                            <m:t>𝑥</m:t>
                          </m:r>
                        </m:e>
                        <m:lim>
                          <m:r>
                            <a:rPr lang="ar-AE" sz="3200">
                              <a:latin typeface="Cambria Math" panose="02040503050406030204" pitchFamily="18" charset="0"/>
                            </a:rPr>
                            <m:t>ˉ</m:t>
                          </m:r>
                        </m:lim>
                      </m:limUpp>
                      <m:r>
                        <a:rPr lang="ar-AE" sz="3200">
                          <a:latin typeface="Cambria Math" panose="02040503050406030204" pitchFamily="18" charset="0"/>
                        </a:rPr>
                        <m:t>±</m:t>
                      </m:r>
                      <m:r>
                        <a:rPr lang="ar-AE" sz="3200" i="1">
                          <a:latin typeface="Cambria Math" panose="02040503050406030204" pitchFamily="18" charset="0"/>
                        </a:rPr>
                        <m:t>𝑍</m:t>
                      </m:r>
                      <m:f>
                        <m:fPr>
                          <m:ctrlPr>
                            <a:rPr lang="ar-AE" sz="3200" i="1">
                              <a:latin typeface="Cambria Math" panose="02040503050406030204" pitchFamily="18" charset="0"/>
                            </a:rPr>
                          </m:ctrlPr>
                        </m:fPr>
                        <m:num>
                          <m:r>
                            <a:rPr lang="ar-AE" sz="3200" i="1">
                              <a:latin typeface="Cambria Math" panose="02040503050406030204" pitchFamily="18" charset="0"/>
                            </a:rPr>
                            <m:t>𝜎</m:t>
                          </m:r>
                        </m:num>
                        <m:den>
                          <m:rad>
                            <m:radPr>
                              <m:degHide m:val="on"/>
                              <m:ctrlPr>
                                <a:rPr lang="ar-AE" sz="3200" i="1">
                                  <a:latin typeface="Cambria Math" panose="02040503050406030204" pitchFamily="18" charset="0"/>
                                </a:rPr>
                              </m:ctrlPr>
                            </m:radPr>
                            <m:deg/>
                            <m:e>
                              <m:r>
                                <a:rPr lang="ar-AE" sz="3200" i="1">
                                  <a:latin typeface="Cambria Math" panose="02040503050406030204" pitchFamily="18" charset="0"/>
                                </a:rPr>
                                <m:t>𝑛</m:t>
                              </m:r>
                            </m:e>
                          </m:rad>
                        </m:den>
                      </m:f>
                    </m:oMath>
                  </m:oMathPara>
                </a14:m>
                <a:endParaRPr lang="en-US" sz="3200" dirty="0">
                  <a:latin typeface="Times New Roman" panose="020206030504050203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69D36E68-6A98-CE8C-D48E-F35195180D58}"/>
                  </a:ext>
                </a:extLst>
              </p:cNvPr>
              <p:cNvSpPr txBox="1">
                <a:spLocks noRot="1" noChangeAspect="1" noMove="1" noResize="1" noEditPoints="1" noAdjustHandles="1" noChangeArrowheads="1" noChangeShapeType="1" noTextEdit="1"/>
              </p:cNvSpPr>
              <p:nvPr/>
            </p:nvSpPr>
            <p:spPr>
              <a:xfrm>
                <a:off x="2407158" y="2148840"/>
                <a:ext cx="6094476" cy="1024511"/>
              </a:xfrm>
              <a:prstGeom prst="rect">
                <a:avLst/>
              </a:prstGeom>
              <a:blipFill>
                <a:blip r:embed="rId2"/>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F97E6903-BFCD-D8F5-85D8-DBD92458F5CF}"/>
              </a:ext>
            </a:extLst>
          </p:cNvPr>
          <p:cNvSpPr txBox="1"/>
          <p:nvPr/>
        </p:nvSpPr>
        <p:spPr>
          <a:xfrm>
            <a:off x="4592574" y="3287871"/>
            <a:ext cx="6094476" cy="2554545"/>
          </a:xfrm>
          <a:prstGeom prst="rect">
            <a:avLst/>
          </a:prstGeom>
          <a:noFill/>
        </p:spPr>
        <p:txBody>
          <a:bodyPr wrap="square">
            <a:spAutoFit/>
          </a:bodyPr>
          <a:lstStyle/>
          <a:p>
            <a:pPr>
              <a:buNone/>
            </a:pPr>
            <a:r>
              <a:rPr lang="en-US" sz="3200" dirty="0">
                <a:latin typeface="Times New Roman" panose="02020603050405020304" pitchFamily="18" charset="0"/>
                <a:cs typeface="Times New Roman" panose="02020603050405020304" pitchFamily="18" charset="0"/>
              </a:rPr>
              <a:t>Where</a:t>
            </a:r>
          </a:p>
          <a:p>
            <a:pPr>
              <a:buNone/>
            </a:pPr>
            <a:r>
              <a:rPr lang="en-US" sz="3200" dirty="0">
                <a:latin typeface="Times New Roman" panose="02020603050405020304" pitchFamily="18" charset="0"/>
                <a:cs typeface="Times New Roman" panose="02020603050405020304" pitchFamily="18" charset="0"/>
              </a:rPr>
              <a:t>x̄ = 80</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σ = 10</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n = 100</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Z = 1.96 (for 95%)</a:t>
            </a:r>
          </a:p>
        </p:txBody>
      </p:sp>
      <p:sp>
        <p:nvSpPr>
          <p:cNvPr id="9" name="TextBox 8">
            <a:extLst>
              <a:ext uri="{FF2B5EF4-FFF2-40B4-BE49-F238E27FC236}">
                <a16:creationId xmlns:a16="http://schemas.microsoft.com/office/drawing/2014/main" id="{B009CD38-610A-3C38-472C-26A7E0DEB8B5}"/>
              </a:ext>
            </a:extLst>
          </p:cNvPr>
          <p:cNvSpPr txBox="1"/>
          <p:nvPr/>
        </p:nvSpPr>
        <p:spPr>
          <a:xfrm>
            <a:off x="4418838" y="6402189"/>
            <a:ext cx="6094476" cy="369332"/>
          </a:xfrm>
          <a:prstGeom prst="rect">
            <a:avLst/>
          </a:prstGeom>
          <a:noFill/>
        </p:spPr>
        <p:txBody>
          <a:bodyPr wrap="square">
            <a:spAutoFit/>
          </a:bodyPr>
          <a:lstStyle/>
          <a:p>
            <a:r>
              <a:rPr lang="en-US" dirty="0"/>
              <a:t>CI=[78.04,81.96]</a:t>
            </a:r>
          </a:p>
        </p:txBody>
      </p:sp>
    </p:spTree>
    <p:extLst>
      <p:ext uri="{BB962C8B-B14F-4D97-AF65-F5344CB8AC3E}">
        <p14:creationId xmlns:p14="http://schemas.microsoft.com/office/powerpoint/2010/main" val="3661904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8DB791A-F0FE-C6BE-42F4-8609D0616004}"/>
                  </a:ext>
                </a:extLst>
              </p:cNvPr>
              <p:cNvSpPr>
                <a:spLocks noGrp="1"/>
              </p:cNvSpPr>
              <p:nvPr>
                <p:ph idx="1"/>
              </p:nvPr>
            </p:nvSpPr>
            <p:spPr>
              <a:xfrm>
                <a:off x="838200" y="374904"/>
                <a:ext cx="11149584" cy="6190488"/>
              </a:xfrm>
            </p:spPr>
            <p:txBody>
              <a:bodyPr>
                <a:normAutofit lnSpcReduction="10000"/>
              </a:bodyPr>
              <a:lstStyle/>
              <a:p>
                <a:pPr marL="0" indent="0">
                  <a:buNone/>
                </a:pPr>
                <a:r>
                  <a:rPr lang="en-US" sz="3200" b="1" dirty="0">
                    <a:highlight>
                      <a:srgbClr val="FFFF00"/>
                    </a:highlight>
                    <a:latin typeface="Times New Roman" panose="02020603050405020304" pitchFamily="18" charset="0"/>
                    <a:cs typeface="Times New Roman" panose="02020603050405020304" pitchFamily="18" charset="0"/>
                  </a:rPr>
                  <a:t>Sampling Distribution</a:t>
                </a:r>
              </a:p>
              <a:p>
                <a:pPr marL="0" indent="0">
                  <a:buNone/>
                </a:pPr>
                <a:r>
                  <a:rPr lang="en-US" dirty="0"/>
                  <a:t>The sampling distribution is the probability distribution of a statistic calculated from many samples.</a:t>
                </a:r>
              </a:p>
              <a:p>
                <a:pPr marL="0" indent="0">
                  <a:buNone/>
                </a:pPr>
                <a:r>
                  <a:rPr lang="en-US" dirty="0"/>
                  <a:t>Example:</a:t>
                </a:r>
              </a:p>
              <a:p>
                <a:r>
                  <a:rPr lang="en-US" dirty="0"/>
                  <a:t>If we repeatedly calculate sample means from different samples, we obtain a </a:t>
                </a:r>
                <a:r>
                  <a:rPr lang="en-US" dirty="0">
                    <a:latin typeface="Times New Roman" panose="02020603050405020304" pitchFamily="18" charset="0"/>
                    <a:cs typeface="Times New Roman" panose="02020603050405020304" pitchFamily="18" charset="0"/>
                  </a:rPr>
                  <a:t>distribution of sample means.</a:t>
                </a:r>
              </a:p>
              <a:p>
                <a:pPr marL="0" indent="0">
                  <a:buNone/>
                </a:pPr>
                <a:r>
                  <a:rPr lang="en-US" dirty="0"/>
                  <a:t>Properties:</a:t>
                </a:r>
              </a:p>
              <a:p>
                <a:pPr marL="0" indent="0">
                  <a:buNone/>
                </a:pPr>
                <a:r>
                  <a:rPr lang="en-US" dirty="0"/>
                  <a:t>Mean of sampling distribution:</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𝐸</m:t>
                      </m:r>
                      <m:d>
                        <m:dPr>
                          <m:ctrlPr>
                            <a:rPr lang="ar-AE" i="1">
                              <a:latin typeface="Cambria Math" panose="02040503050406030204" pitchFamily="18" charset="0"/>
                            </a:rPr>
                          </m:ctrlPr>
                        </m:dPr>
                        <m:e>
                          <m:limUpp>
                            <m:limUppPr>
                              <m:ctrlPr>
                                <a:rPr lang="ar-AE" i="1">
                                  <a:latin typeface="Cambria Math" panose="02040503050406030204" pitchFamily="18" charset="0"/>
                                </a:rPr>
                              </m:ctrlPr>
                            </m:limUppPr>
                            <m:e>
                              <m:r>
                                <a:rPr lang="ar-AE" i="1">
                                  <a:latin typeface="Cambria Math" panose="02040503050406030204" pitchFamily="18" charset="0"/>
                                </a:rPr>
                                <m:t>𝑥</m:t>
                              </m:r>
                            </m:e>
                            <m:lim>
                              <m:r>
                                <a:rPr lang="ar-AE">
                                  <a:latin typeface="Cambria Math" panose="02040503050406030204" pitchFamily="18" charset="0"/>
                                </a:rPr>
                                <m:t>ˉ</m:t>
                              </m:r>
                            </m:lim>
                          </m:limUpp>
                        </m:e>
                      </m:d>
                      <m:r>
                        <a:rPr lang="ar-AE">
                          <a:latin typeface="Cambria Math" panose="02040503050406030204" pitchFamily="18" charset="0"/>
                        </a:rPr>
                        <m:t>=</m:t>
                      </m:r>
                      <m:r>
                        <a:rPr lang="ar-AE" i="1">
                          <a:latin typeface="Cambria Math" panose="02040503050406030204" pitchFamily="18" charset="0"/>
                        </a:rPr>
                        <m:t>𝜇</m:t>
                      </m:r>
                    </m:oMath>
                  </m:oMathPara>
                </a14:m>
                <a:endParaRPr lang="ar-AE" dirty="0"/>
              </a:p>
              <a:p>
                <a:pPr marL="0" indent="0">
                  <a:buNone/>
                </a:pPr>
                <a:r>
                  <a:rPr lang="en-US" dirty="0"/>
                  <a:t>Standard deviation of sampling distribution:</a:t>
                </a:r>
              </a:p>
              <a:p>
                <a:pPr marL="0" indent="0">
                  <a:buNone/>
                </a:pPr>
                <a14:m>
                  <m:oMathPara xmlns:m="http://schemas.openxmlformats.org/officeDocument/2006/math">
                    <m:oMathParaPr>
                      <m:jc m:val="centerGroup"/>
                    </m:oMathParaPr>
                    <m:oMath xmlns:m="http://schemas.openxmlformats.org/officeDocument/2006/math">
                      <m:f>
                        <m:fPr>
                          <m:ctrlPr>
                            <a:rPr lang="ar-AE" i="1">
                              <a:latin typeface="Cambria Math" panose="02040503050406030204" pitchFamily="18" charset="0"/>
                            </a:rPr>
                          </m:ctrlPr>
                        </m:fPr>
                        <m:num>
                          <m:r>
                            <a:rPr lang="ar-AE" i="1">
                              <a:latin typeface="Cambria Math" panose="02040503050406030204" pitchFamily="18" charset="0"/>
                            </a:rPr>
                            <m:t>𝜎</m:t>
                          </m:r>
                        </m:num>
                        <m:den>
                          <m:rad>
                            <m:radPr>
                              <m:degHide m:val="on"/>
                              <m:ctrlPr>
                                <a:rPr lang="ar-AE" i="1">
                                  <a:latin typeface="Cambria Math" panose="02040503050406030204" pitchFamily="18" charset="0"/>
                                </a:rPr>
                              </m:ctrlPr>
                            </m:radPr>
                            <m:deg/>
                            <m:e>
                              <m:r>
                                <a:rPr lang="ar-AE" i="1">
                                  <a:latin typeface="Cambria Math" panose="02040503050406030204" pitchFamily="18" charset="0"/>
                                </a:rPr>
                                <m:t>𝑛</m:t>
                              </m:r>
                            </m:e>
                          </m:rad>
                        </m:den>
                      </m:f>
                    </m:oMath>
                  </m:oMathPara>
                </a14:m>
                <a:endParaRPr lang="ar-AE" dirty="0"/>
              </a:p>
              <a:p>
                <a:r>
                  <a:rPr lang="en-US" dirty="0"/>
                  <a:t>This is called the </a:t>
                </a:r>
                <a:r>
                  <a:rPr lang="en-US" b="1" dirty="0"/>
                  <a:t>standard error</a:t>
                </a:r>
                <a:r>
                  <a:rPr lang="en-US" dirty="0"/>
                  <a:t>.</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78DB791A-F0FE-C6BE-42F4-8609D0616004}"/>
                  </a:ext>
                </a:extLst>
              </p:cNvPr>
              <p:cNvSpPr>
                <a:spLocks noGrp="1" noRot="1" noChangeAspect="1" noMove="1" noResize="1" noEditPoints="1" noAdjustHandles="1" noChangeArrowheads="1" noChangeShapeType="1" noTextEdit="1"/>
              </p:cNvSpPr>
              <p:nvPr>
                <p:ph idx="1"/>
              </p:nvPr>
            </p:nvSpPr>
            <p:spPr>
              <a:xfrm>
                <a:off x="838200" y="374904"/>
                <a:ext cx="11149584" cy="6190488"/>
              </a:xfrm>
              <a:blipFill>
                <a:blip r:embed="rId2"/>
                <a:stretch>
                  <a:fillRect l="-1422" t="-2956"/>
                </a:stretch>
              </a:blipFill>
            </p:spPr>
            <p:txBody>
              <a:bodyPr/>
              <a:lstStyle/>
              <a:p>
                <a:r>
                  <a:rPr lang="en-US">
                    <a:noFill/>
                  </a:rPr>
                  <a:t> </a:t>
                </a:r>
              </a:p>
            </p:txBody>
          </p:sp>
        </mc:Fallback>
      </mc:AlternateContent>
    </p:spTree>
    <p:extLst>
      <p:ext uri="{BB962C8B-B14F-4D97-AF65-F5344CB8AC3E}">
        <p14:creationId xmlns:p14="http://schemas.microsoft.com/office/powerpoint/2010/main" val="26886725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F463B-7B8B-E208-DCE1-D86A830E6305}"/>
              </a:ext>
            </a:extLst>
          </p:cNvPr>
          <p:cNvSpPr>
            <a:spLocks noGrp="1"/>
          </p:cNvSpPr>
          <p:nvPr>
            <p:ph type="title"/>
          </p:nvPr>
        </p:nvSpPr>
        <p:spPr>
          <a:xfrm>
            <a:off x="0" y="0"/>
            <a:ext cx="12192000" cy="1371599"/>
          </a:xfrm>
        </p:spPr>
        <p:txBody>
          <a:bodyPr>
            <a:normAutofit/>
          </a:bodyPr>
          <a:lstStyle/>
          <a:p>
            <a:r>
              <a:rPr lang="en-US" b="1" dirty="0">
                <a:latin typeface="Times New Roman" panose="02020603050405020304" pitchFamily="18" charset="0"/>
                <a:cs typeface="Times New Roman" panose="02020603050405020304" pitchFamily="18" charset="0"/>
              </a:rPr>
              <a:t>Sampling Distribution of the Mean Example</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097309E-7D1D-5196-2F20-86FC70EBF5D5}"/>
              </a:ext>
            </a:extLst>
          </p:cNvPr>
          <p:cNvSpPr>
            <a:spLocks noGrp="1"/>
          </p:cNvSpPr>
          <p:nvPr>
            <p:ph idx="1"/>
          </p:nvPr>
        </p:nvSpPr>
        <p:spPr>
          <a:xfrm>
            <a:off x="0" y="874648"/>
            <a:ext cx="12192000" cy="5864480"/>
          </a:xfrm>
        </p:spPr>
        <p:txBody>
          <a:bodyPr>
            <a:normAutofit/>
          </a:bodyPr>
          <a:lstStyle/>
          <a:p>
            <a:r>
              <a:rPr lang="en-US" dirty="0"/>
              <a:t>Example 1.Imagine you draw a random sample of 10 apples. </a:t>
            </a:r>
          </a:p>
          <a:p>
            <a:pPr marL="0" indent="0">
              <a:buNone/>
            </a:pPr>
            <a:r>
              <a:rPr lang="en-US" dirty="0">
                <a:solidFill>
                  <a:srgbClr val="FF0000"/>
                </a:solidFill>
              </a:rPr>
              <a:t>(</a:t>
            </a:r>
            <a:r>
              <a:rPr lang="en-US" dirty="0">
                <a:solidFill>
                  <a:srgbClr val="FF0000"/>
                </a:solidFill>
                <a:highlight>
                  <a:srgbClr val="FFFF00"/>
                </a:highlight>
              </a:rPr>
              <a:t>101,102,103,103,104,107,100,96,80,100), </a:t>
            </a:r>
          </a:p>
          <a:p>
            <a:pPr marL="0" indent="0">
              <a:buNone/>
            </a:pPr>
            <a:r>
              <a:rPr lang="en-US" dirty="0"/>
              <a:t>Then you calculate the mean of that sample as 91.6 grams. That’s one sample mean from one sample. However, you realize that if you were to draw another sample, you’d obtain a different mean. A third sample would produce yet another mean. And so on.</a:t>
            </a:r>
          </a:p>
          <a:p>
            <a:pPr marL="0" indent="0">
              <a:buNone/>
            </a:pPr>
            <a:r>
              <a:rPr lang="en-US" dirty="0"/>
              <a:t>.With this in mind, suppose you decide to collect 50 random samples of the same apple population. Each sample contains 10 apples, and you calculate the mean for each sample.</a:t>
            </a:r>
          </a:p>
          <a:p>
            <a:pPr marL="0" indent="0">
              <a:buNone/>
            </a:pPr>
            <a:endParaRPr lang="en-US" dirty="0"/>
          </a:p>
          <a:p>
            <a:pPr marL="0" indent="0">
              <a:buNone/>
            </a:pPr>
            <a:r>
              <a:rPr lang="en-US" dirty="0"/>
              <a:t>you have 50 sample means for apple weights</a:t>
            </a:r>
          </a:p>
        </p:txBody>
      </p:sp>
    </p:spTree>
    <p:extLst>
      <p:ext uri="{BB962C8B-B14F-4D97-AF65-F5344CB8AC3E}">
        <p14:creationId xmlns:p14="http://schemas.microsoft.com/office/powerpoint/2010/main" val="33532375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Sampling distribution of the mean for the apple example.">
            <a:extLst>
              <a:ext uri="{FF2B5EF4-FFF2-40B4-BE49-F238E27FC236}">
                <a16:creationId xmlns:a16="http://schemas.microsoft.com/office/drawing/2014/main" id="{56459317-FC67-4AD3-A9B2-F82AEA0BB61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90002" y="2066120"/>
            <a:ext cx="6454474" cy="341284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154D25B-F161-8828-F4C0-30DEA6869B0D}"/>
              </a:ext>
            </a:extLst>
          </p:cNvPr>
          <p:cNvSpPr txBox="1"/>
          <p:nvPr/>
        </p:nvSpPr>
        <p:spPr>
          <a:xfrm>
            <a:off x="1270424" y="544175"/>
            <a:ext cx="9364048" cy="646331"/>
          </a:xfrm>
          <a:prstGeom prst="rect">
            <a:avLst/>
          </a:prstGeom>
          <a:noFill/>
        </p:spPr>
        <p:txBody>
          <a:bodyPr wrap="square">
            <a:spAutoFit/>
          </a:bodyPr>
          <a:lstStyle/>
          <a:p>
            <a:r>
              <a:rPr lang="en-US" b="1" i="0" dirty="0">
                <a:solidFill>
                  <a:srgbClr val="767673"/>
                </a:solidFill>
                <a:effectLst/>
                <a:latin typeface="Droid Sans"/>
              </a:rPr>
              <a:t>At this point, you have 50 sample means for apple weights. You plot these sample means in the histogram below to display your sampling distribution of the mean.</a:t>
            </a:r>
            <a:endParaRPr lang="en-US" b="1" dirty="0"/>
          </a:p>
        </p:txBody>
      </p:sp>
    </p:spTree>
    <p:extLst>
      <p:ext uri="{BB962C8B-B14F-4D97-AF65-F5344CB8AC3E}">
        <p14:creationId xmlns:p14="http://schemas.microsoft.com/office/powerpoint/2010/main" val="8872727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7F3AD03-ECEC-6848-2935-2C3B336EFC62}"/>
                  </a:ext>
                </a:extLst>
              </p:cNvPr>
              <p:cNvSpPr>
                <a:spLocks noGrp="1"/>
              </p:cNvSpPr>
              <p:nvPr>
                <p:ph idx="1"/>
              </p:nvPr>
            </p:nvSpPr>
            <p:spPr>
              <a:xfrm>
                <a:off x="838200" y="472313"/>
                <a:ext cx="10515600" cy="2956687"/>
              </a:xfrm>
            </p:spPr>
            <p:txBody>
              <a:bodyPr/>
              <a:lstStyle/>
              <a:p>
                <a:r>
                  <a:rPr lang="en-US" dirty="0"/>
                  <a:t>Mean of sampling distribution:</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𝐸</m:t>
                      </m:r>
                      <m:d>
                        <m:dPr>
                          <m:ctrlPr>
                            <a:rPr lang="ar-AE" i="1">
                              <a:latin typeface="Cambria Math" panose="02040503050406030204" pitchFamily="18" charset="0"/>
                            </a:rPr>
                          </m:ctrlPr>
                        </m:dPr>
                        <m:e>
                          <m:limUpp>
                            <m:limUppPr>
                              <m:ctrlPr>
                                <a:rPr lang="ar-AE" i="1">
                                  <a:latin typeface="Cambria Math" panose="02040503050406030204" pitchFamily="18" charset="0"/>
                                </a:rPr>
                              </m:ctrlPr>
                            </m:limUppPr>
                            <m:e>
                              <m:r>
                                <a:rPr lang="ar-AE" i="1">
                                  <a:latin typeface="Cambria Math" panose="02040503050406030204" pitchFamily="18" charset="0"/>
                                </a:rPr>
                                <m:t>𝑥</m:t>
                              </m:r>
                            </m:e>
                            <m:lim>
                              <m:r>
                                <a:rPr lang="ar-AE">
                                  <a:latin typeface="Cambria Math" panose="02040503050406030204" pitchFamily="18" charset="0"/>
                                </a:rPr>
                                <m:t>ˉ</m:t>
                              </m:r>
                            </m:lim>
                          </m:limUpp>
                        </m:e>
                      </m:d>
                      <m:r>
                        <a:rPr lang="ar-AE">
                          <a:latin typeface="Cambria Math" panose="02040503050406030204" pitchFamily="18" charset="0"/>
                        </a:rPr>
                        <m:t>=</m:t>
                      </m:r>
                      <m:r>
                        <a:rPr lang="ar-AE" i="1">
                          <a:latin typeface="Cambria Math" panose="02040503050406030204" pitchFamily="18" charset="0"/>
                        </a:rPr>
                        <m:t>𝜇</m:t>
                      </m:r>
                    </m:oMath>
                  </m:oMathPara>
                </a14:m>
                <a:endParaRPr lang="ar-AE" dirty="0"/>
              </a:p>
              <a:p>
                <a:r>
                  <a:rPr lang="en-US" dirty="0"/>
                  <a:t>Standard deviation of sampling distribution:</a:t>
                </a:r>
              </a:p>
              <a:p>
                <a:pPr marL="0" indent="0">
                  <a:buNone/>
                </a:pPr>
                <a14:m>
                  <m:oMathPara xmlns:m="http://schemas.openxmlformats.org/officeDocument/2006/math">
                    <m:oMathParaPr>
                      <m:jc m:val="centerGroup"/>
                    </m:oMathParaPr>
                    <m:oMath xmlns:m="http://schemas.openxmlformats.org/officeDocument/2006/math">
                      <m:f>
                        <m:fPr>
                          <m:ctrlPr>
                            <a:rPr lang="ar-AE" i="1">
                              <a:latin typeface="Cambria Math" panose="02040503050406030204" pitchFamily="18" charset="0"/>
                            </a:rPr>
                          </m:ctrlPr>
                        </m:fPr>
                        <m:num>
                          <m:r>
                            <a:rPr lang="ar-AE" i="1">
                              <a:latin typeface="Cambria Math" panose="02040503050406030204" pitchFamily="18" charset="0"/>
                            </a:rPr>
                            <m:t>𝜎</m:t>
                          </m:r>
                        </m:num>
                        <m:den>
                          <m:rad>
                            <m:radPr>
                              <m:degHide m:val="on"/>
                              <m:ctrlPr>
                                <a:rPr lang="ar-AE" i="1">
                                  <a:latin typeface="Cambria Math" panose="02040503050406030204" pitchFamily="18" charset="0"/>
                                </a:rPr>
                              </m:ctrlPr>
                            </m:radPr>
                            <m:deg/>
                            <m:e>
                              <m:r>
                                <a:rPr lang="ar-AE" i="1">
                                  <a:latin typeface="Cambria Math" panose="02040503050406030204" pitchFamily="18" charset="0"/>
                                </a:rPr>
                                <m:t>𝑛</m:t>
                              </m:r>
                            </m:e>
                          </m:rad>
                        </m:den>
                      </m:f>
                    </m:oMath>
                  </m:oMathPara>
                </a14:m>
                <a:endParaRPr lang="ar-AE" dirty="0"/>
              </a:p>
              <a:p>
                <a:r>
                  <a:rPr lang="en-US" dirty="0"/>
                  <a:t>This is called the </a:t>
                </a:r>
                <a:r>
                  <a:rPr lang="en-US" dirty="0">
                    <a:latin typeface="Times New Roman" panose="02020603050405020304" pitchFamily="18" charset="0"/>
                    <a:cs typeface="Times New Roman" panose="02020603050405020304" pitchFamily="18" charset="0"/>
                  </a:rPr>
                  <a:t>standard error</a:t>
                </a:r>
                <a:r>
                  <a:rPr lang="en-US" dirty="0"/>
                  <a:t>.</a:t>
                </a:r>
              </a:p>
            </p:txBody>
          </p:sp>
        </mc:Choice>
        <mc:Fallback xmlns="">
          <p:sp>
            <p:nvSpPr>
              <p:cNvPr id="3" name="Content Placeholder 2">
                <a:extLst>
                  <a:ext uri="{FF2B5EF4-FFF2-40B4-BE49-F238E27FC236}">
                    <a16:creationId xmlns:a16="http://schemas.microsoft.com/office/drawing/2014/main" id="{67F3AD03-ECEC-6848-2935-2C3B336EFC62}"/>
                  </a:ext>
                </a:extLst>
              </p:cNvPr>
              <p:cNvSpPr>
                <a:spLocks noGrp="1" noRot="1" noChangeAspect="1" noMove="1" noResize="1" noEditPoints="1" noAdjustHandles="1" noChangeArrowheads="1" noChangeShapeType="1" noTextEdit="1"/>
              </p:cNvSpPr>
              <p:nvPr>
                <p:ph idx="1"/>
              </p:nvPr>
            </p:nvSpPr>
            <p:spPr>
              <a:xfrm>
                <a:off x="838200" y="472313"/>
                <a:ext cx="10515600" cy="2956687"/>
              </a:xfrm>
              <a:blipFill>
                <a:blip r:embed="rId2"/>
                <a:stretch>
                  <a:fillRect l="-1043" t="-3498" b="-1235"/>
                </a:stretch>
              </a:blipFill>
            </p:spPr>
            <p:txBody>
              <a:bodyPr/>
              <a:lstStyle/>
              <a:p>
                <a:r>
                  <a:rPr lang="en-US">
                    <a:noFill/>
                  </a:rPr>
                  <a:t> </a:t>
                </a:r>
              </a:p>
            </p:txBody>
          </p:sp>
        </mc:Fallback>
      </mc:AlternateContent>
    </p:spTree>
    <p:extLst>
      <p:ext uri="{BB962C8B-B14F-4D97-AF65-F5344CB8AC3E}">
        <p14:creationId xmlns:p14="http://schemas.microsoft.com/office/powerpoint/2010/main" val="32758034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5F1705-39E9-1D89-1374-96FD9E894821}"/>
              </a:ext>
            </a:extLst>
          </p:cNvPr>
          <p:cNvSpPr>
            <a:spLocks noGrp="1"/>
          </p:cNvSpPr>
          <p:nvPr>
            <p:ph idx="1"/>
          </p:nvPr>
        </p:nvSpPr>
        <p:spPr>
          <a:xfrm>
            <a:off x="838200" y="576073"/>
            <a:ext cx="10515600" cy="3749040"/>
          </a:xfrm>
        </p:spPr>
        <p:txBody>
          <a:bodyPr/>
          <a:lstStyle/>
          <a:p>
            <a:pPr marL="0" indent="0">
              <a:buNone/>
            </a:pPr>
            <a:r>
              <a:rPr lang="en-US" b="1" dirty="0">
                <a:latin typeface="Times New Roman" panose="02020603050405020304" pitchFamily="18" charset="0"/>
                <a:cs typeface="Times New Roman" panose="02020603050405020304" pitchFamily="18" charset="0"/>
              </a:rPr>
              <a:t> Central Limit Theorem (CLT)</a:t>
            </a:r>
          </a:p>
          <a:p>
            <a:r>
              <a:rPr lang="en-US" dirty="0">
                <a:latin typeface="Times New Roman" panose="02020603050405020304" pitchFamily="18" charset="0"/>
                <a:cs typeface="Times New Roman" panose="02020603050405020304" pitchFamily="18" charset="0"/>
              </a:rPr>
              <a:t>The Central Limit Theorem is extremely important in estimation.</a:t>
            </a:r>
          </a:p>
          <a:p>
            <a:pPr marL="0" indent="0">
              <a:buNone/>
            </a:pPr>
            <a:r>
              <a:rPr lang="en-US" dirty="0">
                <a:latin typeface="Times New Roman" panose="02020603050405020304" pitchFamily="18" charset="0"/>
                <a:cs typeface="Times New Roman" panose="02020603050405020304" pitchFamily="18" charset="0"/>
              </a:rPr>
              <a:t>It states that:</a:t>
            </a:r>
          </a:p>
          <a:p>
            <a:r>
              <a:rPr lang="en-US" dirty="0">
                <a:latin typeface="Times New Roman" panose="02020603050405020304" pitchFamily="18" charset="0"/>
                <a:cs typeface="Times New Roman" panose="02020603050405020304" pitchFamily="18" charset="0"/>
              </a:rPr>
              <a:t>If the sample size is sufficiently large (usually n ≥ 30), the sampling distribution of the sample mean approaches a normal distribution, regardless of the population distribution.</a:t>
            </a:r>
          </a:p>
          <a:p>
            <a:r>
              <a:rPr lang="en-US" dirty="0">
                <a:latin typeface="Times New Roman" panose="02020603050405020304" pitchFamily="18" charset="0"/>
                <a:cs typeface="Times New Roman" panose="02020603050405020304" pitchFamily="18" charset="0"/>
              </a:rPr>
              <a:t>This allows us to construct confidence intervals and perform hypothesis testing.</a:t>
            </a:r>
          </a:p>
          <a:p>
            <a:pPr marL="0" indent="0">
              <a:buNone/>
            </a:pPr>
            <a:endParaRPr lang="en-US" dirty="0"/>
          </a:p>
        </p:txBody>
      </p:sp>
    </p:spTree>
    <p:extLst>
      <p:ext uri="{BB962C8B-B14F-4D97-AF65-F5344CB8AC3E}">
        <p14:creationId xmlns:p14="http://schemas.microsoft.com/office/powerpoint/2010/main" val="36617499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Sampling distribution with 500,000 samples.">
            <a:extLst>
              <a:ext uri="{FF2B5EF4-FFF2-40B4-BE49-F238E27FC236}">
                <a16:creationId xmlns:a16="http://schemas.microsoft.com/office/drawing/2014/main" id="{0C059817-C151-0951-0FB9-1A2745729ED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82358" y="236156"/>
            <a:ext cx="8801343" cy="56891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67060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66F2A4-D371-B6AD-AC76-4B5679C4E86C}"/>
              </a:ext>
            </a:extLst>
          </p:cNvPr>
          <p:cNvSpPr>
            <a:spLocks noGrp="1"/>
          </p:cNvSpPr>
          <p:nvPr>
            <p:ph idx="1"/>
          </p:nvPr>
        </p:nvSpPr>
        <p:spPr>
          <a:xfrm>
            <a:off x="320040" y="173737"/>
            <a:ext cx="11740896" cy="1408174"/>
          </a:xfrm>
        </p:spPr>
        <p:txBody>
          <a:bodyPr>
            <a:normAutofit fontScale="92500"/>
          </a:bodyPr>
          <a:lstStyle/>
          <a:p>
            <a:pPr marL="0" indent="0">
              <a:buNone/>
            </a:pPr>
            <a:r>
              <a:rPr lang="en-US" b="1" dirty="0">
                <a:highlight>
                  <a:srgbClr val="FFFF00"/>
                </a:highlight>
              </a:rPr>
              <a:t>Example: </a:t>
            </a:r>
            <a:r>
              <a:rPr lang="en-US" dirty="0"/>
              <a:t>A factory produces light bulbs whose mean lifetime is 1200 hours with a SD of 200 hours. A random sample of 64 light bulbs is selected. What is the probability that the sample mean lifetime of the bulbs is greater than 1250 hours?</a:t>
            </a:r>
          </a:p>
          <a:p>
            <a:pPr marL="0" indent="0">
              <a:buNone/>
            </a:pPr>
            <a:endParaRPr lang="en-US" dirty="0"/>
          </a:p>
          <a:p>
            <a:pPr marL="0" indent="0">
              <a:buNone/>
            </a:pPr>
            <a:endParaRPr lang="en-US" dirty="0"/>
          </a:p>
        </p:txBody>
      </p:sp>
      <p:sp>
        <p:nvSpPr>
          <p:cNvPr id="4" name="Rectangle 1">
            <a:extLst>
              <a:ext uri="{FF2B5EF4-FFF2-40B4-BE49-F238E27FC236}">
                <a16:creationId xmlns:a16="http://schemas.microsoft.com/office/drawing/2014/main" id="{30BA537D-5091-EDD1-4427-69C66EE3CF72}"/>
              </a:ext>
            </a:extLst>
          </p:cNvPr>
          <p:cNvSpPr>
            <a:spLocks noChangeArrowheads="1"/>
          </p:cNvSpPr>
          <p:nvPr/>
        </p:nvSpPr>
        <p:spPr bwMode="auto">
          <a:xfrm>
            <a:off x="411480" y="1273463"/>
            <a:ext cx="5492209"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Sol: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Population mean μ=1200</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Population standard deviation σ=200</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Sample size n=64</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6AACBE7-C13F-2FB5-5ECA-C707C391EECA}"/>
                  </a:ext>
                </a:extLst>
              </p:cNvPr>
              <p:cNvSpPr txBox="1"/>
              <p:nvPr/>
            </p:nvSpPr>
            <p:spPr>
              <a:xfrm>
                <a:off x="411480" y="2792800"/>
                <a:ext cx="11780520" cy="99540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1. Use </a:t>
                </a:r>
                <a:r>
                  <a:rPr lang="en-US" b="1" dirty="0">
                    <a:latin typeface="Times New Roman" panose="02020603050405020304" pitchFamily="18" charset="0"/>
                    <a:cs typeface="Times New Roman" panose="02020603050405020304" pitchFamily="18" charset="0"/>
                  </a:rPr>
                  <a:t>Central Limit Theorem</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sampling distribution of the sample mean will be approximately normal with:</a:t>
                </a:r>
              </a:p>
              <a:p>
                <a:pPr>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𝜇</m:t>
                          </m:r>
                        </m:e>
                        <m:sub>
                          <m:limUpp>
                            <m:limUppPr>
                              <m:ctrlPr>
                                <a:rPr lang="ar-AE" i="1">
                                  <a:latin typeface="Cambria Math" panose="02040503050406030204" pitchFamily="18" charset="0"/>
                                </a:rPr>
                              </m:ctrlPr>
                            </m:limUppPr>
                            <m:e>
                              <m:r>
                                <a:rPr lang="ar-AE" i="1">
                                  <a:latin typeface="Cambria Math" panose="02040503050406030204" pitchFamily="18" charset="0"/>
                                </a:rPr>
                                <m:t>𝑥</m:t>
                              </m:r>
                            </m:e>
                            <m:lim>
                              <m:r>
                                <a:rPr lang="ar-AE" i="0">
                                  <a:latin typeface="Cambria Math" panose="02040503050406030204" pitchFamily="18" charset="0"/>
                                </a:rPr>
                                <m:t>ˉ</m:t>
                              </m:r>
                            </m:lim>
                          </m:limUpp>
                        </m:sub>
                      </m:sSub>
                      <m:r>
                        <a:rPr lang="ar-AE" i="0">
                          <a:latin typeface="Cambria Math" panose="02040503050406030204" pitchFamily="18" charset="0"/>
                        </a:rPr>
                        <m:t>=</m:t>
                      </m:r>
                      <m:r>
                        <a:rPr lang="ar-AE" i="1">
                          <a:latin typeface="Cambria Math" panose="02040503050406030204" pitchFamily="18" charset="0"/>
                        </a:rPr>
                        <m:t>𝜇</m:t>
                      </m:r>
                      <m:r>
                        <a:rPr lang="ar-AE" i="0">
                          <a:latin typeface="Cambria Math" panose="02040503050406030204" pitchFamily="18" charset="0"/>
                        </a:rPr>
                        <m:t>=</m:t>
                      </m:r>
                      <m:r>
                        <a:rPr lang="ar-AE" i="0">
                          <a:latin typeface="Cambria Math" panose="02040503050406030204" pitchFamily="18" charset="0"/>
                        </a:rPr>
                        <m:t>1200</m:t>
                      </m:r>
                    </m:oMath>
                  </m:oMathPara>
                </a14:m>
                <a:endParaRPr lang="ar-AE" dirty="0">
                  <a:latin typeface="Times New Roman" panose="02020603050405020304" pitchFamily="18"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D6AACBE7-C13F-2FB5-5ECA-C707C391EECA}"/>
                  </a:ext>
                </a:extLst>
              </p:cNvPr>
              <p:cNvSpPr txBox="1">
                <a:spLocks noRot="1" noChangeAspect="1" noMove="1" noResize="1" noEditPoints="1" noAdjustHandles="1" noChangeArrowheads="1" noChangeShapeType="1" noTextEdit="1"/>
              </p:cNvSpPr>
              <p:nvPr/>
            </p:nvSpPr>
            <p:spPr>
              <a:xfrm>
                <a:off x="411480" y="2792800"/>
                <a:ext cx="11780520" cy="995401"/>
              </a:xfrm>
              <a:prstGeom prst="rect">
                <a:avLst/>
              </a:prstGeom>
              <a:blipFill>
                <a:blip r:embed="rId2"/>
                <a:stretch>
                  <a:fillRect l="-466" t="-30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06739D4-9252-633A-8CB6-88775A0B56DC}"/>
                  </a:ext>
                </a:extLst>
              </p:cNvPr>
              <p:cNvSpPr txBox="1"/>
              <p:nvPr/>
            </p:nvSpPr>
            <p:spPr>
              <a:xfrm>
                <a:off x="5500116" y="4032504"/>
                <a:ext cx="1001268" cy="616451"/>
              </a:xfrm>
              <a:prstGeom prst="rect">
                <a:avLst/>
              </a:prstGeom>
              <a:noFill/>
            </p:spPr>
            <p:txBody>
              <a:bodyPr wrap="square" lIns="0" tIns="0" rIns="0" bIns="0" rtlCol="0">
                <a:spAutoFit/>
              </a:bodyPr>
              <a:lstStyle/>
              <a:p>
                <a14:m>
                  <m:oMath xmlns:m="http://schemas.openxmlformats.org/officeDocument/2006/math">
                    <m:sSub>
                      <m:sSubPr>
                        <m:ctrlPr>
                          <a:rPr lang="en-US" sz="2800" i="1" smtClean="0">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𝜎</m:t>
                        </m:r>
                      </m:e>
                      <m:sub>
                        <m:r>
                          <a:rPr lang="en-US" sz="2800" b="0" i="1" smtClean="0">
                            <a:latin typeface="Cambria Math" panose="02040503050406030204" pitchFamily="18" charset="0"/>
                            <a:ea typeface="Cambria Math" panose="02040503050406030204" pitchFamily="18" charset="0"/>
                          </a:rPr>
                          <m:t>𝑥</m:t>
                        </m:r>
                        <m:r>
                          <a:rPr lang="en-US" sz="2800" b="0" i="1" smtClean="0">
                            <a:latin typeface="Cambria Math" panose="02040503050406030204" pitchFamily="18" charset="0"/>
                            <a:ea typeface="Cambria Math" panose="02040503050406030204" pitchFamily="18" charset="0"/>
                          </a:rPr>
                          <m:t>′</m:t>
                        </m:r>
                      </m:sub>
                    </m:sSub>
                  </m:oMath>
                </a14:m>
                <a:r>
                  <a:rPr lang="en-US" sz="2800" dirty="0">
                    <a:latin typeface="Times New Roman" panose="02020603050405020304" pitchFamily="18" charset="0"/>
                    <a:cs typeface="Times New Roman" panose="02020603050405020304" pitchFamily="18" charset="0"/>
                  </a:rPr>
                  <a:t>=</a:t>
                </a:r>
                <a14:m>
                  <m:oMath xmlns:m="http://schemas.openxmlformats.org/officeDocument/2006/math">
                    <m:f>
                      <m:fPr>
                        <m:ctrlPr>
                          <a:rPr lang="en-US" sz="2800" i="1" dirty="0" smtClean="0">
                            <a:latin typeface="Cambria Math" panose="02040503050406030204" pitchFamily="18" charset="0"/>
                          </a:rPr>
                        </m:ctrlPr>
                      </m:fPr>
                      <m:num>
                        <m:r>
                          <a:rPr lang="en-US" sz="2800" i="1" dirty="0" smtClean="0">
                            <a:latin typeface="Cambria Math" panose="02040503050406030204" pitchFamily="18" charset="0"/>
                            <a:ea typeface="Cambria Math" panose="02040503050406030204" pitchFamily="18" charset="0"/>
                          </a:rPr>
                          <m:t>𝜎</m:t>
                        </m:r>
                      </m:num>
                      <m:den>
                        <m:rad>
                          <m:radPr>
                            <m:degHide m:val="on"/>
                            <m:ctrlPr>
                              <a:rPr lang="en-US" sz="2800" i="1" dirty="0" smtClean="0">
                                <a:latin typeface="Cambria Math" panose="02040503050406030204" pitchFamily="18" charset="0"/>
                              </a:rPr>
                            </m:ctrlPr>
                          </m:radPr>
                          <m:deg/>
                          <m:e>
                            <m:r>
                              <a:rPr lang="en-US" sz="2800" b="0" i="1" dirty="0" smtClean="0">
                                <a:latin typeface="Cambria Math" panose="02040503050406030204" pitchFamily="18" charset="0"/>
                              </a:rPr>
                              <m:t>𝑛</m:t>
                            </m:r>
                          </m:e>
                        </m:rad>
                      </m:den>
                    </m:f>
                  </m:oMath>
                </a14:m>
                <a:endParaRPr lang="en-US" sz="2800" dirty="0">
                  <a:latin typeface="Times New Roman" panose="02020603050405020304" pitchFamily="18" charset="0"/>
                  <a:cs typeface="Times New Roman" panose="02020603050405020304" pitchFamily="18" charset="0"/>
                </a:endParaRPr>
              </a:p>
            </p:txBody>
          </p:sp>
        </mc:Choice>
        <mc:Fallback xmlns="">
          <p:sp>
            <p:nvSpPr>
              <p:cNvPr id="9" name="TextBox 8">
                <a:extLst>
                  <a:ext uri="{FF2B5EF4-FFF2-40B4-BE49-F238E27FC236}">
                    <a16:creationId xmlns:a16="http://schemas.microsoft.com/office/drawing/2014/main" id="{606739D4-9252-633A-8CB6-88775A0B56DC}"/>
                  </a:ext>
                </a:extLst>
              </p:cNvPr>
              <p:cNvSpPr txBox="1">
                <a:spLocks noRot="1" noChangeAspect="1" noMove="1" noResize="1" noEditPoints="1" noAdjustHandles="1" noChangeArrowheads="1" noChangeShapeType="1" noTextEdit="1"/>
              </p:cNvSpPr>
              <p:nvPr/>
            </p:nvSpPr>
            <p:spPr>
              <a:xfrm>
                <a:off x="5500116" y="4032504"/>
                <a:ext cx="1001268" cy="616451"/>
              </a:xfrm>
              <a:prstGeom prst="rect">
                <a:avLst/>
              </a:prstGeom>
              <a:blipFill>
                <a:blip r:embed="rId3"/>
                <a:stretch>
                  <a:fillRect t="-9901" b="-118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725F1FA-289F-9CE9-5E70-6005D784E2C6}"/>
                  </a:ext>
                </a:extLst>
              </p:cNvPr>
              <p:cNvSpPr txBox="1"/>
              <p:nvPr/>
            </p:nvSpPr>
            <p:spPr>
              <a:xfrm>
                <a:off x="6860286" y="4032504"/>
                <a:ext cx="2173986" cy="408253"/>
              </a:xfrm>
              <a:prstGeom prst="rect">
                <a:avLst/>
              </a:prstGeom>
              <a:noFill/>
            </p:spPr>
            <p:txBody>
              <a:bodyPr wrap="square">
                <a:spAutoFit/>
              </a:bodyPr>
              <a:lstStyle/>
              <a:p>
                <a:r>
                  <a:rPr lang="el-GR" dirty="0"/>
                  <a:t>​200</a:t>
                </a:r>
                <a:r>
                  <a:rPr lang="en-US" dirty="0"/>
                  <a:t>/</a:t>
                </a:r>
                <a14:m>
                  <m:oMath xmlns:m="http://schemas.openxmlformats.org/officeDocument/2006/math">
                    <m:rad>
                      <m:radPr>
                        <m:degHide m:val="on"/>
                        <m:ctrlPr>
                          <a:rPr lang="en-US" i="1" smtClean="0">
                            <a:latin typeface="Cambria Math" panose="02040503050406030204" pitchFamily="18" charset="0"/>
                          </a:rPr>
                        </m:ctrlPr>
                      </m:radPr>
                      <m:deg/>
                      <m:e>
                        <m:r>
                          <a:rPr lang="en-US" b="0" i="1" smtClean="0">
                            <a:latin typeface="Cambria Math" panose="02040503050406030204" pitchFamily="18" charset="0"/>
                          </a:rPr>
                          <m:t>64</m:t>
                        </m:r>
                      </m:e>
                    </m:rad>
                  </m:oMath>
                </a14:m>
                <a:r>
                  <a:rPr lang="el-GR" dirty="0"/>
                  <a:t>​=</a:t>
                </a:r>
                <a:r>
                  <a:rPr lang="en-US" dirty="0"/>
                  <a:t>200/8=25</a:t>
                </a:r>
              </a:p>
            </p:txBody>
          </p:sp>
        </mc:Choice>
        <mc:Fallback xmlns="">
          <p:sp>
            <p:nvSpPr>
              <p:cNvPr id="13" name="TextBox 12">
                <a:extLst>
                  <a:ext uri="{FF2B5EF4-FFF2-40B4-BE49-F238E27FC236}">
                    <a16:creationId xmlns:a16="http://schemas.microsoft.com/office/drawing/2014/main" id="{2725F1FA-289F-9CE9-5E70-6005D784E2C6}"/>
                  </a:ext>
                </a:extLst>
              </p:cNvPr>
              <p:cNvSpPr txBox="1">
                <a:spLocks noRot="1" noChangeAspect="1" noMove="1" noResize="1" noEditPoints="1" noAdjustHandles="1" noChangeArrowheads="1" noChangeShapeType="1" noTextEdit="1"/>
              </p:cNvSpPr>
              <p:nvPr/>
            </p:nvSpPr>
            <p:spPr>
              <a:xfrm>
                <a:off x="6860286" y="4032504"/>
                <a:ext cx="2173986" cy="408253"/>
              </a:xfrm>
              <a:prstGeom prst="rect">
                <a:avLst/>
              </a:prstGeom>
              <a:blipFill>
                <a:blip r:embed="rId4"/>
                <a:stretch>
                  <a:fillRect l="-2241" t="-4545" b="-21212"/>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C1324099-4EA0-1C38-F47B-403309CF3E37}"/>
              </a:ext>
            </a:extLst>
          </p:cNvPr>
          <p:cNvSpPr txBox="1"/>
          <p:nvPr/>
        </p:nvSpPr>
        <p:spPr>
          <a:xfrm>
            <a:off x="765810" y="4500394"/>
            <a:ext cx="6094476" cy="369332"/>
          </a:xfrm>
          <a:prstGeom prst="rect">
            <a:avLst/>
          </a:prstGeom>
          <a:noFill/>
        </p:spPr>
        <p:txBody>
          <a:bodyPr wrap="square">
            <a:spAutoFit/>
          </a:bodyPr>
          <a:lstStyle/>
          <a:p>
            <a:r>
              <a:rPr lang="en-US" dirty="0"/>
              <a:t>Convert to </a:t>
            </a:r>
            <a:r>
              <a:rPr lang="en-US" b="1" dirty="0"/>
              <a:t>Z-score</a:t>
            </a:r>
            <a:endParaRPr lang="en-US" dirty="0"/>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0986826-3EE4-B8EA-9E14-AB931DCF720D}"/>
                  </a:ext>
                </a:extLst>
              </p:cNvPr>
              <p:cNvSpPr txBox="1"/>
              <p:nvPr/>
            </p:nvSpPr>
            <p:spPr>
              <a:xfrm>
                <a:off x="1236726" y="4999090"/>
                <a:ext cx="4972050" cy="923651"/>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Z=</a:t>
                </a:r>
                <a14:m>
                  <m:oMath xmlns:m="http://schemas.openxmlformats.org/officeDocument/2006/math">
                    <m:f>
                      <m:fPr>
                        <m:ctrlPr>
                          <a:rPr lang="ar-AE" sz="2800" i="1" smtClean="0">
                            <a:latin typeface="Cambria Math" panose="02040503050406030204" pitchFamily="18" charset="0"/>
                          </a:rPr>
                        </m:ctrlPr>
                      </m:fPr>
                      <m:num>
                        <m:limUpp>
                          <m:limUppPr>
                            <m:ctrlPr>
                              <a:rPr lang="ar-AE" sz="2800" i="1">
                                <a:latin typeface="Cambria Math" panose="02040503050406030204" pitchFamily="18" charset="0"/>
                              </a:rPr>
                            </m:ctrlPr>
                          </m:limUppPr>
                          <m:e>
                            <m:r>
                              <a:rPr lang="ar-AE" sz="2800" i="1">
                                <a:latin typeface="Cambria Math" panose="02040503050406030204" pitchFamily="18" charset="0"/>
                              </a:rPr>
                              <m:t>𝑥</m:t>
                            </m:r>
                          </m:e>
                          <m:lim>
                            <m:r>
                              <a:rPr lang="ar-AE" sz="2800" i="0">
                                <a:latin typeface="Cambria Math" panose="02040503050406030204" pitchFamily="18" charset="0"/>
                              </a:rPr>
                              <m:t>ˉ</m:t>
                            </m:r>
                          </m:lim>
                        </m:limUpp>
                        <m:r>
                          <a:rPr lang="ar-AE" sz="2800" i="0">
                            <a:latin typeface="Cambria Math" panose="02040503050406030204" pitchFamily="18" charset="0"/>
                          </a:rPr>
                          <m:t>−</m:t>
                        </m:r>
                        <m:r>
                          <a:rPr lang="ar-AE" sz="2800" i="1">
                            <a:latin typeface="Cambria Math" panose="02040503050406030204" pitchFamily="18" charset="0"/>
                          </a:rPr>
                          <m:t>𝜇</m:t>
                        </m:r>
                      </m:num>
                      <m:den>
                        <m:r>
                          <a:rPr lang="en-US" sz="2800" i="1">
                            <a:latin typeface="Cambria Math" panose="02040503050406030204" pitchFamily="18" charset="0"/>
                            <a:ea typeface="Cambria Math" panose="02040503050406030204" pitchFamily="18" charset="0"/>
                          </a:rPr>
                          <m:t>𝜎</m:t>
                        </m:r>
                        <m:r>
                          <a:rPr lang="ar-AE" sz="2800" i="0">
                            <a:latin typeface="Cambria Math" panose="02040503050406030204" pitchFamily="18" charset="0"/>
                          </a:rPr>
                          <m:t>/</m:t>
                        </m:r>
                        <m:rad>
                          <m:radPr>
                            <m:degHide m:val="on"/>
                            <m:ctrlPr>
                              <a:rPr lang="ar-AE" sz="2800" i="1">
                                <a:latin typeface="Cambria Math" panose="02040503050406030204" pitchFamily="18" charset="0"/>
                              </a:rPr>
                            </m:ctrlPr>
                          </m:radPr>
                          <m:deg/>
                          <m:e>
                            <m:r>
                              <a:rPr lang="ar-AE" sz="2800" i="1">
                                <a:latin typeface="Cambria Math" panose="02040503050406030204" pitchFamily="18" charset="0"/>
                              </a:rPr>
                              <m:t>𝑛</m:t>
                            </m:r>
                          </m:e>
                        </m:rad>
                      </m:den>
                    </m:f>
                    <m:r>
                      <m:rPr>
                        <m:nor/>
                      </m:rPr>
                      <a:rPr lang="en-US" sz="2800" b="0" i="0" smtClean="0">
                        <a:latin typeface="Cambria Math" panose="02040503050406030204" pitchFamily="18" charset="0"/>
                      </a:rPr>
                      <m:t>    </m:t>
                    </m:r>
                    <m:r>
                      <m:rPr>
                        <m:nor/>
                      </m:rPr>
                      <a:rPr lang="en-US" sz="2800"/>
                      <m:t>Z</m:t>
                    </m:r>
                    <m:r>
                      <m:rPr>
                        <m:nor/>
                      </m:rPr>
                      <a:rPr lang="en-US" sz="2800"/>
                      <m:t>=(</m:t>
                    </m:r>
                    <m:r>
                      <m:rPr>
                        <m:nor/>
                      </m:rPr>
                      <a:rPr lang="en-US" sz="2800"/>
                      <m:t>1250</m:t>
                    </m:r>
                    <m:r>
                      <m:rPr>
                        <m:nor/>
                      </m:rPr>
                      <a:rPr lang="en-US" sz="2800"/>
                      <m:t>−</m:t>
                    </m:r>
                    <m:r>
                      <m:rPr>
                        <m:nor/>
                      </m:rPr>
                      <a:rPr lang="en-US" sz="2800"/>
                      <m:t>1200</m:t>
                    </m:r>
                    <m:r>
                      <m:rPr>
                        <m:nor/>
                      </m:rPr>
                      <a:rPr lang="en-US" sz="2800" b="0" i="0" smtClean="0"/>
                      <m:t>)/</m:t>
                    </m:r>
                    <m:r>
                      <m:rPr>
                        <m:nor/>
                      </m:rPr>
                      <a:rPr lang="en-US" sz="2800" b="0" i="0" smtClean="0"/>
                      <m:t>25</m:t>
                    </m:r>
                    <m:r>
                      <m:rPr>
                        <m:nor/>
                      </m:rPr>
                      <a:rPr lang="en-US" sz="2800" b="0" i="0" smtClean="0"/>
                      <m:t>= </m:t>
                    </m:r>
                    <m:r>
                      <m:rPr>
                        <m:nor/>
                      </m:rPr>
                      <a:rPr lang="en-US" sz="2800" b="0" i="0" smtClean="0"/>
                      <m:t>2​</m:t>
                    </m:r>
                  </m:oMath>
                </a14:m>
                <a:endParaRPr lang="en-US" sz="2800" dirty="0">
                  <a:latin typeface="Times New Roman" panose="02020603050405020304" pitchFamily="18" charset="0"/>
                  <a:cs typeface="Times New Roman" panose="02020603050405020304" pitchFamily="18" charset="0"/>
                </a:endParaRPr>
              </a:p>
            </p:txBody>
          </p:sp>
        </mc:Choice>
        <mc:Fallback xmlns="">
          <p:sp>
            <p:nvSpPr>
              <p:cNvPr id="17" name="TextBox 16">
                <a:extLst>
                  <a:ext uri="{FF2B5EF4-FFF2-40B4-BE49-F238E27FC236}">
                    <a16:creationId xmlns:a16="http://schemas.microsoft.com/office/drawing/2014/main" id="{70986826-3EE4-B8EA-9E14-AB931DCF720D}"/>
                  </a:ext>
                </a:extLst>
              </p:cNvPr>
              <p:cNvSpPr txBox="1">
                <a:spLocks noRot="1" noChangeAspect="1" noMove="1" noResize="1" noEditPoints="1" noAdjustHandles="1" noChangeArrowheads="1" noChangeShapeType="1" noTextEdit="1"/>
              </p:cNvSpPr>
              <p:nvPr/>
            </p:nvSpPr>
            <p:spPr>
              <a:xfrm>
                <a:off x="1236726" y="4999090"/>
                <a:ext cx="4972050" cy="923651"/>
              </a:xfrm>
              <a:prstGeom prst="rect">
                <a:avLst/>
              </a:prstGeom>
              <a:blipFill>
                <a:blip r:embed="rId5"/>
                <a:stretch>
                  <a:fillRect l="-2574"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3B811CBE-B50B-0602-9C9C-2E1C10391A44}"/>
                  </a:ext>
                </a:extLst>
              </p:cNvPr>
              <p:cNvSpPr txBox="1"/>
              <p:nvPr/>
            </p:nvSpPr>
            <p:spPr>
              <a:xfrm>
                <a:off x="6501384" y="4708592"/>
                <a:ext cx="2962656" cy="830997"/>
              </a:xfrm>
              <a:prstGeom prst="rect">
                <a:avLst/>
              </a:prstGeom>
              <a:noFill/>
            </p:spPr>
            <p:txBody>
              <a:bodyPr wrap="square">
                <a:spAutoFit/>
              </a:bodyPr>
              <a:lstStyle/>
              <a:p>
                <a:pPr>
                  <a:buFont typeface="+mj-lt"/>
                  <a:buAutoNum type="arabicPeriod" startAt="4"/>
                </a:pPr>
                <a:r>
                  <a:rPr lang="en-US" sz="2400" dirty="0">
                    <a:latin typeface="Times New Roman" panose="02020603050405020304" pitchFamily="18" charset="0"/>
                    <a:cs typeface="Times New Roman" panose="02020603050405020304" pitchFamily="18" charset="0"/>
                  </a:rPr>
                  <a:t>From the </a:t>
                </a:r>
                <a:r>
                  <a:rPr lang="en-US" sz="2400" b="1" dirty="0">
                    <a:latin typeface="Times New Roman" panose="02020603050405020304" pitchFamily="18" charset="0"/>
                    <a:cs typeface="Times New Roman" panose="02020603050405020304" pitchFamily="18" charset="0"/>
                  </a:rPr>
                  <a:t>Z-table</a:t>
                </a:r>
                <a:endParaRPr lang="en-US" sz="2400" dirty="0">
                  <a:latin typeface="Times New Roman" panose="02020603050405020304" pitchFamily="18" charset="0"/>
                  <a:cs typeface="Times New Roman" panose="02020603050405020304" pitchFamily="18" charset="0"/>
                </a:endParaRPr>
              </a:p>
              <a:p>
                <a:pPr>
                  <a:buNone/>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𝑃</m:t>
                      </m:r>
                      <m:d>
                        <m:dPr>
                          <m:ctrlPr>
                            <a:rPr lang="ar-AE" sz="2400" i="1">
                              <a:latin typeface="Cambria Math" panose="02040503050406030204" pitchFamily="18" charset="0"/>
                            </a:rPr>
                          </m:ctrlPr>
                        </m:dPr>
                        <m:e>
                          <m:r>
                            <a:rPr lang="ar-AE" sz="2400" i="1">
                              <a:latin typeface="Cambria Math" panose="02040503050406030204" pitchFamily="18" charset="0"/>
                            </a:rPr>
                            <m:t>𝑍</m:t>
                          </m:r>
                          <m:r>
                            <a:rPr lang="ar-AE" sz="2400" i="0">
                              <a:latin typeface="Cambria Math" panose="02040503050406030204" pitchFamily="18" charset="0"/>
                            </a:rPr>
                            <m:t>&gt;</m:t>
                          </m:r>
                          <m:r>
                            <a:rPr lang="ar-AE" sz="2400" i="0">
                              <a:latin typeface="Cambria Math" panose="02040503050406030204" pitchFamily="18" charset="0"/>
                            </a:rPr>
                            <m:t>2</m:t>
                          </m:r>
                        </m:e>
                      </m:d>
                      <m:r>
                        <a:rPr lang="ar-AE" sz="2400" i="0">
                          <a:latin typeface="Cambria Math" panose="02040503050406030204" pitchFamily="18" charset="0"/>
                        </a:rPr>
                        <m:t>=</m:t>
                      </m:r>
                      <m:r>
                        <a:rPr lang="ar-AE" sz="2400" i="0">
                          <a:latin typeface="Cambria Math" panose="02040503050406030204" pitchFamily="18" charset="0"/>
                        </a:rPr>
                        <m:t>0</m:t>
                      </m:r>
                      <m:r>
                        <a:rPr lang="ar-AE" sz="2400" i="0">
                          <a:latin typeface="Cambria Math" panose="02040503050406030204" pitchFamily="18" charset="0"/>
                        </a:rPr>
                        <m:t>.</m:t>
                      </m:r>
                      <m:r>
                        <a:rPr lang="ar-AE" sz="2400" i="0">
                          <a:latin typeface="Cambria Math" panose="02040503050406030204" pitchFamily="18" charset="0"/>
                        </a:rPr>
                        <m:t>0228</m:t>
                      </m:r>
                    </m:oMath>
                  </m:oMathPara>
                </a14:m>
                <a:endParaRPr lang="ar-AE" sz="2400" dirty="0">
                  <a:latin typeface="Times New Roman" panose="02020603050405020304" pitchFamily="18" charset="0"/>
                  <a:cs typeface="Times New Roman" panose="02020603050405020304" pitchFamily="18" charset="0"/>
                </a:endParaRPr>
              </a:p>
            </p:txBody>
          </p:sp>
        </mc:Choice>
        <mc:Fallback xmlns="">
          <p:sp>
            <p:nvSpPr>
              <p:cNvPr id="21" name="TextBox 20">
                <a:extLst>
                  <a:ext uri="{FF2B5EF4-FFF2-40B4-BE49-F238E27FC236}">
                    <a16:creationId xmlns:a16="http://schemas.microsoft.com/office/drawing/2014/main" id="{3B811CBE-B50B-0602-9C9C-2E1C10391A44}"/>
                  </a:ext>
                </a:extLst>
              </p:cNvPr>
              <p:cNvSpPr txBox="1">
                <a:spLocks noRot="1" noChangeAspect="1" noMove="1" noResize="1" noEditPoints="1" noAdjustHandles="1" noChangeArrowheads="1" noChangeShapeType="1" noTextEdit="1"/>
              </p:cNvSpPr>
              <p:nvPr/>
            </p:nvSpPr>
            <p:spPr>
              <a:xfrm>
                <a:off x="6501384" y="4708592"/>
                <a:ext cx="2962656" cy="830997"/>
              </a:xfrm>
              <a:prstGeom prst="rect">
                <a:avLst/>
              </a:prstGeom>
              <a:blipFill>
                <a:blip r:embed="rId6"/>
                <a:stretch>
                  <a:fillRect l="-2881" t="-5839"/>
                </a:stretch>
              </a:blipFill>
            </p:spPr>
            <p:txBody>
              <a:bodyPr/>
              <a:lstStyle/>
              <a:p>
                <a:r>
                  <a:rPr lang="en-US">
                    <a:noFill/>
                  </a:rPr>
                  <a:t> </a:t>
                </a:r>
              </a:p>
            </p:txBody>
          </p:sp>
        </mc:Fallback>
      </mc:AlternateContent>
      <p:sp>
        <p:nvSpPr>
          <p:cNvPr id="23" name="TextBox 22">
            <a:extLst>
              <a:ext uri="{FF2B5EF4-FFF2-40B4-BE49-F238E27FC236}">
                <a16:creationId xmlns:a16="http://schemas.microsoft.com/office/drawing/2014/main" id="{E211CEB3-5F73-C569-8F57-719E0083A95F}"/>
              </a:ext>
            </a:extLst>
          </p:cNvPr>
          <p:cNvSpPr txBox="1"/>
          <p:nvPr/>
        </p:nvSpPr>
        <p:spPr>
          <a:xfrm>
            <a:off x="6649974" y="5760933"/>
            <a:ext cx="4478274" cy="923330"/>
          </a:xfrm>
          <a:prstGeom prst="rect">
            <a:avLst/>
          </a:prstGeom>
          <a:noFill/>
        </p:spPr>
        <p:txBody>
          <a:bodyPr wrap="square">
            <a:spAutoFit/>
          </a:bodyPr>
          <a:lstStyle/>
          <a:p>
            <a:r>
              <a:rPr lang="en-US" dirty="0"/>
              <a:t>So, there is about 2.28% probability that the sample mean lifetime of the 64 bulbs exceeds 1250 hours.</a:t>
            </a:r>
          </a:p>
        </p:txBody>
      </p:sp>
    </p:spTree>
    <p:extLst>
      <p:ext uri="{BB962C8B-B14F-4D97-AF65-F5344CB8AC3E}">
        <p14:creationId xmlns:p14="http://schemas.microsoft.com/office/powerpoint/2010/main" val="962587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8B1362-54B3-E029-EBAE-3CE4172C88A9}"/>
              </a:ext>
            </a:extLst>
          </p:cNvPr>
          <p:cNvSpPr>
            <a:spLocks noGrp="1"/>
          </p:cNvSpPr>
          <p:nvPr>
            <p:ph idx="1"/>
          </p:nvPr>
        </p:nvSpPr>
        <p:spPr>
          <a:xfrm>
            <a:off x="573024" y="481456"/>
            <a:ext cx="11195304" cy="6193663"/>
          </a:xfrm>
        </p:spPr>
        <p:txBody>
          <a:bodyPr>
            <a:normAutofit/>
          </a:bodyPr>
          <a:lstStyle/>
          <a:p>
            <a:pPr marL="0" indent="0">
              <a:buNone/>
            </a:pPr>
            <a:r>
              <a:rPr lang="en-US" b="1" dirty="0">
                <a:highlight>
                  <a:srgbClr val="00FFFF"/>
                </a:highlight>
                <a:latin typeface="Times New Roman" panose="02020603050405020304" pitchFamily="18" charset="0"/>
                <a:cs typeface="Times New Roman" panose="02020603050405020304" pitchFamily="18" charset="0"/>
              </a:rPr>
              <a:t>Hypothesis Testing</a:t>
            </a:r>
          </a:p>
          <a:p>
            <a:pPr marL="0" indent="0">
              <a:buNone/>
            </a:pPr>
            <a:r>
              <a:rPr lang="en-US" dirty="0">
                <a:latin typeface="Times New Roman" panose="02020603050405020304" pitchFamily="18" charset="0"/>
                <a:cs typeface="Times New Roman" panose="02020603050405020304" pitchFamily="18" charset="0"/>
              </a:rPr>
              <a:t>A hypothesis is simply a testable statement about a population parameter that we verify using sample data.</a:t>
            </a:r>
            <a:endParaRPr lang="en-US" dirty="0">
              <a:highlight>
                <a:srgbClr val="FFFF00"/>
              </a:highlight>
              <a:latin typeface="Times New Roman" panose="02020603050405020304" pitchFamily="18" charset="0"/>
              <a:cs typeface="Times New Roman" panose="02020603050405020304" pitchFamily="18" charset="0"/>
            </a:endParaRPr>
          </a:p>
          <a:p>
            <a:pPr marL="0" indent="0">
              <a:buNone/>
            </a:pPr>
            <a:r>
              <a:rPr lang="en-US" b="1" dirty="0">
                <a:highlight>
                  <a:srgbClr val="FFFF00"/>
                </a:highlight>
                <a:latin typeface="Times New Roman" panose="02020603050405020304" pitchFamily="18" charset="0"/>
                <a:cs typeface="Times New Roman" panose="02020603050405020304" pitchFamily="18" charset="0"/>
              </a:rPr>
              <a:t>Definition. </a:t>
            </a:r>
            <a:r>
              <a:rPr lang="en-US" dirty="0">
                <a:latin typeface="Times New Roman" panose="02020603050405020304" pitchFamily="18" charset="0"/>
                <a:cs typeface="Times New Roman" panose="02020603050405020304" pitchFamily="18" charset="0"/>
              </a:rPr>
              <a:t>A hypothesis is a statement about a population parameter that can be tested using sample data.</a:t>
            </a:r>
          </a:p>
          <a:p>
            <a:pPr marL="0" indent="0">
              <a:buNone/>
            </a:pPr>
            <a:r>
              <a:rPr lang="en-US" dirty="0">
                <a:latin typeface="Times New Roman" panose="02020603050405020304" pitchFamily="18" charset="0"/>
                <a:cs typeface="Times New Roman" panose="02020603050405020304" pitchFamily="18" charset="0"/>
              </a:rPr>
              <a:t>A statistical hypothesis is an assumption or claim about a population parameter such as:</a:t>
            </a:r>
          </a:p>
          <a:p>
            <a:pPr lvl="1"/>
            <a:r>
              <a:rPr lang="en-US" dirty="0">
                <a:latin typeface="Times New Roman" panose="02020603050405020304" pitchFamily="18" charset="0"/>
                <a:cs typeface="Times New Roman" panose="02020603050405020304" pitchFamily="18" charset="0"/>
              </a:rPr>
              <a:t>population mean (μ)</a:t>
            </a:r>
          </a:p>
          <a:p>
            <a:pPr lvl="1"/>
            <a:r>
              <a:rPr lang="en-US" dirty="0">
                <a:latin typeface="Times New Roman" panose="02020603050405020304" pitchFamily="18" charset="0"/>
                <a:cs typeface="Times New Roman" panose="02020603050405020304" pitchFamily="18" charset="0"/>
              </a:rPr>
              <a:t>population proportion (p)</a:t>
            </a:r>
          </a:p>
          <a:p>
            <a:pPr lvl="1"/>
            <a:r>
              <a:rPr lang="en-US" dirty="0">
                <a:latin typeface="Times New Roman" panose="02020603050405020304" pitchFamily="18" charset="0"/>
                <a:cs typeface="Times New Roman" panose="02020603050405020304" pitchFamily="18" charset="0"/>
              </a:rPr>
              <a:t>population variance (σ²)</a:t>
            </a:r>
          </a:p>
          <a:p>
            <a:r>
              <a:rPr lang="en-US" dirty="0">
                <a:latin typeface="Times New Roman" panose="02020603050405020304" pitchFamily="18" charset="0"/>
                <a:cs typeface="Times New Roman" panose="02020603050405020304" pitchFamily="18" charset="0"/>
              </a:rPr>
              <a:t>Since it is usually impossible to study an entire population, we collect a sample and use statistical tests to determine whether the claim about the population is likely true.</a:t>
            </a:r>
          </a:p>
          <a:p>
            <a:pPr marL="0" indent="0">
              <a:buNone/>
            </a:pPr>
            <a:endParaRPr lang="en-US" dirty="0">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3195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455551-BA1E-4717-0DB0-74DDEF212648}"/>
              </a:ext>
            </a:extLst>
          </p:cNvPr>
          <p:cNvSpPr>
            <a:spLocks noGrp="1"/>
          </p:cNvSpPr>
          <p:nvPr>
            <p:ph idx="1"/>
          </p:nvPr>
        </p:nvSpPr>
        <p:spPr>
          <a:xfrm>
            <a:off x="609600" y="326009"/>
            <a:ext cx="11378184" cy="4063112"/>
          </a:xfrm>
        </p:spPr>
        <p:txBody>
          <a:bodyPr/>
          <a:lstStyle/>
          <a:p>
            <a:pPr marL="0" indent="0">
              <a:buNone/>
            </a:pPr>
            <a:r>
              <a:rPr lang="en-US" dirty="0">
                <a:highlight>
                  <a:srgbClr val="00FFFF"/>
                </a:highlight>
              </a:rPr>
              <a:t>Why is Hypothesis needed</a:t>
            </a:r>
          </a:p>
          <a:p>
            <a:pPr marL="0" indent="0">
              <a:buNone/>
            </a:pPr>
            <a:r>
              <a:rPr lang="en-US" dirty="0">
                <a:latin typeface="Times New Roman" panose="02020603050405020304" pitchFamily="18" charset="0"/>
                <a:cs typeface="Times New Roman" panose="02020603050405020304" pitchFamily="18" charset="0"/>
              </a:rPr>
              <a:t>In real life we constantly test claims. Examples</a:t>
            </a:r>
          </a:p>
        </p:txBody>
      </p:sp>
      <p:graphicFrame>
        <p:nvGraphicFramePr>
          <p:cNvPr id="4" name="Table 3">
            <a:extLst>
              <a:ext uri="{FF2B5EF4-FFF2-40B4-BE49-F238E27FC236}">
                <a16:creationId xmlns:a16="http://schemas.microsoft.com/office/drawing/2014/main" id="{DD721F17-DD79-8208-7080-2698ED344070}"/>
              </a:ext>
            </a:extLst>
          </p:cNvPr>
          <p:cNvGraphicFramePr>
            <a:graphicFrameLocks noGrp="1"/>
          </p:cNvGraphicFramePr>
          <p:nvPr>
            <p:extLst>
              <p:ext uri="{D42A27DB-BD31-4B8C-83A1-F6EECF244321}">
                <p14:modId xmlns:p14="http://schemas.microsoft.com/office/powerpoint/2010/main" val="3742807184"/>
              </p:ext>
            </p:extLst>
          </p:nvPr>
        </p:nvGraphicFramePr>
        <p:xfrm>
          <a:off x="329184" y="1572768"/>
          <a:ext cx="10835640" cy="2606040"/>
        </p:xfrm>
        <a:graphic>
          <a:graphicData uri="http://schemas.openxmlformats.org/drawingml/2006/table">
            <a:tbl>
              <a:tblPr/>
              <a:tblGrid>
                <a:gridCol w="5417820">
                  <a:extLst>
                    <a:ext uri="{9D8B030D-6E8A-4147-A177-3AD203B41FA5}">
                      <a16:colId xmlns:a16="http://schemas.microsoft.com/office/drawing/2014/main" val="3605755655"/>
                    </a:ext>
                  </a:extLst>
                </a:gridCol>
                <a:gridCol w="5417820">
                  <a:extLst>
                    <a:ext uri="{9D8B030D-6E8A-4147-A177-3AD203B41FA5}">
                      <a16:colId xmlns:a16="http://schemas.microsoft.com/office/drawing/2014/main" val="1739757072"/>
                    </a:ext>
                  </a:extLst>
                </a:gridCol>
              </a:tblGrid>
              <a:tr h="521208">
                <a:tc>
                  <a:txBody>
                    <a:bodyPr/>
                    <a:lstStyle/>
                    <a:p>
                      <a:pPr algn="ctr">
                        <a:buNone/>
                      </a:pPr>
                      <a:r>
                        <a:rPr lang="en-US" sz="2400" b="1" dirty="0">
                          <a:latin typeface="Times New Roman" panose="02020603050405020304" pitchFamily="18" charset="0"/>
                          <a:cs typeface="Times New Roman" panose="02020603050405020304" pitchFamily="18" charset="0"/>
                        </a:rPr>
                        <a:t>Situation</a:t>
                      </a:r>
                    </a:p>
                  </a:txBody>
                  <a:tcPr anchor="ctr">
                    <a:lnL>
                      <a:noFill/>
                    </a:lnL>
                    <a:lnR>
                      <a:noFill/>
                    </a:lnR>
                    <a:lnT>
                      <a:noFill/>
                    </a:lnT>
                    <a:lnB>
                      <a:noFill/>
                    </a:lnB>
                    <a:noFill/>
                  </a:tcPr>
                </a:tc>
                <a:tc>
                  <a:txBody>
                    <a:bodyPr/>
                    <a:lstStyle/>
                    <a:p>
                      <a:pPr algn="ctr">
                        <a:buNone/>
                      </a:pPr>
                      <a:r>
                        <a:rPr lang="en-US" sz="2400" b="1" dirty="0">
                          <a:latin typeface="Times New Roman" panose="02020603050405020304" pitchFamily="18" charset="0"/>
                          <a:cs typeface="Times New Roman" panose="02020603050405020304" pitchFamily="18" charset="0"/>
                        </a:rPr>
                        <a:t>Hypothesis</a:t>
                      </a:r>
                    </a:p>
                  </a:txBody>
                  <a:tcPr anchor="ctr">
                    <a:lnL>
                      <a:noFill/>
                    </a:lnL>
                    <a:lnR>
                      <a:noFill/>
                    </a:lnR>
                    <a:lnT>
                      <a:noFill/>
                    </a:lnT>
                    <a:lnB>
                      <a:noFill/>
                    </a:lnB>
                    <a:noFill/>
                  </a:tcPr>
                </a:tc>
                <a:extLst>
                  <a:ext uri="{0D108BD9-81ED-4DB2-BD59-A6C34878D82A}">
                    <a16:rowId xmlns:a16="http://schemas.microsoft.com/office/drawing/2014/main" val="285027270"/>
                  </a:ext>
                </a:extLst>
              </a:tr>
              <a:tr h="521208">
                <a:tc>
                  <a:txBody>
                    <a:bodyPr/>
                    <a:lstStyle/>
                    <a:p>
                      <a:pPr algn="ctr">
                        <a:buNone/>
                      </a:pPr>
                      <a:r>
                        <a:rPr lang="en-US" sz="2400" dirty="0">
                          <a:highlight>
                            <a:srgbClr val="FFFF00"/>
                          </a:highlight>
                          <a:latin typeface="Times New Roman" panose="02020603050405020304" pitchFamily="18" charset="0"/>
                          <a:cs typeface="Times New Roman" panose="02020603050405020304" pitchFamily="18" charset="0"/>
                        </a:rPr>
                        <a:t>Medicine</a:t>
                      </a:r>
                    </a:p>
                  </a:txBody>
                  <a:tcPr anchor="ctr">
                    <a:lnL>
                      <a:noFill/>
                    </a:lnL>
                    <a:lnR>
                      <a:noFill/>
                    </a:lnR>
                    <a:lnT>
                      <a:noFill/>
                    </a:lnT>
                    <a:lnB>
                      <a:noFill/>
                    </a:lnB>
                    <a:noFill/>
                  </a:tcPr>
                </a:tc>
                <a:tc>
                  <a:txBody>
                    <a:bodyPr/>
                    <a:lstStyle/>
                    <a:p>
                      <a:pPr algn="ctr">
                        <a:buNone/>
                      </a:pPr>
                      <a:r>
                        <a:rPr lang="en-US" sz="2400" dirty="0">
                          <a:highlight>
                            <a:srgbClr val="FFFF00"/>
                          </a:highlight>
                          <a:latin typeface="Times New Roman" panose="02020603050405020304" pitchFamily="18" charset="0"/>
                          <a:cs typeface="Times New Roman" panose="02020603050405020304" pitchFamily="18" charset="0"/>
                        </a:rPr>
                        <a:t>A new drug (D1) cures disease faster</a:t>
                      </a:r>
                    </a:p>
                  </a:txBody>
                  <a:tcPr anchor="ctr">
                    <a:lnL>
                      <a:noFill/>
                    </a:lnL>
                    <a:lnR>
                      <a:noFill/>
                    </a:lnR>
                    <a:lnT>
                      <a:noFill/>
                    </a:lnT>
                    <a:lnB>
                      <a:noFill/>
                    </a:lnB>
                    <a:noFill/>
                  </a:tcPr>
                </a:tc>
                <a:extLst>
                  <a:ext uri="{0D108BD9-81ED-4DB2-BD59-A6C34878D82A}">
                    <a16:rowId xmlns:a16="http://schemas.microsoft.com/office/drawing/2014/main" val="2745672037"/>
                  </a:ext>
                </a:extLst>
              </a:tr>
              <a:tr h="521208">
                <a:tc>
                  <a:txBody>
                    <a:bodyPr/>
                    <a:lstStyle/>
                    <a:p>
                      <a:pPr algn="ctr">
                        <a:buNone/>
                      </a:pPr>
                      <a:r>
                        <a:rPr lang="en-US" sz="2400">
                          <a:latin typeface="Times New Roman" panose="02020603050405020304" pitchFamily="18" charset="0"/>
                          <a:cs typeface="Times New Roman" panose="02020603050405020304" pitchFamily="18" charset="0"/>
                        </a:rPr>
                        <a:t>Education</a:t>
                      </a:r>
                    </a:p>
                  </a:txBody>
                  <a:tcPr anchor="ctr">
                    <a:lnL>
                      <a:noFill/>
                    </a:lnL>
                    <a:lnR>
                      <a:noFill/>
                    </a:lnR>
                    <a:lnT>
                      <a:noFill/>
                    </a:lnT>
                    <a:lnB>
                      <a:noFill/>
                    </a:lnB>
                    <a:noFill/>
                  </a:tcPr>
                </a:tc>
                <a:tc>
                  <a:txBody>
                    <a:bodyPr/>
                    <a:lstStyle/>
                    <a:p>
                      <a:pPr algn="ctr">
                        <a:buNone/>
                      </a:pPr>
                      <a:r>
                        <a:rPr lang="en-US" sz="2400" dirty="0">
                          <a:latin typeface="Times New Roman" panose="02020603050405020304" pitchFamily="18" charset="0"/>
                          <a:cs typeface="Times New Roman" panose="02020603050405020304" pitchFamily="18" charset="0"/>
                        </a:rPr>
                        <a:t>Online learning improves performance</a:t>
                      </a:r>
                    </a:p>
                  </a:txBody>
                  <a:tcPr anchor="ctr">
                    <a:lnL>
                      <a:noFill/>
                    </a:lnL>
                    <a:lnR>
                      <a:noFill/>
                    </a:lnR>
                    <a:lnT>
                      <a:noFill/>
                    </a:lnT>
                    <a:lnB>
                      <a:noFill/>
                    </a:lnB>
                    <a:noFill/>
                  </a:tcPr>
                </a:tc>
                <a:extLst>
                  <a:ext uri="{0D108BD9-81ED-4DB2-BD59-A6C34878D82A}">
                    <a16:rowId xmlns:a16="http://schemas.microsoft.com/office/drawing/2014/main" val="1873964398"/>
                  </a:ext>
                </a:extLst>
              </a:tr>
              <a:tr h="521208">
                <a:tc>
                  <a:txBody>
                    <a:bodyPr/>
                    <a:lstStyle/>
                    <a:p>
                      <a:pPr algn="ctr">
                        <a:buNone/>
                      </a:pPr>
                      <a:r>
                        <a:rPr lang="en-US" sz="2400">
                          <a:solidFill>
                            <a:srgbClr val="FF0000"/>
                          </a:solidFill>
                          <a:latin typeface="Times New Roman" panose="02020603050405020304" pitchFamily="18" charset="0"/>
                          <a:cs typeface="Times New Roman" panose="02020603050405020304" pitchFamily="18" charset="0"/>
                        </a:rPr>
                        <a:t>Agriculture</a:t>
                      </a:r>
                    </a:p>
                  </a:txBody>
                  <a:tcPr anchor="ctr">
                    <a:lnL>
                      <a:noFill/>
                    </a:lnL>
                    <a:lnR>
                      <a:noFill/>
                    </a:lnR>
                    <a:lnT>
                      <a:noFill/>
                    </a:lnT>
                    <a:lnB>
                      <a:noFill/>
                    </a:lnB>
                    <a:noFill/>
                  </a:tcPr>
                </a:tc>
                <a:tc>
                  <a:txBody>
                    <a:bodyPr/>
                    <a:lstStyle/>
                    <a:p>
                      <a:pPr algn="ctr">
                        <a:buNone/>
                      </a:pPr>
                      <a:r>
                        <a:rPr lang="en-US" sz="2400" dirty="0">
                          <a:solidFill>
                            <a:srgbClr val="FF0000"/>
                          </a:solidFill>
                          <a:latin typeface="Times New Roman" panose="02020603050405020304" pitchFamily="18" charset="0"/>
                          <a:cs typeface="Times New Roman" panose="02020603050405020304" pitchFamily="18" charset="0"/>
                        </a:rPr>
                        <a:t>New fertilizer increases crop yield</a:t>
                      </a:r>
                    </a:p>
                  </a:txBody>
                  <a:tcPr anchor="ctr">
                    <a:lnL>
                      <a:noFill/>
                    </a:lnL>
                    <a:lnR>
                      <a:noFill/>
                    </a:lnR>
                    <a:lnT>
                      <a:noFill/>
                    </a:lnT>
                    <a:lnB>
                      <a:noFill/>
                    </a:lnB>
                    <a:noFill/>
                  </a:tcPr>
                </a:tc>
                <a:extLst>
                  <a:ext uri="{0D108BD9-81ED-4DB2-BD59-A6C34878D82A}">
                    <a16:rowId xmlns:a16="http://schemas.microsoft.com/office/drawing/2014/main" val="1930324021"/>
                  </a:ext>
                </a:extLst>
              </a:tr>
              <a:tr h="521208">
                <a:tc>
                  <a:txBody>
                    <a:bodyPr/>
                    <a:lstStyle/>
                    <a:p>
                      <a:pPr algn="ctr">
                        <a:buNone/>
                      </a:pPr>
                      <a:r>
                        <a:rPr lang="en-US" sz="2400">
                          <a:latin typeface="Times New Roman" panose="02020603050405020304" pitchFamily="18" charset="0"/>
                          <a:cs typeface="Times New Roman" panose="02020603050405020304" pitchFamily="18" charset="0"/>
                        </a:rPr>
                        <a:t>Business</a:t>
                      </a:r>
                    </a:p>
                  </a:txBody>
                  <a:tcPr anchor="ctr">
                    <a:lnL>
                      <a:noFill/>
                    </a:lnL>
                    <a:lnR>
                      <a:noFill/>
                    </a:lnR>
                    <a:lnT>
                      <a:noFill/>
                    </a:lnT>
                    <a:lnB>
                      <a:noFill/>
                    </a:lnB>
                    <a:noFill/>
                  </a:tcPr>
                </a:tc>
                <a:tc>
                  <a:txBody>
                    <a:bodyPr/>
                    <a:lstStyle/>
                    <a:p>
                      <a:pPr algn="ctr">
                        <a:buNone/>
                      </a:pPr>
                      <a:r>
                        <a:rPr lang="en-US" sz="2400" dirty="0">
                          <a:latin typeface="Times New Roman" panose="02020603050405020304" pitchFamily="18" charset="0"/>
                          <a:cs typeface="Times New Roman" panose="02020603050405020304" pitchFamily="18" charset="0"/>
                        </a:rPr>
                        <a:t>A new advertisement increases sales</a:t>
                      </a:r>
                    </a:p>
                  </a:txBody>
                  <a:tcPr anchor="ctr">
                    <a:lnL>
                      <a:noFill/>
                    </a:lnL>
                    <a:lnR>
                      <a:noFill/>
                    </a:lnR>
                    <a:lnT>
                      <a:noFill/>
                    </a:lnT>
                    <a:lnB>
                      <a:noFill/>
                    </a:lnB>
                    <a:noFill/>
                  </a:tcPr>
                </a:tc>
                <a:extLst>
                  <a:ext uri="{0D108BD9-81ED-4DB2-BD59-A6C34878D82A}">
                    <a16:rowId xmlns:a16="http://schemas.microsoft.com/office/drawing/2014/main" val="1850624481"/>
                  </a:ext>
                </a:extLst>
              </a:tr>
            </a:tbl>
          </a:graphicData>
        </a:graphic>
      </p:graphicFrame>
      <p:sp>
        <p:nvSpPr>
          <p:cNvPr id="6" name="TextBox 5">
            <a:extLst>
              <a:ext uri="{FF2B5EF4-FFF2-40B4-BE49-F238E27FC236}">
                <a16:creationId xmlns:a16="http://schemas.microsoft.com/office/drawing/2014/main" id="{E93FF606-DDEE-6EF3-1288-9218A8C3F742}"/>
              </a:ext>
            </a:extLst>
          </p:cNvPr>
          <p:cNvSpPr txBox="1"/>
          <p:nvPr/>
        </p:nvSpPr>
        <p:spPr>
          <a:xfrm>
            <a:off x="164592" y="4389121"/>
            <a:ext cx="11862816" cy="1077218"/>
          </a:xfrm>
          <a:prstGeom prst="rect">
            <a:avLst/>
          </a:prstGeom>
          <a:noFill/>
        </p:spPr>
        <p:txBody>
          <a:bodyPr wrap="square">
            <a:spAutoFit/>
          </a:bodyPr>
          <a:lstStyle/>
          <a:p>
            <a:r>
              <a:rPr lang="en-US" sz="3200" dirty="0">
                <a:latin typeface="Times New Roman" panose="02020603050405020304" pitchFamily="18" charset="0"/>
                <a:cs typeface="Times New Roman" panose="02020603050405020304" pitchFamily="18" charset="0"/>
              </a:rPr>
              <a:t>Since these claims cannot be verified with the entire population, we test them statistically using hypothesis testing.</a:t>
            </a:r>
          </a:p>
        </p:txBody>
      </p:sp>
    </p:spTree>
    <p:extLst>
      <p:ext uri="{BB962C8B-B14F-4D97-AF65-F5344CB8AC3E}">
        <p14:creationId xmlns:p14="http://schemas.microsoft.com/office/powerpoint/2010/main" val="20179496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CDEB1B0-AE2F-04A2-8844-604C6C2EFCDD}"/>
                  </a:ext>
                </a:extLst>
              </p:cNvPr>
              <p:cNvSpPr>
                <a:spLocks noGrp="1"/>
              </p:cNvSpPr>
              <p:nvPr>
                <p:ph idx="1"/>
              </p:nvPr>
            </p:nvSpPr>
            <p:spPr>
              <a:xfrm>
                <a:off x="499872" y="435736"/>
                <a:ext cx="11588496" cy="6175376"/>
              </a:xfrm>
            </p:spPr>
            <p:txBody>
              <a:bodyPr>
                <a:normAutofit/>
              </a:bodyPr>
              <a:lstStyle/>
              <a:p>
                <a:pPr marL="0" indent="0">
                  <a:buNone/>
                </a:pPr>
                <a:r>
                  <a:rPr lang="en-US" b="1" dirty="0">
                    <a:highlight>
                      <a:srgbClr val="00FFFF"/>
                    </a:highlight>
                  </a:rPr>
                  <a:t>Types of Hypothesis</a:t>
                </a:r>
              </a:p>
              <a:p>
                <a:pPr marL="0" indent="0">
                  <a:buNone/>
                </a:pPr>
                <a:r>
                  <a:rPr lang="en-US" dirty="0"/>
                  <a:t>There are two main types.</a:t>
                </a:r>
              </a:p>
              <a:p>
                <a:pPr marL="0" indent="0">
                  <a:buNone/>
                </a:pPr>
                <a:r>
                  <a:rPr lang="en-US" b="1" dirty="0"/>
                  <a:t>1.Null Hypothesis (H₀)</a:t>
                </a:r>
              </a:p>
              <a:p>
                <a:pPr lvl="1"/>
                <a:r>
                  <a:rPr lang="en-US" dirty="0"/>
                  <a:t>The null hypothesis represents no change, no difference, or no effect.</a:t>
                </a:r>
              </a:p>
              <a:p>
                <a:pPr lvl="1"/>
                <a:r>
                  <a:rPr lang="en-US" dirty="0"/>
                  <a:t>It is considered true initially until statistical evidence suggests otherwise.</a:t>
                </a:r>
              </a:p>
              <a:p>
                <a:pPr marL="457200" lvl="1" indent="0">
                  <a:buNone/>
                </a:pPr>
                <a:r>
                  <a:rPr lang="en-US" dirty="0">
                    <a:highlight>
                      <a:srgbClr val="FFFF00"/>
                    </a:highlight>
                  </a:rPr>
                  <a:t>Examples:</a:t>
                </a:r>
              </a:p>
              <a:p>
                <a:pPr lvl="1"/>
                <a:r>
                  <a:rPr lang="en-US" dirty="0"/>
                  <a:t>Average height of students is </a:t>
                </a:r>
                <a:r>
                  <a:rPr lang="en-US" dirty="0">
                    <a:highlight>
                      <a:srgbClr val="FFFF00"/>
                    </a:highlight>
                  </a:rPr>
                  <a:t>170 cm</a:t>
                </a:r>
              </a:p>
              <a:p>
                <a:pPr lvl="1"/>
                <a:r>
                  <a:rPr lang="en-US" dirty="0"/>
                  <a:t>New teaching method </a:t>
                </a:r>
                <a:r>
                  <a:rPr lang="en-US" dirty="0">
                    <a:highlight>
                      <a:srgbClr val="FFFF00"/>
                    </a:highlight>
                  </a:rPr>
                  <a:t>does not improve performance</a:t>
                </a:r>
              </a:p>
              <a:p>
                <a:pPr lvl="1"/>
                <a:r>
                  <a:rPr lang="en-US" dirty="0"/>
                  <a:t>Coin is fair</a:t>
                </a:r>
              </a:p>
              <a:p>
                <a:pPr marL="457200" lvl="1" indent="0">
                  <a:buNone/>
                </a:pPr>
                <a:r>
                  <a:rPr lang="en-US" dirty="0"/>
                  <a:t>                  Symbolically:</a:t>
                </a:r>
              </a:p>
              <a:p>
                <a:pPr marL="457200" lvl="1" indent="0" algn="ctr">
                  <a:buNone/>
                </a:pPr>
                <a14:m>
                  <m:oMathPara xmlns:m="http://schemas.openxmlformats.org/officeDocument/2006/math">
                    <m:oMathParaPr>
                      <m:jc m:val="centerGroup"/>
                    </m:oMathParaPr>
                    <m:oMath xmlns:m="http://schemas.openxmlformats.org/officeDocument/2006/math">
                      <m:sSub>
                        <m:sSubPr>
                          <m:ctrlPr>
                            <a:rPr lang="ar-AE" i="1" smtClean="0">
                              <a:latin typeface="Cambria Math" panose="02040503050406030204" pitchFamily="18" charset="0"/>
                            </a:rPr>
                          </m:ctrlPr>
                        </m:sSubPr>
                        <m:e>
                          <m:r>
                            <a:rPr lang="ar-AE" i="1">
                              <a:latin typeface="Cambria Math" panose="02040503050406030204" pitchFamily="18" charset="0"/>
                            </a:rPr>
                            <m:t>𝐻</m:t>
                          </m:r>
                        </m:e>
                        <m:sub>
                          <m:r>
                            <a:rPr lang="ar-AE">
                              <a:latin typeface="Cambria Math" panose="02040503050406030204" pitchFamily="18" charset="0"/>
                            </a:rPr>
                            <m:t>0</m:t>
                          </m:r>
                        </m:sub>
                      </m:sSub>
                    </m:oMath>
                  </m:oMathPara>
                </a14:m>
                <a:endParaRPr lang="en-US" dirty="0"/>
              </a:p>
              <a:p>
                <a:pPr marL="457200" lvl="1" indent="0">
                  <a:buNone/>
                </a:pPr>
                <a:r>
                  <a:rPr lang="en-US" dirty="0"/>
                  <a:t>                  Example:</a:t>
                </a:r>
              </a:p>
              <a:p>
                <a:pPr marL="457200" lvl="1" indent="0" algn="ctr">
                  <a:buNone/>
                </a:pPr>
                <a14:m>
                  <m:oMathPara xmlns:m="http://schemas.openxmlformats.org/officeDocument/2006/math">
                    <m:oMathParaPr>
                      <m:jc m:val="centerGroup"/>
                    </m:oMathParaPr>
                    <m:oMath xmlns:m="http://schemas.openxmlformats.org/officeDocument/2006/math">
                      <m:sSub>
                        <m:sSubPr>
                          <m:ctrlPr>
                            <a:rPr lang="ar-AE" i="1" smtClean="0">
                              <a:latin typeface="Cambria Math" panose="02040503050406030204" pitchFamily="18" charset="0"/>
                            </a:rPr>
                          </m:ctrlPr>
                        </m:sSubPr>
                        <m:e>
                          <m:r>
                            <a:rPr lang="ar-AE" i="1">
                              <a:latin typeface="Cambria Math" panose="02040503050406030204" pitchFamily="18" charset="0"/>
                            </a:rPr>
                            <m:t>𝐻</m:t>
                          </m:r>
                        </m:e>
                        <m:sub>
                          <m:r>
                            <a:rPr lang="ar-AE">
                              <a:latin typeface="Cambria Math" panose="02040503050406030204" pitchFamily="18" charset="0"/>
                            </a:rPr>
                            <m:t>0</m:t>
                          </m:r>
                        </m:sub>
                      </m:sSub>
                      <m:r>
                        <a:rPr lang="ar-AE">
                          <a:latin typeface="Cambria Math" panose="02040503050406030204" pitchFamily="18" charset="0"/>
                        </a:rPr>
                        <m:t>:</m:t>
                      </m:r>
                      <m:r>
                        <a:rPr lang="ar-AE" i="1">
                          <a:latin typeface="Cambria Math" panose="02040503050406030204" pitchFamily="18" charset="0"/>
                        </a:rPr>
                        <m:t>𝜇</m:t>
                      </m:r>
                      <m:r>
                        <a:rPr lang="ar-AE">
                          <a:latin typeface="Cambria Math" panose="02040503050406030204" pitchFamily="18" charset="0"/>
                        </a:rPr>
                        <m:t>=</m:t>
                      </m:r>
                      <m:r>
                        <a:rPr lang="ar-AE">
                          <a:latin typeface="Cambria Math" panose="02040503050406030204" pitchFamily="18" charset="0"/>
                        </a:rPr>
                        <m:t>170</m:t>
                      </m:r>
                    </m:oMath>
                  </m:oMathPara>
                </a14:m>
                <a:endParaRPr lang="ar-AE" dirty="0"/>
              </a:p>
              <a:p>
                <a:pPr marL="457200" lvl="1" indent="0" algn="ctr">
                  <a:buNone/>
                </a:pPr>
                <a:r>
                  <a:rPr lang="en-US" dirty="0"/>
                  <a:t>Meaning: population mean is 170.</a:t>
                </a:r>
              </a:p>
              <a:p>
                <a:pPr marL="457200" lvl="1" indent="0">
                  <a:buNone/>
                </a:pPr>
                <a:endParaRPr lang="en-US" dirty="0"/>
              </a:p>
            </p:txBody>
          </p:sp>
        </mc:Choice>
        <mc:Fallback xmlns="">
          <p:sp>
            <p:nvSpPr>
              <p:cNvPr id="3" name="Content Placeholder 2">
                <a:extLst>
                  <a:ext uri="{FF2B5EF4-FFF2-40B4-BE49-F238E27FC236}">
                    <a16:creationId xmlns:a16="http://schemas.microsoft.com/office/drawing/2014/main" id="{FCDEB1B0-AE2F-04A2-8844-604C6C2EFCDD}"/>
                  </a:ext>
                </a:extLst>
              </p:cNvPr>
              <p:cNvSpPr>
                <a:spLocks noGrp="1" noRot="1" noChangeAspect="1" noMove="1" noResize="1" noEditPoints="1" noAdjustHandles="1" noChangeArrowheads="1" noChangeShapeType="1" noTextEdit="1"/>
              </p:cNvSpPr>
              <p:nvPr>
                <p:ph idx="1"/>
              </p:nvPr>
            </p:nvSpPr>
            <p:spPr>
              <a:xfrm>
                <a:off x="499872" y="435736"/>
                <a:ext cx="11588496" cy="6175376"/>
              </a:xfrm>
              <a:blipFill>
                <a:blip r:embed="rId3"/>
                <a:stretch>
                  <a:fillRect l="-1052" t="-1677"/>
                </a:stretch>
              </a:blipFill>
            </p:spPr>
            <p:txBody>
              <a:bodyPr/>
              <a:lstStyle/>
              <a:p>
                <a:r>
                  <a:rPr lang="en-US">
                    <a:noFill/>
                  </a:rPr>
                  <a:t> </a:t>
                </a:r>
              </a:p>
            </p:txBody>
          </p:sp>
        </mc:Fallback>
      </mc:AlternateContent>
    </p:spTree>
    <p:extLst>
      <p:ext uri="{BB962C8B-B14F-4D97-AF65-F5344CB8AC3E}">
        <p14:creationId xmlns:p14="http://schemas.microsoft.com/office/powerpoint/2010/main" val="1081894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1B2F8FC-875F-4303-E7D0-74EA65D2AF3E}"/>
                  </a:ext>
                </a:extLst>
              </p:cNvPr>
              <p:cNvSpPr>
                <a:spLocks noGrp="1"/>
              </p:cNvSpPr>
              <p:nvPr>
                <p:ph idx="1"/>
              </p:nvPr>
            </p:nvSpPr>
            <p:spPr>
              <a:xfrm>
                <a:off x="173736" y="374904"/>
                <a:ext cx="11180064" cy="5802059"/>
              </a:xfrm>
            </p:spPr>
            <p:txBody>
              <a:bodyPr/>
              <a:lstStyle/>
              <a:p>
                <a:pPr marL="0" indent="0">
                  <a:buNone/>
                </a:pPr>
                <a:r>
                  <a:rPr lang="en-US" b="1" dirty="0"/>
                  <a:t>2. </a:t>
                </a:r>
                <a:r>
                  <a:rPr lang="en-US" b="1" dirty="0">
                    <a:highlight>
                      <a:srgbClr val="FFFF00"/>
                    </a:highlight>
                  </a:rPr>
                  <a:t>Alternative Hypothesis (H₁ or Ha)</a:t>
                </a:r>
              </a:p>
              <a:p>
                <a:pPr lvl="1"/>
                <a:r>
                  <a:rPr lang="en-US" dirty="0"/>
                  <a:t>The alternative hypothesis represents the claim we want to test.</a:t>
                </a:r>
              </a:p>
              <a:p>
                <a:pPr lvl="1"/>
                <a:r>
                  <a:rPr lang="en-US" dirty="0"/>
                  <a:t>It contradicts the null hypothesis.</a:t>
                </a:r>
              </a:p>
              <a:p>
                <a:pPr marL="457200" lvl="1" indent="0">
                  <a:buNone/>
                </a:pPr>
                <a:r>
                  <a:rPr lang="en-US" dirty="0"/>
                  <a:t>Examples:</a:t>
                </a:r>
              </a:p>
              <a:p>
                <a:pPr lvl="1"/>
                <a:r>
                  <a:rPr lang="en-US" dirty="0"/>
                  <a:t>Mean height is </a:t>
                </a:r>
                <a:r>
                  <a:rPr lang="en-US" b="1" dirty="0">
                    <a:highlight>
                      <a:srgbClr val="FFFF00"/>
                    </a:highlight>
                  </a:rPr>
                  <a:t>not 170</a:t>
                </a:r>
                <a:endParaRPr lang="en-US" dirty="0">
                  <a:highlight>
                    <a:srgbClr val="FFFF00"/>
                  </a:highlight>
                </a:endParaRPr>
              </a:p>
              <a:p>
                <a:pPr lvl="1"/>
                <a:r>
                  <a:rPr lang="en-US" dirty="0"/>
                  <a:t>Teaching method improves performance</a:t>
                </a:r>
              </a:p>
              <a:p>
                <a:pPr lvl="1"/>
                <a:r>
                  <a:rPr lang="en-US" dirty="0"/>
                  <a:t>Coin is biased</a:t>
                </a:r>
              </a:p>
              <a:p>
                <a:pPr marL="457200" lvl="1" indent="0">
                  <a:buNone/>
                </a:pPr>
                <a:r>
                  <a:rPr lang="en-US" b="1" dirty="0">
                    <a:latin typeface="Times New Roman" panose="02020603050405020304" pitchFamily="18" charset="0"/>
                    <a:cs typeface="Times New Roman" panose="02020603050405020304" pitchFamily="18" charset="0"/>
                  </a:rPr>
                  <a:t>Symbolically:</a:t>
                </a:r>
              </a:p>
              <a:p>
                <a:pPr lvl="1"/>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𝐻</m:t>
                        </m:r>
                      </m:e>
                      <m:sub>
                        <m:r>
                          <a:rPr lang="ar-AE">
                            <a:latin typeface="Cambria Math" panose="02040503050406030204" pitchFamily="18" charset="0"/>
                          </a:rPr>
                          <m:t>1</m:t>
                        </m:r>
                      </m:sub>
                    </m:sSub>
                  </m:oMath>
                </a14:m>
                <a:endParaRPr lang="ar-AE" dirty="0"/>
              </a:p>
              <a:p>
                <a:pPr marL="457200" lvl="1" indent="0">
                  <a:buNone/>
                </a:pPr>
                <a:r>
                  <a:rPr lang="en-US" b="1" dirty="0">
                    <a:latin typeface="Times New Roman" panose="02020603050405020304" pitchFamily="18" charset="0"/>
                    <a:cs typeface="Times New Roman" panose="02020603050405020304" pitchFamily="18" charset="0"/>
                  </a:rPr>
                  <a:t>Example:</a:t>
                </a:r>
              </a:p>
              <a:p>
                <a:pPr lvl="1"/>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𝐻</m:t>
                        </m:r>
                      </m:e>
                      <m:sub>
                        <m:r>
                          <a:rPr lang="ar-AE">
                            <a:latin typeface="Cambria Math" panose="02040503050406030204" pitchFamily="18" charset="0"/>
                          </a:rPr>
                          <m:t>1</m:t>
                        </m:r>
                      </m:sub>
                    </m:sSub>
                    <m:r>
                      <a:rPr lang="ar-AE">
                        <a:latin typeface="Cambria Math" panose="02040503050406030204" pitchFamily="18" charset="0"/>
                      </a:rPr>
                      <m:t>:</m:t>
                    </m:r>
                    <m:r>
                      <a:rPr lang="ar-AE" i="1">
                        <a:latin typeface="Cambria Math" panose="02040503050406030204" pitchFamily="18" charset="0"/>
                      </a:rPr>
                      <m:t>𝜇</m:t>
                    </m:r>
                    <m:r>
                      <a:rPr lang="ar-AE">
                        <a:latin typeface="Cambria Math" panose="02040503050406030204" pitchFamily="18" charset="0"/>
                      </a:rPr>
                      <m:t>≠</m:t>
                    </m:r>
                    <m:r>
                      <a:rPr lang="ar-AE">
                        <a:latin typeface="Cambria Math" panose="02040503050406030204" pitchFamily="18" charset="0"/>
                      </a:rPr>
                      <m:t>170</m:t>
                    </m:r>
                  </m:oMath>
                </a14:m>
                <a:endParaRPr lang="ar-AE" dirty="0"/>
              </a:p>
            </p:txBody>
          </p:sp>
        </mc:Choice>
        <mc:Fallback xmlns="">
          <p:sp>
            <p:nvSpPr>
              <p:cNvPr id="3" name="Content Placeholder 2">
                <a:extLst>
                  <a:ext uri="{FF2B5EF4-FFF2-40B4-BE49-F238E27FC236}">
                    <a16:creationId xmlns:a16="http://schemas.microsoft.com/office/drawing/2014/main" id="{91B2F8FC-875F-4303-E7D0-74EA65D2AF3E}"/>
                  </a:ext>
                </a:extLst>
              </p:cNvPr>
              <p:cNvSpPr>
                <a:spLocks noGrp="1" noRot="1" noChangeAspect="1" noMove="1" noResize="1" noEditPoints="1" noAdjustHandles="1" noChangeArrowheads="1" noChangeShapeType="1" noTextEdit="1"/>
              </p:cNvSpPr>
              <p:nvPr>
                <p:ph idx="1"/>
              </p:nvPr>
            </p:nvSpPr>
            <p:spPr>
              <a:xfrm>
                <a:off x="173736" y="374904"/>
                <a:ext cx="11180064" cy="5802059"/>
              </a:xfrm>
              <a:blipFill>
                <a:blip r:embed="rId2"/>
                <a:stretch>
                  <a:fillRect l="-1145" t="-1893"/>
                </a:stretch>
              </a:blipFill>
            </p:spPr>
            <p:txBody>
              <a:bodyPr/>
              <a:lstStyle/>
              <a:p>
                <a:r>
                  <a:rPr lang="en-US">
                    <a:noFill/>
                  </a:rPr>
                  <a:t> </a:t>
                </a:r>
              </a:p>
            </p:txBody>
          </p:sp>
        </mc:Fallback>
      </mc:AlternateContent>
    </p:spTree>
    <p:extLst>
      <p:ext uri="{BB962C8B-B14F-4D97-AF65-F5344CB8AC3E}">
        <p14:creationId xmlns:p14="http://schemas.microsoft.com/office/powerpoint/2010/main" val="23990795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4ADF12C-C1F8-5409-69E9-6DFE0784ABF2}"/>
                  </a:ext>
                </a:extLst>
              </p:cNvPr>
              <p:cNvSpPr>
                <a:spLocks noGrp="1"/>
              </p:cNvSpPr>
              <p:nvPr>
                <p:ph idx="1"/>
              </p:nvPr>
            </p:nvSpPr>
            <p:spPr>
              <a:xfrm>
                <a:off x="530352" y="137160"/>
                <a:ext cx="11301984" cy="6309360"/>
              </a:xfrm>
            </p:spPr>
            <p:txBody>
              <a:bodyPr>
                <a:normAutofit lnSpcReduction="10000"/>
              </a:bodyPr>
              <a:lstStyle/>
              <a:p>
                <a:pPr marL="0" indent="0">
                  <a:buNone/>
                </a:pPr>
                <a:r>
                  <a:rPr lang="en-US" b="1" dirty="0">
                    <a:highlight>
                      <a:srgbClr val="FFFF00"/>
                    </a:highlight>
                  </a:rPr>
                  <a:t>Step 1: Define Hypotheses</a:t>
                </a:r>
              </a:p>
              <a:p>
                <a:pPr marL="457200" lvl="1" indent="0">
                  <a:buNone/>
                </a:pPr>
                <a:r>
                  <a:rPr lang="en-US" dirty="0"/>
                  <a:t>Null hypothesis:</a:t>
                </a:r>
              </a:p>
              <a:p>
                <a:pPr lvl="1"/>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𝐻</m:t>
                        </m:r>
                      </m:e>
                      <m:sub>
                        <m:r>
                          <a:rPr lang="ar-AE">
                            <a:latin typeface="Cambria Math" panose="02040503050406030204" pitchFamily="18" charset="0"/>
                          </a:rPr>
                          <m:t>0</m:t>
                        </m:r>
                      </m:sub>
                    </m:sSub>
                    <m:r>
                      <a:rPr lang="ar-AE">
                        <a:latin typeface="Cambria Math" panose="02040503050406030204" pitchFamily="18" charset="0"/>
                      </a:rPr>
                      <m:t>:</m:t>
                    </m:r>
                    <m:r>
                      <a:rPr lang="ar-AE" i="1">
                        <a:latin typeface="Cambria Math" panose="02040503050406030204" pitchFamily="18" charset="0"/>
                      </a:rPr>
                      <m:t>𝜇</m:t>
                    </m:r>
                    <m:r>
                      <a:rPr lang="ar-AE">
                        <a:latin typeface="Cambria Math" panose="02040503050406030204" pitchFamily="18" charset="0"/>
                      </a:rPr>
                      <m:t>=</m:t>
                    </m:r>
                    <m:r>
                      <a:rPr lang="ar-AE">
                        <a:latin typeface="Cambria Math" panose="02040503050406030204" pitchFamily="18" charset="0"/>
                      </a:rPr>
                      <m:t>70</m:t>
                    </m:r>
                  </m:oMath>
                </a14:m>
                <a:endParaRPr lang="ar-AE" dirty="0"/>
              </a:p>
              <a:p>
                <a:pPr marL="457200" lvl="1" indent="0">
                  <a:buNone/>
                </a:pPr>
                <a:r>
                  <a:rPr lang="en-US" dirty="0"/>
                  <a:t>Alternative hypothesis:</a:t>
                </a:r>
              </a:p>
              <a:p>
                <a:pPr lvl="1"/>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𝐻</m:t>
                        </m:r>
                      </m:e>
                      <m:sub>
                        <m:r>
                          <a:rPr lang="ar-AE">
                            <a:latin typeface="Cambria Math" panose="02040503050406030204" pitchFamily="18" charset="0"/>
                          </a:rPr>
                          <m:t>1</m:t>
                        </m:r>
                      </m:sub>
                    </m:sSub>
                    <m:r>
                      <a:rPr lang="ar-AE">
                        <a:latin typeface="Cambria Math" panose="02040503050406030204" pitchFamily="18" charset="0"/>
                      </a:rPr>
                      <m:t>:</m:t>
                    </m:r>
                    <m:r>
                      <a:rPr lang="ar-AE" i="1">
                        <a:latin typeface="Cambria Math" panose="02040503050406030204" pitchFamily="18" charset="0"/>
                      </a:rPr>
                      <m:t>𝜇</m:t>
                    </m:r>
                    <m:r>
                      <a:rPr lang="ar-AE">
                        <a:latin typeface="Cambria Math" panose="02040503050406030204" pitchFamily="18" charset="0"/>
                      </a:rPr>
                      <m:t>&gt;</m:t>
                    </m:r>
                    <m:r>
                      <a:rPr lang="ar-AE">
                        <a:latin typeface="Cambria Math" panose="02040503050406030204" pitchFamily="18" charset="0"/>
                      </a:rPr>
                      <m:t>70</m:t>
                    </m:r>
                  </m:oMath>
                </a14:m>
                <a:endParaRPr lang="en-US" dirty="0"/>
              </a:p>
              <a:p>
                <a:pPr lvl="1"/>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𝐻</m:t>
                        </m:r>
                      </m:e>
                      <m:sub>
                        <m:r>
                          <a:rPr lang="en-US" b="0" i="0" smtClean="0">
                            <a:latin typeface="Cambria Math" panose="02040503050406030204" pitchFamily="18" charset="0"/>
                          </a:rPr>
                          <m:t>2</m:t>
                        </m:r>
                      </m:sub>
                    </m:sSub>
                    <m:r>
                      <a:rPr lang="ar-AE">
                        <a:latin typeface="Cambria Math" panose="02040503050406030204" pitchFamily="18" charset="0"/>
                      </a:rPr>
                      <m:t>:</m:t>
                    </m:r>
                    <m:r>
                      <a:rPr lang="ar-AE" i="1">
                        <a:latin typeface="Cambria Math" panose="02040503050406030204" pitchFamily="18" charset="0"/>
                      </a:rPr>
                      <m:t>𝜇</m:t>
                    </m:r>
                    <m:r>
                      <a:rPr lang="en-US" b="0" i="0" smtClean="0">
                        <a:latin typeface="Cambria Math" panose="02040503050406030204" pitchFamily="18" charset="0"/>
                      </a:rPr>
                      <m:t>&lt;</m:t>
                    </m:r>
                    <m:r>
                      <a:rPr lang="ar-AE">
                        <a:latin typeface="Cambria Math" panose="02040503050406030204" pitchFamily="18" charset="0"/>
                      </a:rPr>
                      <m:t>70</m:t>
                    </m:r>
                  </m:oMath>
                </a14:m>
                <a:endParaRPr lang="en-US" dirty="0"/>
              </a:p>
              <a:p>
                <a:pPr marL="457200" lvl="1" indent="0">
                  <a:buNone/>
                </a:pPr>
                <a:endParaRPr lang="ar-AE" dirty="0"/>
              </a:p>
              <a:p>
                <a:pPr marL="0" indent="0">
                  <a:buNone/>
                </a:pPr>
                <a:r>
                  <a:rPr lang="en-US" b="1" dirty="0">
                    <a:highlight>
                      <a:srgbClr val="FFFF00"/>
                    </a:highlight>
                    <a:latin typeface="Times New Roman" panose="02020603050405020304" pitchFamily="18" charset="0"/>
                    <a:cs typeface="Times New Roman" panose="02020603050405020304" pitchFamily="18" charset="0"/>
                  </a:rPr>
                  <a:t>Example: Teaching Method Effect</a:t>
                </a:r>
              </a:p>
              <a:p>
                <a:pPr marL="0" indent="0">
                  <a:buNone/>
                </a:pPr>
                <a:r>
                  <a:rPr lang="en-US" dirty="0">
                    <a:latin typeface="Times New Roman" panose="02020603050405020304" pitchFamily="18" charset="0"/>
                    <a:cs typeface="Times New Roman" panose="02020603050405020304" pitchFamily="18" charset="0"/>
                  </a:rPr>
                  <a:t>   A teacher claims:</a:t>
                </a:r>
              </a:p>
              <a:p>
                <a:pPr lvl="1"/>
                <a:r>
                  <a:rPr lang="en-US" dirty="0">
                    <a:latin typeface="Times New Roman" panose="02020603050405020304" pitchFamily="18" charset="0"/>
                    <a:cs typeface="Times New Roman" panose="02020603050405020304" pitchFamily="18" charset="0"/>
                  </a:rPr>
                  <a:t>The average marks of students in Statistics and Data Analysis is </a:t>
                </a:r>
                <a:r>
                  <a:rPr lang="en-US" b="1" dirty="0">
                    <a:highlight>
                      <a:srgbClr val="FFFF00"/>
                    </a:highlight>
                    <a:latin typeface="Times New Roman" panose="02020603050405020304" pitchFamily="18" charset="0"/>
                    <a:cs typeface="Times New Roman" panose="02020603050405020304" pitchFamily="18" charset="0"/>
                  </a:rPr>
                  <a:t>greater than 70</a:t>
                </a:r>
                <a:r>
                  <a:rPr lang="en-US" dirty="0">
                    <a:latin typeface="Times New Roman" panose="02020603050405020304" pitchFamily="18" charset="0"/>
                    <a:cs typeface="Times New Roman" panose="02020603050405020304" pitchFamily="18" charset="0"/>
                  </a:rPr>
                  <a:t>.</a:t>
                </a:r>
              </a:p>
              <a:p>
                <a:pPr marL="457200" lvl="1" indent="0">
                  <a:buNone/>
                </a:pPr>
                <a:r>
                  <a:rPr lang="en-US" b="1" dirty="0">
                    <a:solidFill>
                      <a:srgbClr val="FF0000"/>
                    </a:solidFill>
                    <a:latin typeface="Times New Roman" panose="02020603050405020304" pitchFamily="18" charset="0"/>
                    <a:cs typeface="Times New Roman" panose="02020603050405020304" pitchFamily="18" charset="0"/>
                  </a:rPr>
                  <a:t>We want to test this claim????</a:t>
                </a:r>
              </a:p>
              <a:p>
                <a:pPr marL="457200" lvl="1" indent="0">
                  <a:buNone/>
                </a:pPr>
                <a:r>
                  <a:rPr lang="en-US" b="1" dirty="0">
                    <a:highlight>
                      <a:srgbClr val="C0C0C0"/>
                    </a:highlight>
                    <a:latin typeface="Times New Roman" panose="02020603050405020304" pitchFamily="18" charset="0"/>
                    <a:cs typeface="Times New Roman" panose="02020603050405020304" pitchFamily="18" charset="0"/>
                  </a:rPr>
                  <a:t>Step 1: Define Hypotheses</a:t>
                </a:r>
              </a:p>
              <a:p>
                <a:pPr lvl="1"/>
                <a:r>
                  <a:rPr lang="en-US" dirty="0">
                    <a:latin typeface="Times New Roman" panose="02020603050405020304" pitchFamily="18" charset="0"/>
                    <a:cs typeface="Times New Roman" panose="02020603050405020304" pitchFamily="18" charset="0"/>
                  </a:rPr>
                  <a:t>Null hypothesis:</a:t>
                </a:r>
              </a:p>
              <a:p>
                <a:pPr marL="457200" lvl="1" indent="0">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𝐻</m:t>
                          </m:r>
                        </m:e>
                        <m:sub>
                          <m:r>
                            <a:rPr lang="ar-AE">
                              <a:latin typeface="Cambria Math" panose="02040503050406030204" pitchFamily="18" charset="0"/>
                            </a:rPr>
                            <m:t>0</m:t>
                          </m:r>
                        </m:sub>
                      </m:sSub>
                      <m:r>
                        <a:rPr lang="ar-AE">
                          <a:latin typeface="Cambria Math" panose="02040503050406030204" pitchFamily="18" charset="0"/>
                        </a:rPr>
                        <m:t>:</m:t>
                      </m:r>
                      <m:r>
                        <a:rPr lang="ar-AE" i="1">
                          <a:latin typeface="Cambria Math" panose="02040503050406030204" pitchFamily="18" charset="0"/>
                        </a:rPr>
                        <m:t>𝜇</m:t>
                      </m:r>
                      <m:r>
                        <a:rPr lang="ar-AE">
                          <a:latin typeface="Cambria Math" panose="02040503050406030204" pitchFamily="18" charset="0"/>
                        </a:rPr>
                        <m:t>=</m:t>
                      </m:r>
                      <m:r>
                        <a:rPr lang="ar-AE">
                          <a:latin typeface="Cambria Math" panose="02040503050406030204" pitchFamily="18" charset="0"/>
                        </a:rPr>
                        <m:t>70</m:t>
                      </m:r>
                    </m:oMath>
                  </m:oMathPara>
                </a14:m>
                <a:endParaRPr lang="ar-AE"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Alternative hypothesis:</a:t>
                </a:r>
              </a:p>
              <a:p>
                <a:pPr marL="457200" lvl="1" indent="0">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𝐻</m:t>
                          </m:r>
                        </m:e>
                        <m:sub>
                          <m:r>
                            <a:rPr lang="ar-AE">
                              <a:latin typeface="Cambria Math" panose="02040503050406030204" pitchFamily="18" charset="0"/>
                            </a:rPr>
                            <m:t>1</m:t>
                          </m:r>
                        </m:sub>
                      </m:sSub>
                      <m:r>
                        <a:rPr lang="ar-AE">
                          <a:latin typeface="Cambria Math" panose="02040503050406030204" pitchFamily="18" charset="0"/>
                        </a:rPr>
                        <m:t>:</m:t>
                      </m:r>
                      <m:r>
                        <a:rPr lang="ar-AE" i="1">
                          <a:latin typeface="Cambria Math" panose="02040503050406030204" pitchFamily="18" charset="0"/>
                        </a:rPr>
                        <m:t>𝜇</m:t>
                      </m:r>
                      <m:r>
                        <a:rPr lang="ar-AE">
                          <a:latin typeface="Cambria Math" panose="02040503050406030204" pitchFamily="18" charset="0"/>
                        </a:rPr>
                        <m:t>&gt;</m:t>
                      </m:r>
                      <m:r>
                        <a:rPr lang="ar-AE">
                          <a:latin typeface="Cambria Math" panose="02040503050406030204" pitchFamily="18" charset="0"/>
                        </a:rPr>
                        <m:t>70</m:t>
                      </m:r>
                    </m:oMath>
                  </m:oMathPara>
                </a14:m>
                <a:endParaRPr lang="ar-AE" dirty="0">
                  <a:latin typeface="Times New Roman" panose="02020603050405020304" pitchFamily="18" charset="0"/>
                  <a:cs typeface="Times New Roman" panose="02020603050405020304" pitchFamily="18" charset="0"/>
                </a:endParaRPr>
              </a:p>
              <a:p>
                <a:pPr marL="0" indent="0">
                  <a:buNone/>
                </a:pPr>
                <a:endParaRPr lang="en-US" dirty="0"/>
              </a:p>
            </p:txBody>
          </p:sp>
        </mc:Choice>
        <mc:Fallback xmlns="">
          <p:sp>
            <p:nvSpPr>
              <p:cNvPr id="3" name="Content Placeholder 2">
                <a:extLst>
                  <a:ext uri="{FF2B5EF4-FFF2-40B4-BE49-F238E27FC236}">
                    <a16:creationId xmlns:a16="http://schemas.microsoft.com/office/drawing/2014/main" id="{D4ADF12C-C1F8-5409-69E9-6DFE0784ABF2}"/>
                  </a:ext>
                </a:extLst>
              </p:cNvPr>
              <p:cNvSpPr>
                <a:spLocks noGrp="1" noRot="1" noChangeAspect="1" noMove="1" noResize="1" noEditPoints="1" noAdjustHandles="1" noChangeArrowheads="1" noChangeShapeType="1" noTextEdit="1"/>
              </p:cNvSpPr>
              <p:nvPr>
                <p:ph idx="1"/>
              </p:nvPr>
            </p:nvSpPr>
            <p:spPr>
              <a:xfrm>
                <a:off x="530352" y="137160"/>
                <a:ext cx="11301984" cy="6309360"/>
              </a:xfrm>
              <a:blipFill>
                <a:blip r:embed="rId2"/>
                <a:stretch>
                  <a:fillRect l="-1079" t="-2222"/>
                </a:stretch>
              </a:blipFill>
            </p:spPr>
            <p:txBody>
              <a:bodyPr/>
              <a:lstStyle/>
              <a:p>
                <a:r>
                  <a:rPr lang="en-US">
                    <a:noFill/>
                  </a:rPr>
                  <a:t> </a:t>
                </a:r>
              </a:p>
            </p:txBody>
          </p:sp>
        </mc:Fallback>
      </mc:AlternateContent>
    </p:spTree>
    <p:extLst>
      <p:ext uri="{BB962C8B-B14F-4D97-AF65-F5344CB8AC3E}">
        <p14:creationId xmlns:p14="http://schemas.microsoft.com/office/powerpoint/2010/main" val="28082018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BD7AC64-37FD-082A-6E84-B3ACE822D227}"/>
                  </a:ext>
                </a:extLst>
              </p:cNvPr>
              <p:cNvSpPr>
                <a:spLocks noGrp="1"/>
              </p:cNvSpPr>
              <p:nvPr>
                <p:ph idx="1"/>
              </p:nvPr>
            </p:nvSpPr>
            <p:spPr>
              <a:xfrm>
                <a:off x="838200" y="265176"/>
                <a:ext cx="10515600" cy="5911787"/>
              </a:xfrm>
            </p:spPr>
            <p:txBody>
              <a:bodyPr>
                <a:normAutofit lnSpcReduction="10000"/>
              </a:bodyPr>
              <a:lstStyle/>
              <a:p>
                <a:pPr marL="0" indent="0">
                  <a:buNone/>
                </a:pPr>
                <a:r>
                  <a:rPr lang="en-US" b="1" dirty="0">
                    <a:highlight>
                      <a:srgbClr val="C0C0C0"/>
                    </a:highlight>
                  </a:rPr>
                  <a:t>Step 2: Collect Sample Data</a:t>
                </a:r>
              </a:p>
              <a:p>
                <a:pPr marL="0" indent="0">
                  <a:buNone/>
                </a:pPr>
                <a:r>
                  <a:rPr lang="en-US" dirty="0"/>
                  <a:t>Suppose we take </a:t>
                </a:r>
                <a:r>
                  <a:rPr lang="en-US" b="1" dirty="0"/>
                  <a:t>10 students</a:t>
                </a:r>
                <a:r>
                  <a:rPr lang="en-US" dirty="0"/>
                  <a:t>.</a:t>
                </a:r>
              </a:p>
              <a:p>
                <a:pPr marL="0" indent="0">
                  <a:buNone/>
                </a:pPr>
                <a:r>
                  <a:rPr lang="en-US" dirty="0"/>
                  <a:t>Scores: 72, 75, 70, 68, 74, 76, 73, 71, 69, 72</a:t>
                </a:r>
                <a:br>
                  <a:rPr lang="en-US" dirty="0"/>
                </a:br>
                <a:endParaRPr lang="en-US" dirty="0"/>
              </a:p>
              <a:p>
                <a:pPr marL="0" indent="0">
                  <a:buNone/>
                </a:pPr>
                <a:r>
                  <a:rPr lang="en-US" b="1" dirty="0">
                    <a:highlight>
                      <a:srgbClr val="C0C0C0"/>
                    </a:highlight>
                  </a:rPr>
                  <a:t>Step 3: Compute Sample Mean</a:t>
                </a:r>
              </a:p>
              <a:p>
                <a:pPr marL="0" indent="0" algn="ctr">
                  <a:buNone/>
                </a:pPr>
                <a:r>
                  <a:rPr lang="en-US" dirty="0"/>
                  <a:t>Sample Mean</a:t>
                </a:r>
                <a14:m>
                  <m:oMath xmlns:m="http://schemas.openxmlformats.org/officeDocument/2006/math">
                    <m:r>
                      <a:rPr lang="ar-AE">
                        <a:latin typeface="Cambria Math" panose="02040503050406030204" pitchFamily="18" charset="0"/>
                      </a:rPr>
                      <m:t>=</m:t>
                    </m:r>
                    <m:f>
                      <m:fPr>
                        <m:ctrlPr>
                          <a:rPr lang="ar-AE" i="1">
                            <a:latin typeface="Cambria Math" panose="02040503050406030204" pitchFamily="18" charset="0"/>
                          </a:rPr>
                        </m:ctrlPr>
                      </m:fPr>
                      <m:num>
                        <m:nary>
                          <m:naryPr>
                            <m:chr m:val="∑"/>
                            <m:grow m:val="on"/>
                            <m:subHide m:val="on"/>
                            <m:supHide m:val="on"/>
                            <m:ctrlPr>
                              <a:rPr lang="ar-AE" i="1">
                                <a:latin typeface="Cambria Math" panose="02040503050406030204" pitchFamily="18" charset="0"/>
                              </a:rPr>
                            </m:ctrlPr>
                          </m:naryPr>
                          <m:sub/>
                          <m:sup/>
                          <m:e>
                            <m:r>
                              <a:rPr lang="ar-AE" i="1">
                                <a:latin typeface="Cambria Math" panose="02040503050406030204" pitchFamily="18" charset="0"/>
                              </a:rPr>
                              <m:t>𝑥</m:t>
                            </m:r>
                          </m:e>
                        </m:nary>
                      </m:num>
                      <m:den>
                        <m:r>
                          <a:rPr lang="ar-AE" i="1">
                            <a:latin typeface="Cambria Math" panose="02040503050406030204" pitchFamily="18" charset="0"/>
                          </a:rPr>
                          <m:t>𝑛</m:t>
                        </m:r>
                      </m:den>
                    </m:f>
                  </m:oMath>
                </a14:m>
                <a:endParaRPr lang="ar-AE" dirty="0"/>
              </a:p>
              <a:p>
                <a:pPr marL="0" indent="0" algn="ctr">
                  <a:buNone/>
                </a:pPr>
                <a:r>
                  <a:rPr lang="en-US" dirty="0"/>
                  <a:t>Sample Mean</a:t>
                </a:r>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72</m:t>
                    </m:r>
                  </m:oMath>
                </a14:m>
                <a:endParaRPr lang="ar-AE" dirty="0"/>
              </a:p>
              <a:p>
                <a:pPr marL="0" indent="0">
                  <a:buNone/>
                </a:pPr>
                <a:r>
                  <a:rPr lang="en-US" b="1" dirty="0"/>
                  <a:t>Step 4: Statistical Testing</a:t>
                </a:r>
              </a:p>
              <a:p>
                <a:pPr marL="0" indent="0">
                  <a:buNone/>
                </a:pPr>
                <a:r>
                  <a:rPr lang="en-US" dirty="0"/>
                  <a:t>Now we check:</a:t>
                </a:r>
              </a:p>
              <a:p>
                <a:r>
                  <a:rPr lang="en-US" dirty="0"/>
                  <a:t>Is 72 significantly greater than 70, or did this happen just by chance?</a:t>
                </a:r>
              </a:p>
              <a:p>
                <a:r>
                  <a:rPr lang="en-US" dirty="0"/>
                  <a:t>This is where </a:t>
                </a:r>
                <a:r>
                  <a:rPr lang="en-US" b="1" dirty="0">
                    <a:highlight>
                      <a:srgbClr val="FFFF00"/>
                    </a:highlight>
                  </a:rPr>
                  <a:t>hypothesis testing</a:t>
                </a:r>
                <a:r>
                  <a:rPr lang="en-US" dirty="0">
                    <a:highlight>
                      <a:srgbClr val="FFFF00"/>
                    </a:highlight>
                  </a:rPr>
                  <a:t> </a:t>
                </a:r>
                <a:r>
                  <a:rPr lang="en-US" dirty="0"/>
                  <a:t>is used.</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9BD7AC64-37FD-082A-6E84-B3ACE822D227}"/>
                  </a:ext>
                </a:extLst>
              </p:cNvPr>
              <p:cNvSpPr>
                <a:spLocks noGrp="1" noRot="1" noChangeAspect="1" noMove="1" noResize="1" noEditPoints="1" noAdjustHandles="1" noChangeArrowheads="1" noChangeShapeType="1" noTextEdit="1"/>
              </p:cNvSpPr>
              <p:nvPr>
                <p:ph idx="1"/>
              </p:nvPr>
            </p:nvSpPr>
            <p:spPr>
              <a:xfrm>
                <a:off x="838200" y="265176"/>
                <a:ext cx="10515600" cy="5911787"/>
              </a:xfrm>
              <a:blipFill>
                <a:blip r:embed="rId2"/>
                <a:stretch>
                  <a:fillRect l="-1217" t="-2374"/>
                </a:stretch>
              </a:blipFill>
            </p:spPr>
            <p:txBody>
              <a:bodyPr/>
              <a:lstStyle/>
              <a:p>
                <a:r>
                  <a:rPr lang="en-US">
                    <a:noFill/>
                  </a:rPr>
                  <a:t> </a:t>
                </a:r>
              </a:p>
            </p:txBody>
          </p:sp>
        </mc:Fallback>
      </mc:AlternateContent>
    </p:spTree>
    <p:extLst>
      <p:ext uri="{BB962C8B-B14F-4D97-AF65-F5344CB8AC3E}">
        <p14:creationId xmlns:p14="http://schemas.microsoft.com/office/powerpoint/2010/main" val="4134814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6CCC86-1657-7C74-CE99-93830CDB6AF7}"/>
              </a:ext>
            </a:extLst>
          </p:cNvPr>
          <p:cNvSpPr>
            <a:spLocks noGrp="1"/>
          </p:cNvSpPr>
          <p:nvPr>
            <p:ph idx="1"/>
          </p:nvPr>
        </p:nvSpPr>
        <p:spPr>
          <a:xfrm>
            <a:off x="838200" y="155449"/>
            <a:ext cx="10515600" cy="2706624"/>
          </a:xfrm>
        </p:spPr>
        <p:txBody>
          <a:bodyPr/>
          <a:lstStyle/>
          <a:p>
            <a:pPr marL="0" indent="0">
              <a:buNone/>
            </a:pPr>
            <a:r>
              <a:rPr lang="en-US" b="1" dirty="0">
                <a:highlight>
                  <a:srgbClr val="C0C0C0"/>
                </a:highlight>
              </a:rPr>
              <a:t>Step 5: Decision</a:t>
            </a:r>
          </a:p>
          <a:p>
            <a:r>
              <a:rPr lang="en-US" dirty="0"/>
              <a:t>If statistical test shows strong evidence, we:</a:t>
            </a:r>
          </a:p>
          <a:p>
            <a:r>
              <a:rPr lang="en-US" dirty="0"/>
              <a:t>Reject H₀</a:t>
            </a:r>
          </a:p>
          <a:p>
            <a:r>
              <a:rPr lang="en-US" dirty="0"/>
              <a:t>Otherwise we:</a:t>
            </a:r>
          </a:p>
          <a:p>
            <a:r>
              <a:rPr lang="en-US" dirty="0"/>
              <a:t>Fail to reject H₀.</a:t>
            </a:r>
          </a:p>
          <a:p>
            <a:pPr marL="0" indent="0">
              <a:buNone/>
            </a:pPr>
            <a:endParaRPr lang="en-US" dirty="0"/>
          </a:p>
        </p:txBody>
      </p:sp>
      <p:sp>
        <p:nvSpPr>
          <p:cNvPr id="126" name="TextBox 125">
            <a:extLst>
              <a:ext uri="{FF2B5EF4-FFF2-40B4-BE49-F238E27FC236}">
                <a16:creationId xmlns:a16="http://schemas.microsoft.com/office/drawing/2014/main" id="{08EFC0C7-0987-9849-4F89-29296FAA96E5}"/>
              </a:ext>
            </a:extLst>
          </p:cNvPr>
          <p:cNvSpPr txBox="1"/>
          <p:nvPr/>
        </p:nvSpPr>
        <p:spPr>
          <a:xfrm>
            <a:off x="934974" y="3072598"/>
            <a:ext cx="4094226" cy="1384995"/>
          </a:xfrm>
          <a:prstGeom prst="rect">
            <a:avLst/>
          </a:prstGeom>
          <a:noFill/>
        </p:spPr>
        <p:txBody>
          <a:bodyPr wrap="square">
            <a:spAutoFit/>
          </a:bodyPr>
          <a:lstStyle/>
          <a:p>
            <a:pPr>
              <a:buNone/>
            </a:pPr>
            <a:r>
              <a:rPr lang="en-US" sz="2800" b="1" dirty="0">
                <a:latin typeface="Times New Roman" panose="02020603050405020304" pitchFamily="18" charset="0"/>
                <a:cs typeface="Times New Roman" panose="02020603050405020304" pitchFamily="18" charset="0"/>
              </a:rPr>
              <a:t>Example 2 (Coin Toss)</a:t>
            </a:r>
          </a:p>
          <a:p>
            <a:pPr>
              <a:buNone/>
            </a:pPr>
            <a:r>
              <a:rPr lang="en-US" sz="2800" dirty="0">
                <a:latin typeface="Times New Roman" panose="02020603050405020304" pitchFamily="18" charset="0"/>
                <a:cs typeface="Times New Roman" panose="02020603050405020304" pitchFamily="18" charset="0"/>
              </a:rPr>
              <a:t>Suppose someone claims:</a:t>
            </a:r>
          </a:p>
          <a:p>
            <a:pPr>
              <a:buNone/>
            </a:pPr>
            <a:r>
              <a:rPr lang="en-US" sz="2800" dirty="0">
                <a:latin typeface="Times New Roman" panose="02020603050405020304" pitchFamily="18" charset="0"/>
                <a:cs typeface="Times New Roman" panose="02020603050405020304" pitchFamily="18" charset="0"/>
              </a:rPr>
              <a:t>The coin is fair.</a:t>
            </a:r>
          </a:p>
        </p:txBody>
      </p:sp>
      <mc:AlternateContent xmlns:mc="http://schemas.openxmlformats.org/markup-compatibility/2006" xmlns:a14="http://schemas.microsoft.com/office/drawing/2010/main">
        <mc:Choice Requires="a14">
          <p:sp>
            <p:nvSpPr>
              <p:cNvPr id="128" name="TextBox 127">
                <a:extLst>
                  <a:ext uri="{FF2B5EF4-FFF2-40B4-BE49-F238E27FC236}">
                    <a16:creationId xmlns:a16="http://schemas.microsoft.com/office/drawing/2014/main" id="{81335D84-FFD9-D0A5-A648-1E597BFAEFE7}"/>
                  </a:ext>
                </a:extLst>
              </p:cNvPr>
              <p:cNvSpPr txBox="1"/>
              <p:nvPr/>
            </p:nvSpPr>
            <p:spPr>
              <a:xfrm>
                <a:off x="6851142" y="2862073"/>
                <a:ext cx="4075938" cy="2246769"/>
              </a:xfrm>
              <a:prstGeom prst="rect">
                <a:avLst/>
              </a:prstGeom>
              <a:noFill/>
            </p:spPr>
            <p:txBody>
              <a:bodyPr wrap="square">
                <a:spAutoFit/>
              </a:bodyPr>
              <a:lstStyle/>
              <a:p>
                <a:pPr>
                  <a:buNone/>
                </a:pPr>
                <a:r>
                  <a:rPr lang="en-US" sz="2800" b="1" dirty="0">
                    <a:latin typeface="Times New Roman" panose="02020603050405020304" pitchFamily="18" charset="0"/>
                    <a:cs typeface="Times New Roman" panose="02020603050405020304" pitchFamily="18" charset="0"/>
                  </a:rPr>
                  <a:t>Hypothesis</a:t>
                </a:r>
              </a:p>
              <a:p>
                <a:pPr>
                  <a:buNone/>
                </a:pPr>
                <a:r>
                  <a:rPr lang="en-US" sz="2800" dirty="0">
                    <a:latin typeface="Times New Roman" panose="02020603050405020304" pitchFamily="18" charset="0"/>
                    <a:cs typeface="Times New Roman" panose="02020603050405020304" pitchFamily="18" charset="0"/>
                  </a:rPr>
                  <a:t>Null hypothesis</a:t>
                </a:r>
              </a:p>
              <a:p>
                <a:pPr>
                  <a:buNone/>
                </a:pPr>
                <a14:m>
                  <m:oMathPara xmlns:m="http://schemas.openxmlformats.org/officeDocument/2006/math">
                    <m:oMathParaPr>
                      <m:jc m:val="centerGroup"/>
                    </m:oMathParaPr>
                    <m:oMath xmlns:m="http://schemas.openxmlformats.org/officeDocument/2006/math">
                      <m:sSub>
                        <m:sSubPr>
                          <m:ctrlPr>
                            <a:rPr lang="ar-AE" sz="2800" i="1">
                              <a:latin typeface="Cambria Math" panose="02040503050406030204" pitchFamily="18" charset="0"/>
                            </a:rPr>
                          </m:ctrlPr>
                        </m:sSubPr>
                        <m:e>
                          <m:r>
                            <a:rPr lang="ar-AE" sz="2800" i="1">
                              <a:latin typeface="Cambria Math" panose="02040503050406030204" pitchFamily="18" charset="0"/>
                            </a:rPr>
                            <m:t>𝐻</m:t>
                          </m:r>
                        </m:e>
                        <m:sub>
                          <m:r>
                            <a:rPr lang="ar-AE" sz="2800" i="0">
                              <a:latin typeface="Cambria Math" panose="02040503050406030204" pitchFamily="18" charset="0"/>
                            </a:rPr>
                            <m:t>0</m:t>
                          </m:r>
                        </m:sub>
                      </m:sSub>
                      <m:r>
                        <a:rPr lang="ar-AE" sz="2800" i="0">
                          <a:latin typeface="Cambria Math" panose="02040503050406030204" pitchFamily="18" charset="0"/>
                        </a:rPr>
                        <m:t>:</m:t>
                      </m:r>
                      <m:r>
                        <a:rPr lang="ar-AE" sz="2800" i="1">
                          <a:latin typeface="Cambria Math" panose="02040503050406030204" pitchFamily="18" charset="0"/>
                        </a:rPr>
                        <m:t>𝑝</m:t>
                      </m:r>
                      <m:r>
                        <a:rPr lang="ar-AE" sz="2800" i="0">
                          <a:latin typeface="Cambria Math" panose="02040503050406030204" pitchFamily="18" charset="0"/>
                        </a:rPr>
                        <m:t>=</m:t>
                      </m:r>
                      <m:r>
                        <a:rPr lang="ar-AE" sz="2800" i="0">
                          <a:latin typeface="Cambria Math" panose="02040503050406030204" pitchFamily="18" charset="0"/>
                        </a:rPr>
                        <m:t>0</m:t>
                      </m:r>
                      <m:r>
                        <a:rPr lang="ar-AE" sz="2800" i="0">
                          <a:latin typeface="Cambria Math" panose="02040503050406030204" pitchFamily="18" charset="0"/>
                        </a:rPr>
                        <m:t>.</m:t>
                      </m:r>
                      <m:r>
                        <a:rPr lang="ar-AE" sz="2800" i="0">
                          <a:latin typeface="Cambria Math" panose="02040503050406030204" pitchFamily="18" charset="0"/>
                        </a:rPr>
                        <m:t>5</m:t>
                      </m:r>
                    </m:oMath>
                  </m:oMathPara>
                </a14:m>
                <a:endParaRPr lang="ar-AE" sz="2800" dirty="0">
                  <a:latin typeface="Times New Roman" panose="02020603050405020304" pitchFamily="18" charset="0"/>
                  <a:cs typeface="Times New Roman" panose="02020603050405020304" pitchFamily="18" charset="0"/>
                </a:endParaRPr>
              </a:p>
              <a:p>
                <a:pPr>
                  <a:buNone/>
                </a:pPr>
                <a:r>
                  <a:rPr lang="en-US" sz="2800" dirty="0">
                    <a:latin typeface="Times New Roman" panose="02020603050405020304" pitchFamily="18" charset="0"/>
                    <a:cs typeface="Times New Roman" panose="02020603050405020304" pitchFamily="18" charset="0"/>
                  </a:rPr>
                  <a:t>Alternative hypothesis</a:t>
                </a:r>
              </a:p>
              <a:p>
                <a:pPr>
                  <a:buNone/>
                </a:pPr>
                <a14:m>
                  <m:oMathPara xmlns:m="http://schemas.openxmlformats.org/officeDocument/2006/math">
                    <m:oMathParaPr>
                      <m:jc m:val="centerGroup"/>
                    </m:oMathParaPr>
                    <m:oMath xmlns:m="http://schemas.openxmlformats.org/officeDocument/2006/math">
                      <m:sSub>
                        <m:sSubPr>
                          <m:ctrlPr>
                            <a:rPr lang="ar-AE" sz="2800" i="1">
                              <a:latin typeface="Cambria Math" panose="02040503050406030204" pitchFamily="18" charset="0"/>
                            </a:rPr>
                          </m:ctrlPr>
                        </m:sSubPr>
                        <m:e>
                          <m:r>
                            <a:rPr lang="ar-AE" sz="2800" i="1">
                              <a:latin typeface="Cambria Math" panose="02040503050406030204" pitchFamily="18" charset="0"/>
                            </a:rPr>
                            <m:t>𝐻</m:t>
                          </m:r>
                        </m:e>
                        <m:sub>
                          <m:r>
                            <a:rPr lang="ar-AE" sz="2800" i="0">
                              <a:latin typeface="Cambria Math" panose="02040503050406030204" pitchFamily="18" charset="0"/>
                            </a:rPr>
                            <m:t>1</m:t>
                          </m:r>
                        </m:sub>
                      </m:sSub>
                      <m:r>
                        <a:rPr lang="ar-AE" sz="2800" i="0">
                          <a:latin typeface="Cambria Math" panose="02040503050406030204" pitchFamily="18" charset="0"/>
                        </a:rPr>
                        <m:t>:</m:t>
                      </m:r>
                      <m:r>
                        <a:rPr lang="ar-AE" sz="2800" i="1">
                          <a:latin typeface="Cambria Math" panose="02040503050406030204" pitchFamily="18" charset="0"/>
                        </a:rPr>
                        <m:t>𝑝</m:t>
                      </m:r>
                      <m:r>
                        <a:rPr lang="ar-AE" sz="2800" i="0">
                          <a:latin typeface="Cambria Math" panose="02040503050406030204" pitchFamily="18" charset="0"/>
                        </a:rPr>
                        <m:t>≠</m:t>
                      </m:r>
                      <m:r>
                        <a:rPr lang="ar-AE" sz="2800" i="0">
                          <a:latin typeface="Cambria Math" panose="02040503050406030204" pitchFamily="18" charset="0"/>
                        </a:rPr>
                        <m:t>0</m:t>
                      </m:r>
                      <m:r>
                        <a:rPr lang="ar-AE" sz="2800" i="0">
                          <a:latin typeface="Cambria Math" panose="02040503050406030204" pitchFamily="18" charset="0"/>
                        </a:rPr>
                        <m:t>.</m:t>
                      </m:r>
                      <m:r>
                        <a:rPr lang="ar-AE" sz="2800" i="0">
                          <a:latin typeface="Cambria Math" panose="02040503050406030204" pitchFamily="18" charset="0"/>
                        </a:rPr>
                        <m:t>5</m:t>
                      </m:r>
                    </m:oMath>
                  </m:oMathPara>
                </a14:m>
                <a:endParaRPr lang="ar-AE" sz="2800" dirty="0">
                  <a:latin typeface="Times New Roman" panose="02020603050405020304" pitchFamily="18" charset="0"/>
                  <a:cs typeface="Times New Roman" panose="02020603050405020304" pitchFamily="18" charset="0"/>
                </a:endParaRPr>
              </a:p>
            </p:txBody>
          </p:sp>
        </mc:Choice>
        <mc:Fallback xmlns="">
          <p:sp>
            <p:nvSpPr>
              <p:cNvPr id="128" name="TextBox 127">
                <a:extLst>
                  <a:ext uri="{FF2B5EF4-FFF2-40B4-BE49-F238E27FC236}">
                    <a16:creationId xmlns:a16="http://schemas.microsoft.com/office/drawing/2014/main" id="{81335D84-FFD9-D0A5-A648-1E597BFAEFE7}"/>
                  </a:ext>
                </a:extLst>
              </p:cNvPr>
              <p:cNvSpPr txBox="1">
                <a:spLocks noRot="1" noChangeAspect="1" noMove="1" noResize="1" noEditPoints="1" noAdjustHandles="1" noChangeArrowheads="1" noChangeShapeType="1" noTextEdit="1"/>
              </p:cNvSpPr>
              <p:nvPr/>
            </p:nvSpPr>
            <p:spPr>
              <a:xfrm>
                <a:off x="6851142" y="2862073"/>
                <a:ext cx="4075938" cy="2246769"/>
              </a:xfrm>
              <a:prstGeom prst="rect">
                <a:avLst/>
              </a:prstGeom>
              <a:blipFill>
                <a:blip r:embed="rId2"/>
                <a:stretch>
                  <a:fillRect l="-3139" t="-2989"/>
                </a:stretch>
              </a:blipFill>
            </p:spPr>
            <p:txBody>
              <a:bodyPr/>
              <a:lstStyle/>
              <a:p>
                <a:r>
                  <a:rPr lang="en-US">
                    <a:noFill/>
                  </a:rPr>
                  <a:t> </a:t>
                </a:r>
              </a:p>
            </p:txBody>
          </p:sp>
        </mc:Fallback>
      </mc:AlternateContent>
      <p:sp>
        <p:nvSpPr>
          <p:cNvPr id="130" name="TextBox 129">
            <a:extLst>
              <a:ext uri="{FF2B5EF4-FFF2-40B4-BE49-F238E27FC236}">
                <a16:creationId xmlns:a16="http://schemas.microsoft.com/office/drawing/2014/main" id="{00706C7A-AA9E-651B-8E22-A26EC735516F}"/>
              </a:ext>
            </a:extLst>
          </p:cNvPr>
          <p:cNvSpPr txBox="1"/>
          <p:nvPr/>
        </p:nvSpPr>
        <p:spPr>
          <a:xfrm>
            <a:off x="274320" y="5187988"/>
            <a:ext cx="11612880" cy="954107"/>
          </a:xfrm>
          <a:prstGeom prst="rect">
            <a:avLst/>
          </a:prstGeom>
          <a:noFill/>
        </p:spPr>
        <p:txBody>
          <a:bodyPr wrap="square">
            <a:spAutoFit/>
          </a:bodyPr>
          <a:lstStyle/>
          <a:p>
            <a:pPr>
              <a:buNone/>
            </a:pPr>
            <a:r>
              <a:rPr lang="en-US" sz="2800" dirty="0">
                <a:latin typeface="Times New Roman" panose="02020603050405020304" pitchFamily="18" charset="0"/>
                <a:cs typeface="Times New Roman" panose="02020603050405020304" pitchFamily="18" charset="0"/>
              </a:rPr>
              <a:t>Question: Is this difference due to random chance, or is the coin </a:t>
            </a:r>
            <a:r>
              <a:rPr lang="en-US" sz="2800" b="1" dirty="0">
                <a:latin typeface="Times New Roman" panose="02020603050405020304" pitchFamily="18" charset="0"/>
                <a:cs typeface="Times New Roman" panose="02020603050405020304" pitchFamily="18" charset="0"/>
              </a:rPr>
              <a:t>biased</a:t>
            </a:r>
            <a:r>
              <a:rPr lang="en-US" sz="2800" dirty="0">
                <a:latin typeface="Times New Roman" panose="02020603050405020304" pitchFamily="18" charset="0"/>
                <a:cs typeface="Times New Roman" panose="02020603050405020304" pitchFamily="18" charset="0"/>
              </a:rPr>
              <a:t>?</a:t>
            </a:r>
          </a:p>
          <a:p>
            <a:pPr>
              <a:buNone/>
            </a:pPr>
            <a:r>
              <a:rPr lang="en-US" sz="2800" dirty="0">
                <a:solidFill>
                  <a:srgbClr val="FF0000"/>
                </a:solidFill>
                <a:latin typeface="Times New Roman" panose="02020603050405020304" pitchFamily="18" charset="0"/>
                <a:cs typeface="Times New Roman" panose="02020603050405020304" pitchFamily="18" charset="0"/>
              </a:rPr>
              <a:t> </a:t>
            </a:r>
            <a:r>
              <a:rPr lang="en-US" sz="2800" b="1" dirty="0">
                <a:solidFill>
                  <a:srgbClr val="FF0000"/>
                </a:solidFill>
                <a:latin typeface="Times New Roman" panose="02020603050405020304" pitchFamily="18" charset="0"/>
                <a:cs typeface="Times New Roman" panose="02020603050405020304" pitchFamily="18" charset="0"/>
              </a:rPr>
              <a:t>Statistical tests help answer this.</a:t>
            </a:r>
          </a:p>
        </p:txBody>
      </p:sp>
    </p:spTree>
    <p:extLst>
      <p:ext uri="{BB962C8B-B14F-4D97-AF65-F5344CB8AC3E}">
        <p14:creationId xmlns:p14="http://schemas.microsoft.com/office/powerpoint/2010/main" val="38369732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3B6FEEB-94DF-EA75-FA77-514EAD1CF5A3}"/>
                  </a:ext>
                </a:extLst>
              </p:cNvPr>
              <p:cNvSpPr>
                <a:spLocks noGrp="1"/>
              </p:cNvSpPr>
              <p:nvPr>
                <p:ph idx="1"/>
              </p:nvPr>
            </p:nvSpPr>
            <p:spPr>
              <a:xfrm>
                <a:off x="365760" y="301752"/>
                <a:ext cx="11576304" cy="6419088"/>
              </a:xfrm>
            </p:spPr>
            <p:txBody>
              <a:bodyPr/>
              <a:lstStyle/>
              <a:p>
                <a:pPr marL="0" indent="0">
                  <a:buNone/>
                </a:pPr>
                <a:r>
                  <a:rPr lang="en-US" b="1" dirty="0">
                    <a:highlight>
                      <a:srgbClr val="C0C0C0"/>
                    </a:highlight>
                    <a:latin typeface="Times New Roman" panose="02020603050405020304" pitchFamily="18" charset="0"/>
                    <a:cs typeface="Times New Roman" panose="02020603050405020304" pitchFamily="18" charset="0"/>
                  </a:rPr>
                  <a:t>Significance Level (</a:t>
                </a:r>
                <a:r>
                  <a:rPr lang="el-GR" dirty="0">
                    <a:highlight>
                      <a:srgbClr val="C0C0C0"/>
                    </a:highlight>
                  </a:rPr>
                  <a:t>α</a:t>
                </a:r>
                <a:r>
                  <a:rPr lang="en-US" b="1" dirty="0">
                    <a:highlight>
                      <a:srgbClr val="C0C0C0"/>
                    </a:highlight>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How strong the evidence must be before we reject the null hypothesis.</a:t>
                </a:r>
              </a:p>
              <a:p>
                <a:pPr marL="0" indent="0">
                  <a:buNone/>
                </a:pPr>
                <a:r>
                  <a:rPr lang="en-US" dirty="0">
                    <a:latin typeface="Times New Roman" panose="02020603050405020304" pitchFamily="18" charset="0"/>
                    <a:cs typeface="Times New Roman" panose="02020603050405020304" pitchFamily="18" charset="0"/>
                  </a:rPr>
                  <a:t>It represents the maximum probability of making a </a:t>
                </a:r>
                <a:r>
                  <a:rPr lang="en-US" b="1" dirty="0">
                    <a:latin typeface="Times New Roman" panose="02020603050405020304" pitchFamily="18" charset="0"/>
                    <a:cs typeface="Times New Roman" panose="02020603050405020304" pitchFamily="18" charset="0"/>
                  </a:rPr>
                  <a:t>Type I error (</a:t>
                </a:r>
                <a:r>
                  <a:rPr lang="en-US" dirty="0">
                    <a:latin typeface="Times New Roman" panose="02020603050405020304" pitchFamily="18" charset="0"/>
                    <a:cs typeface="Times New Roman" panose="02020603050405020304" pitchFamily="18" charset="0"/>
                  </a:rPr>
                  <a:t>Rejecting the null hypothesis even though it is actually true.</a:t>
                </a:r>
                <a:r>
                  <a:rPr lang="en-US" b="1" dirty="0">
                    <a:latin typeface="Times New Roman" panose="02020603050405020304" pitchFamily="18" charset="0"/>
                    <a:cs typeface="Times New Roman" panose="02020603050405020304" pitchFamily="18" charset="0"/>
                  </a:rPr>
                  <a:t>).</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If </a:t>
                </a:r>
                <a:r>
                  <a:rPr lang="en-US" b="1" dirty="0">
                    <a:latin typeface="Times New Roman" panose="02020603050405020304" pitchFamily="18" charset="0"/>
                    <a:cs typeface="Times New Roman" panose="02020603050405020304" pitchFamily="18" charset="0"/>
                  </a:rPr>
                  <a:t> </a:t>
                </a:r>
                <a:r>
                  <a:rPr lang="el-GR" dirty="0">
                    <a:latin typeface="Times New Roman" panose="02020603050405020304" pitchFamily="18" charset="0"/>
                    <a:cs typeface="Times New Roman" panose="02020603050405020304" pitchFamily="18" charset="0"/>
                  </a:rPr>
                  <a:t>α=0.05</a:t>
                </a:r>
                <a:r>
                  <a:rPr lang="en-US" dirty="0">
                    <a:latin typeface="Times New Roman" panose="02020603050405020304" pitchFamily="18" charset="0"/>
                    <a:cs typeface="Times New Roman" panose="02020603050405020304" pitchFamily="18" charset="0"/>
                  </a:rPr>
                  <a:t>, We are willing to accept a 5% risk of wrongly rejecting a true null hypothesis.</a:t>
                </a:r>
              </a:p>
              <a:p>
                <a:pPr marL="0" indent="0">
                  <a:buNone/>
                </a:pPr>
                <a:r>
                  <a:rPr lang="en-US" dirty="0"/>
                  <a:t>In simple words:</a:t>
                </a:r>
              </a:p>
              <a:p>
                <a:pPr marL="0" indent="0">
                  <a:buNone/>
                </a:pPr>
                <a:r>
                  <a:rPr lang="en-US" dirty="0"/>
                  <a:t>We reject </a:t>
                </a:r>
                <a14:m>
                  <m:oMath xmlns:m="http://schemas.openxmlformats.org/officeDocument/2006/math">
                    <m:sSub>
                      <m:sSubPr>
                        <m:ctrlPr>
                          <a:rPr lang="ar-AE" i="1">
                            <a:latin typeface="Cambria Math" panose="02040503050406030204" pitchFamily="18" charset="0"/>
                          </a:rPr>
                        </m:ctrlPr>
                      </m:sSubPr>
                      <m:e>
                        <m:r>
                          <a:rPr lang="ar-AE" b="0" i="1">
                            <a:latin typeface="Cambria Math" panose="02040503050406030204" pitchFamily="18" charset="0"/>
                          </a:rPr>
                          <m:t>𝐻</m:t>
                        </m:r>
                      </m:e>
                      <m:sub>
                        <m:r>
                          <a:rPr lang="ar-AE" b="0" i="1">
                            <a:latin typeface="Cambria Math" panose="02040503050406030204" pitchFamily="18" charset="0"/>
                          </a:rPr>
                          <m:t>0</m:t>
                        </m:r>
                      </m:sub>
                    </m:sSub>
                  </m:oMath>
                </a14:m>
                <a:r>
                  <a:rPr lang="en-US" dirty="0"/>
                  <a:t>only if the probability of the observed result is </a:t>
                </a:r>
                <a:r>
                  <a:rPr lang="en-US" dirty="0">
                    <a:highlight>
                      <a:srgbClr val="FFFF00"/>
                    </a:highlight>
                  </a:rPr>
                  <a:t>less than 5%.</a:t>
                </a:r>
              </a:p>
              <a:p>
                <a:pPr marL="0" indent="0">
                  <a:buNone/>
                </a:pPr>
                <a:r>
                  <a:rPr lang="en-US" dirty="0">
                    <a:latin typeface="Times New Roman" panose="02020603050405020304" pitchFamily="18" charset="0"/>
                    <a:cs typeface="Times New Roman" panose="02020603050405020304" pitchFamily="18" charset="0"/>
                  </a:rPr>
                  <a:t> </a:t>
                </a:r>
                <a:r>
                  <a:rPr lang="el-GR" dirty="0">
                    <a:highlight>
                      <a:srgbClr val="FFFF00"/>
                    </a:highlight>
                    <a:latin typeface="Times New Roman" panose="02020603050405020304" pitchFamily="18" charset="0"/>
                    <a:cs typeface="Times New Roman" panose="02020603050405020304" pitchFamily="18" charset="0"/>
                  </a:rPr>
                  <a:t>α</a:t>
                </a:r>
                <a:r>
                  <a:rPr lang="en-US" dirty="0">
                    <a:highlight>
                      <a:srgbClr val="FFFF00"/>
                    </a:highlight>
                    <a:latin typeface="Times New Roman" panose="02020603050405020304" pitchFamily="18" charset="0"/>
                    <a:cs typeface="Times New Roman" panose="02020603050405020304" pitchFamily="18" charset="0"/>
                  </a:rPr>
                  <a:t> is defined by a domain expert</a:t>
                </a:r>
              </a:p>
              <a:p>
                <a:pPr marL="0" indent="0">
                  <a:buNone/>
                </a:pPr>
                <a:endParaRPr lang="en-US" dirty="0">
                  <a:highlight>
                    <a:srgbClr val="FFFF00"/>
                  </a:highlight>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33B6FEEB-94DF-EA75-FA77-514EAD1CF5A3}"/>
                  </a:ext>
                </a:extLst>
              </p:cNvPr>
              <p:cNvSpPr>
                <a:spLocks noGrp="1" noRot="1" noChangeAspect="1" noMove="1" noResize="1" noEditPoints="1" noAdjustHandles="1" noChangeArrowheads="1" noChangeShapeType="1" noTextEdit="1"/>
              </p:cNvSpPr>
              <p:nvPr>
                <p:ph idx="1"/>
              </p:nvPr>
            </p:nvSpPr>
            <p:spPr>
              <a:xfrm>
                <a:off x="365760" y="301752"/>
                <a:ext cx="11576304" cy="6419088"/>
              </a:xfrm>
              <a:blipFill>
                <a:blip r:embed="rId2"/>
                <a:stretch>
                  <a:fillRect l="-1053" t="-1899" r="-685"/>
                </a:stretch>
              </a:blipFill>
            </p:spPr>
            <p:txBody>
              <a:bodyPr/>
              <a:lstStyle/>
              <a:p>
                <a:r>
                  <a:rPr lang="en-US">
                    <a:noFill/>
                  </a:rPr>
                  <a:t> </a:t>
                </a:r>
              </a:p>
            </p:txBody>
          </p:sp>
        </mc:Fallback>
      </mc:AlternateContent>
    </p:spTree>
    <p:extLst>
      <p:ext uri="{BB962C8B-B14F-4D97-AF65-F5344CB8AC3E}">
        <p14:creationId xmlns:p14="http://schemas.microsoft.com/office/powerpoint/2010/main" val="42597500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6" name="Picture 4" descr="What is the rejection region for a two-tailed test when alpha = 0.05? |  Homework.Study.com">
            <a:extLst>
              <a:ext uri="{FF2B5EF4-FFF2-40B4-BE49-F238E27FC236}">
                <a16:creationId xmlns:a16="http://schemas.microsoft.com/office/drawing/2014/main" id="{2C836ACB-4781-9068-32C5-4F7612F672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057" y="0"/>
            <a:ext cx="10642341" cy="363633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8C2AFC6-0ADB-3E3F-0083-B57F8E7E7B0D}"/>
              </a:ext>
            </a:extLst>
          </p:cNvPr>
          <p:cNvSpPr txBox="1"/>
          <p:nvPr/>
        </p:nvSpPr>
        <p:spPr>
          <a:xfrm>
            <a:off x="256032" y="4005072"/>
            <a:ext cx="11347704" cy="2062103"/>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If </a:t>
            </a:r>
            <a:r>
              <a:rPr lang="el-GR" sz="3200" dirty="0">
                <a:latin typeface="Times New Roman" panose="02020603050405020304" pitchFamily="18" charset="0"/>
                <a:cs typeface="Times New Roman" panose="02020603050405020304" pitchFamily="18" charset="0"/>
              </a:rPr>
              <a:t>α=0.</a:t>
            </a:r>
            <a:r>
              <a:rPr lang="en-US" sz="3200" dirty="0">
                <a:latin typeface="Times New Roman" panose="02020603050405020304" pitchFamily="18" charset="0"/>
                <a:cs typeface="Times New Roman" panose="02020603050405020304" pitchFamily="18" charset="0"/>
              </a:rPr>
              <a:t>20, what will be the confidence interval</a:t>
            </a:r>
          </a:p>
          <a:p>
            <a:r>
              <a:rPr lang="en-US" sz="3200" dirty="0">
                <a:latin typeface="Times New Roman" panose="02020603050405020304" pitchFamily="18" charset="0"/>
                <a:cs typeface="Times New Roman" panose="02020603050405020304" pitchFamily="18" charset="0"/>
              </a:rPr>
              <a:t>100%-20%=80% (Confidence), Meaning 10% left side and 10% right side will be the rejection region and 80% will be the confidence interval </a:t>
            </a:r>
          </a:p>
        </p:txBody>
      </p:sp>
    </p:spTree>
    <p:extLst>
      <p:ext uri="{BB962C8B-B14F-4D97-AF65-F5344CB8AC3E}">
        <p14:creationId xmlns:p14="http://schemas.microsoft.com/office/powerpoint/2010/main" val="19570471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4ED17-EBA2-7526-9AEF-D05E921E7A6C}"/>
              </a:ext>
            </a:extLst>
          </p:cNvPr>
          <p:cNvSpPr>
            <a:spLocks noGrp="1"/>
          </p:cNvSpPr>
          <p:nvPr>
            <p:ph type="title"/>
          </p:nvPr>
        </p:nvSpPr>
        <p:spPr>
          <a:xfrm>
            <a:off x="82296" y="81661"/>
            <a:ext cx="12109704" cy="732155"/>
          </a:xfrm>
        </p:spPr>
        <p:txBody>
          <a:bodyPr/>
          <a:lstStyle/>
          <a:p>
            <a:r>
              <a:rPr lang="en-US" b="1" dirty="0">
                <a:highlight>
                  <a:srgbClr val="FFFF00"/>
                </a:highlight>
                <a:latin typeface="Times New Roman" panose="02020603050405020304" pitchFamily="18" charset="0"/>
                <a:cs typeface="Times New Roman" panose="02020603050405020304" pitchFamily="18" charset="0"/>
              </a:rPr>
              <a:t>Type 1 and Type 2 error</a:t>
            </a:r>
          </a:p>
        </p:txBody>
      </p:sp>
      <p:sp>
        <p:nvSpPr>
          <p:cNvPr id="3" name="Content Placeholder 2">
            <a:extLst>
              <a:ext uri="{FF2B5EF4-FFF2-40B4-BE49-F238E27FC236}">
                <a16:creationId xmlns:a16="http://schemas.microsoft.com/office/drawing/2014/main" id="{CAE3BD3D-BD90-0BD9-B5D5-69B6F9F18D02}"/>
              </a:ext>
            </a:extLst>
          </p:cNvPr>
          <p:cNvSpPr>
            <a:spLocks noGrp="1"/>
          </p:cNvSpPr>
          <p:nvPr>
            <p:ph idx="1"/>
          </p:nvPr>
        </p:nvSpPr>
        <p:spPr>
          <a:xfrm>
            <a:off x="179832" y="1121537"/>
            <a:ext cx="10515600" cy="4351338"/>
          </a:xfrm>
        </p:spPr>
        <p:txBody>
          <a:bodyPr>
            <a:normAutofit/>
          </a:bodyPr>
          <a:lstStyle/>
          <a:p>
            <a:r>
              <a:rPr lang="en-US" dirty="0"/>
              <a:t>In hypothesis testing, when we make decisions using sample data, there is always a possibility of making wrong conclusions. These mistakes are called statistical errors.</a:t>
            </a:r>
          </a:p>
          <a:p>
            <a:r>
              <a:rPr lang="en-US" dirty="0"/>
              <a:t>There are two types of errors:</a:t>
            </a:r>
          </a:p>
          <a:p>
            <a:r>
              <a:rPr lang="en-US" b="1" dirty="0">
                <a:latin typeface="Times New Roman" panose="02020603050405020304" pitchFamily="18" charset="0"/>
                <a:cs typeface="Times New Roman" panose="02020603050405020304" pitchFamily="18" charset="0"/>
              </a:rPr>
              <a:t>Type I Error: </a:t>
            </a:r>
            <a:r>
              <a:rPr lang="en-US" dirty="0">
                <a:latin typeface="Times New Roman" panose="02020603050405020304" pitchFamily="18" charset="0"/>
                <a:cs typeface="Times New Roman" panose="02020603050405020304" pitchFamily="18" charset="0"/>
              </a:rPr>
              <a:t>A Type I Error occurs when we reject the null hypothesis even though it is actually true.</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Type II Error: </a:t>
            </a:r>
            <a:r>
              <a:rPr lang="en-US" dirty="0">
                <a:latin typeface="Times New Roman" panose="02020603050405020304" pitchFamily="18" charset="0"/>
                <a:cs typeface="Times New Roman" panose="02020603050405020304" pitchFamily="18" charset="0"/>
              </a:rPr>
              <a:t>A Type II Error occurs when we fail to reject the null hypothesis even though it is false.</a:t>
            </a:r>
          </a:p>
          <a:p>
            <a:endParaRPr lang="en-US" dirty="0"/>
          </a:p>
          <a:p>
            <a:pPr marL="0" indent="0">
              <a:buNone/>
            </a:pPr>
            <a:endParaRPr lang="en-US" dirty="0"/>
          </a:p>
        </p:txBody>
      </p:sp>
    </p:spTree>
    <p:extLst>
      <p:ext uri="{BB962C8B-B14F-4D97-AF65-F5344CB8AC3E}">
        <p14:creationId xmlns:p14="http://schemas.microsoft.com/office/powerpoint/2010/main" val="32387974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56EDF-A33C-A277-7CCC-A9CB79B3FB9F}"/>
              </a:ext>
            </a:extLst>
          </p:cNvPr>
          <p:cNvSpPr>
            <a:spLocks noGrp="1"/>
          </p:cNvSpPr>
          <p:nvPr>
            <p:ph type="title"/>
          </p:nvPr>
        </p:nvSpPr>
        <p:spPr>
          <a:xfrm>
            <a:off x="0" y="256032"/>
            <a:ext cx="12192000" cy="1216152"/>
          </a:xfrm>
        </p:spPr>
        <p:txBody>
          <a:bodyPr>
            <a:noAutofit/>
          </a:bodyPr>
          <a:lstStyle/>
          <a:p>
            <a:r>
              <a:rPr lang="en-US" sz="2400" dirty="0">
                <a:latin typeface="Times New Roman" panose="02020603050405020304" pitchFamily="18" charset="0"/>
                <a:cs typeface="Times New Roman" panose="02020603050405020304" pitchFamily="18" charset="0"/>
              </a:rPr>
              <a:t>Example 1: Students in SDA have 85% marks in the subject. A sample of 150 students was taken and it was found that the avg marks was 88%. With SD of 4%. Does the marks rate differ from the actual. Significance value 0.05</a:t>
            </a:r>
          </a:p>
        </p:txBody>
      </p:sp>
      <p:sp>
        <p:nvSpPr>
          <p:cNvPr id="3" name="Content Placeholder 2">
            <a:extLst>
              <a:ext uri="{FF2B5EF4-FFF2-40B4-BE49-F238E27FC236}">
                <a16:creationId xmlns:a16="http://schemas.microsoft.com/office/drawing/2014/main" id="{79504A43-C075-4A0B-BFAE-C297AC8394EC}"/>
              </a:ext>
            </a:extLst>
          </p:cNvPr>
          <p:cNvSpPr>
            <a:spLocks noGrp="1"/>
          </p:cNvSpPr>
          <p:nvPr>
            <p:ph idx="1"/>
          </p:nvPr>
        </p:nvSpPr>
        <p:spPr>
          <a:xfrm>
            <a:off x="210312" y="1600201"/>
            <a:ext cx="11143488" cy="1289304"/>
          </a:xfrm>
        </p:spPr>
        <p:txBody>
          <a:bodyPr/>
          <a:lstStyle/>
          <a:p>
            <a:pPr marL="0" indent="0">
              <a:buNone/>
            </a:pPr>
            <a:r>
              <a:rPr lang="en-US" dirty="0"/>
              <a:t>One tail</a:t>
            </a:r>
          </a:p>
          <a:p>
            <a:pPr marL="0" indent="0">
              <a:buNone/>
            </a:pPr>
            <a:r>
              <a:rPr lang="en-US" dirty="0"/>
              <a:t>Two tail test</a:t>
            </a:r>
          </a:p>
        </p:txBody>
      </p:sp>
      <p:sp>
        <p:nvSpPr>
          <p:cNvPr id="5" name="TextBox 4">
            <a:extLst>
              <a:ext uri="{FF2B5EF4-FFF2-40B4-BE49-F238E27FC236}">
                <a16:creationId xmlns:a16="http://schemas.microsoft.com/office/drawing/2014/main" id="{2131ADF9-46E2-BF41-0E8D-ED73B72D8CFD}"/>
              </a:ext>
            </a:extLst>
          </p:cNvPr>
          <p:cNvSpPr txBox="1"/>
          <p:nvPr/>
        </p:nvSpPr>
        <p:spPr>
          <a:xfrm>
            <a:off x="210312" y="2822447"/>
            <a:ext cx="11914632" cy="954107"/>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Example 1: Students in Neet appear in an exam. The SD=100 and a sample of 25 test takers are chosen who have a mean score of 520. Construct a 95% CI.</a:t>
            </a:r>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09DA37B3-13EE-536D-48CF-0784FCBA9CF6}"/>
                  </a:ext>
                </a:extLst>
              </p:cNvPr>
              <p:cNvSpPr txBox="1">
                <a:spLocks/>
              </p:cNvSpPr>
              <p:nvPr/>
            </p:nvSpPr>
            <p:spPr>
              <a:xfrm>
                <a:off x="1048512" y="3817700"/>
                <a:ext cx="11143488" cy="30402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Sol: SD=100, n=25, </a:t>
                </a:r>
                <a:r>
                  <a:rPr lang="el-GR" dirty="0">
                    <a:latin typeface="Times New Roman" panose="02020603050405020304" pitchFamily="18" charset="0"/>
                    <a:cs typeface="Times New Roman" panose="02020603050405020304" pitchFamily="18" charset="0"/>
                  </a:rPr>
                  <a:t>α=</a:t>
                </a:r>
                <a:r>
                  <a:rPr lang="en-US" dirty="0">
                    <a:latin typeface="Times New Roman" panose="02020603050405020304" pitchFamily="18" charset="0"/>
                    <a:cs typeface="Times New Roman" panose="02020603050405020304" pitchFamily="18" charset="0"/>
                  </a:rPr>
                  <a:t>0.05,Sample mean (</a:t>
                </a:r>
                <a14:m>
                  <m:oMath xmlns:m="http://schemas.openxmlformats.org/officeDocument/2006/math">
                    <m:limUpp>
                      <m:limUppPr>
                        <m:ctrlPr>
                          <a:rPr lang="ar-AE" i="1">
                            <a:latin typeface="Cambria Math" panose="02040503050406030204" pitchFamily="18" charset="0"/>
                          </a:rPr>
                        </m:ctrlPr>
                      </m:limUppPr>
                      <m:e>
                        <m:r>
                          <a:rPr lang="ar-AE" i="1">
                            <a:latin typeface="Cambria Math" panose="02040503050406030204" pitchFamily="18" charset="0"/>
                          </a:rPr>
                          <m:t>𝑥</m:t>
                        </m:r>
                      </m:e>
                      <m:lim>
                        <m:r>
                          <a:rPr lang="ar-AE">
                            <a:latin typeface="Cambria Math" panose="02040503050406030204" pitchFamily="18" charset="0"/>
                          </a:rPr>
                          <m:t>ˉ</m:t>
                        </m:r>
                      </m:lim>
                    </m:limUpp>
                  </m:oMath>
                </a14:m>
                <a:r>
                  <a:rPr lang="en-US" dirty="0">
                    <a:latin typeface="Times New Roman" panose="02020603050405020304" pitchFamily="18" charset="0"/>
                    <a:cs typeface="Times New Roman" panose="02020603050405020304" pitchFamily="18" charset="0"/>
                  </a:rPr>
                  <a:t>) =520</a:t>
                </a:r>
              </a:p>
              <a:p>
                <a:pPr marL="0" indent="0">
                  <a:buNone/>
                </a:pPr>
                <a:r>
                  <a:rPr lang="en-US" dirty="0">
                    <a:latin typeface="Times New Roman" panose="02020603050405020304" pitchFamily="18" charset="0"/>
                    <a:cs typeface="Times New Roman" panose="02020603050405020304" pitchFamily="18" charset="0"/>
                  </a:rPr>
                  <a:t>Note: When pop SD is given in question, use Z test.</a:t>
                </a:r>
              </a:p>
              <a:p>
                <a:pPr marL="0" indent="0" algn="ctr">
                  <a:buNone/>
                </a:pPr>
                <a14:m>
                  <m:oMath xmlns:m="http://schemas.openxmlformats.org/officeDocument/2006/math">
                    <m:r>
                      <a:rPr lang="en-US" b="0" i="1" smtClean="0">
                        <a:latin typeface="Cambria Math" panose="02040503050406030204" pitchFamily="18" charset="0"/>
                      </a:rPr>
                      <m:t> </m:t>
                    </m:r>
                    <m:r>
                      <a:rPr lang="en-US" i="1">
                        <a:latin typeface="Cambria Math" panose="02040503050406030204" pitchFamily="18" charset="0"/>
                      </a:rPr>
                      <m:t>𝐶𝐼</m:t>
                    </m:r>
                    <m:r>
                      <a:rPr lang="en-US">
                        <a:latin typeface="Cambria Math" panose="02040503050406030204" pitchFamily="18" charset="0"/>
                      </a:rPr>
                      <m:t>=</m:t>
                    </m:r>
                    <m:limUpp>
                      <m:limUppPr>
                        <m:ctrlPr>
                          <a:rPr lang="ar-AE" i="1">
                            <a:latin typeface="Cambria Math" panose="02040503050406030204" pitchFamily="18" charset="0"/>
                          </a:rPr>
                        </m:ctrlPr>
                      </m:limUppPr>
                      <m:e>
                        <m:r>
                          <a:rPr lang="ar-AE" i="1">
                            <a:latin typeface="Cambria Math" panose="02040503050406030204" pitchFamily="18" charset="0"/>
                          </a:rPr>
                          <m:t>𝑥</m:t>
                        </m:r>
                      </m:e>
                      <m:lim>
                        <m:r>
                          <a:rPr lang="ar-AE">
                            <a:latin typeface="Cambria Math" panose="02040503050406030204" pitchFamily="18" charset="0"/>
                          </a:rPr>
                          <m:t>ˉ</m:t>
                        </m:r>
                      </m:lim>
                    </m:limUpp>
                    <m:r>
                      <a:rPr lang="ar-AE">
                        <a:latin typeface="Cambria Math" panose="02040503050406030204" pitchFamily="18" charset="0"/>
                      </a:rPr>
                      <m:t>±</m:t>
                    </m:r>
                    <m:sSub>
                      <m:sSubPr>
                        <m:ctrlPr>
                          <a:rPr lang="ar-AE" i="1" smtClean="0">
                            <a:latin typeface="Cambria Math" panose="02040503050406030204" pitchFamily="18" charset="0"/>
                          </a:rPr>
                        </m:ctrlPr>
                      </m:sSubPr>
                      <m:e>
                        <m:r>
                          <a:rPr lang="ar-AE" i="1">
                            <a:latin typeface="Cambria Math" panose="02040503050406030204" pitchFamily="18" charset="0"/>
                          </a:rPr>
                          <m:t>𝑍</m:t>
                        </m:r>
                      </m:e>
                      <m:sub>
                        <m:r>
                          <m:rPr>
                            <m:nor/>
                          </m:rPr>
                          <a:rPr lang="el-GR" dirty="0">
                            <a:latin typeface="Times New Roman" panose="02020603050405020304" pitchFamily="18" charset="0"/>
                            <a:cs typeface="Times New Roman" panose="02020603050405020304" pitchFamily="18" charset="0"/>
                          </a:rPr>
                          <m:t>α</m:t>
                        </m:r>
                        <m:r>
                          <m:rPr>
                            <m:nor/>
                          </m:rPr>
                          <a:rPr lang="en-US" dirty="0">
                            <a:latin typeface="Times New Roman" panose="02020603050405020304" pitchFamily="18" charset="0"/>
                            <a:cs typeface="Times New Roman" panose="02020603050405020304" pitchFamily="18" charset="0"/>
                          </a:rPr>
                          <m:t>/</m:t>
                        </m:r>
                        <m:r>
                          <m:rPr>
                            <m:nor/>
                          </m:rPr>
                          <a:rPr lang="en-US" dirty="0">
                            <a:latin typeface="Times New Roman" panose="02020603050405020304" pitchFamily="18" charset="0"/>
                            <a:cs typeface="Times New Roman" panose="02020603050405020304" pitchFamily="18" charset="0"/>
                          </a:rPr>
                          <m:t>2</m:t>
                        </m:r>
                      </m:sub>
                    </m:sSub>
                    <m:f>
                      <m:fPr>
                        <m:ctrlPr>
                          <a:rPr lang="ar-AE" i="1">
                            <a:latin typeface="Cambria Math" panose="02040503050406030204" pitchFamily="18" charset="0"/>
                          </a:rPr>
                        </m:ctrlPr>
                      </m:fPr>
                      <m:num>
                        <m:r>
                          <a:rPr lang="ar-AE" i="1">
                            <a:latin typeface="Cambria Math" panose="02040503050406030204" pitchFamily="18" charset="0"/>
                          </a:rPr>
                          <m:t>𝜎</m:t>
                        </m:r>
                      </m:num>
                      <m:den>
                        <m:rad>
                          <m:radPr>
                            <m:degHide m:val="on"/>
                            <m:ctrlPr>
                              <a:rPr lang="ar-AE" i="1">
                                <a:latin typeface="Cambria Math" panose="02040503050406030204" pitchFamily="18" charset="0"/>
                              </a:rPr>
                            </m:ctrlPr>
                          </m:radPr>
                          <m:deg/>
                          <m:e>
                            <m:r>
                              <a:rPr lang="ar-AE" i="1">
                                <a:latin typeface="Cambria Math" panose="02040503050406030204" pitchFamily="18" charset="0"/>
                              </a:rPr>
                              <m:t>𝑛</m:t>
                            </m:r>
                          </m:e>
                        </m:rad>
                      </m:den>
                    </m:f>
                  </m:oMath>
                </a14:m>
                <a:r>
                  <a:rPr lang="en-US" dirty="0"/>
                  <a:t>         </a:t>
                </a:r>
              </a:p>
              <a:p>
                <a:pPr marL="0" indent="0" algn="ctr">
                  <a:buNone/>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𝑍</m:t>
                        </m:r>
                      </m:e>
                      <m:sub>
                        <m:r>
                          <m:rPr>
                            <m:nor/>
                          </m:rPr>
                          <a:rPr lang="en-US" b="0" i="0" smtClean="0">
                            <a:latin typeface="Cambria Math" panose="02040503050406030204" pitchFamily="18" charset="0"/>
                          </a:rPr>
                          <m:t>0.05</m:t>
                        </m:r>
                        <m:r>
                          <m:rPr>
                            <m:nor/>
                          </m:rPr>
                          <a:rPr lang="en-US" dirty="0">
                            <a:latin typeface="Times New Roman" panose="02020603050405020304" pitchFamily="18" charset="0"/>
                            <a:cs typeface="Times New Roman" panose="02020603050405020304" pitchFamily="18" charset="0"/>
                          </a:rPr>
                          <m:t>/</m:t>
                        </m:r>
                        <m:r>
                          <m:rPr>
                            <m:nor/>
                          </m:rPr>
                          <a:rPr lang="en-US" dirty="0">
                            <a:latin typeface="Times New Roman" panose="02020603050405020304" pitchFamily="18" charset="0"/>
                            <a:cs typeface="Times New Roman" panose="02020603050405020304" pitchFamily="18" charset="0"/>
                          </a:rPr>
                          <m:t>2</m:t>
                        </m:r>
                      </m:sub>
                    </m:sSub>
                    <m:r>
                      <a:rPr lang="en-US" b="0" i="1" dirty="0" smtClean="0">
                        <a:latin typeface="Cambria Math" panose="02040503050406030204" pitchFamily="18" charset="0"/>
                        <a:cs typeface="Times New Roman" panose="020206030504050203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𝑍</m:t>
                        </m:r>
                      </m:e>
                      <m:sub>
                        <m:r>
                          <m:rPr>
                            <m:nor/>
                          </m:rPr>
                          <a:rPr lang="en-US" b="0" i="0" smtClean="0">
                            <a:latin typeface="Cambria Math" panose="02040503050406030204" pitchFamily="18" charset="0"/>
                          </a:rPr>
                          <m:t>0.025</m:t>
                        </m:r>
                      </m:sub>
                    </m:sSub>
                  </m:oMath>
                </a14:m>
                <a:r>
                  <a:rPr lang="en-US" dirty="0"/>
                  <a:t>= </a:t>
                </a:r>
              </a:p>
              <a:p>
                <a:pPr marL="0" indent="0" algn="ctr">
                  <a:buNone/>
                </a:pPr>
                <a:r>
                  <a:rPr lang="en-US" dirty="0"/>
                  <a:t>1-0.025=0.975 Search this in Z table </a:t>
                </a:r>
                <a:r>
                  <a:rPr lang="en-US" dirty="0">
                    <a:highlight>
                      <a:srgbClr val="FFFF00"/>
                    </a:highlight>
                    <a:latin typeface="Times New Roman" panose="02020603050405020304" pitchFamily="18" charset="0"/>
                    <a:cs typeface="Times New Roman" panose="02020603050405020304" pitchFamily="18" charset="0"/>
                  </a:rPr>
                  <a:t>1.96</a:t>
                </a:r>
              </a:p>
              <a:p>
                <a:pPr marL="0" indent="0" algn="ctr">
                  <a:buNone/>
                </a:pPr>
                <a:endParaRPr lang="en-US" dirty="0"/>
              </a:p>
            </p:txBody>
          </p:sp>
        </mc:Choice>
        <mc:Fallback xmlns="">
          <p:sp>
            <p:nvSpPr>
              <p:cNvPr id="6" name="Content Placeholder 2">
                <a:extLst>
                  <a:ext uri="{FF2B5EF4-FFF2-40B4-BE49-F238E27FC236}">
                    <a16:creationId xmlns:a16="http://schemas.microsoft.com/office/drawing/2014/main" id="{09DA37B3-13EE-536D-48CF-0784FCBA9CF6}"/>
                  </a:ext>
                </a:extLst>
              </p:cNvPr>
              <p:cNvSpPr txBox="1">
                <a:spLocks noRot="1" noChangeAspect="1" noMove="1" noResize="1" noEditPoints="1" noAdjustHandles="1" noChangeArrowheads="1" noChangeShapeType="1" noTextEdit="1"/>
              </p:cNvSpPr>
              <p:nvPr/>
            </p:nvSpPr>
            <p:spPr>
              <a:xfrm>
                <a:off x="1048512" y="3817700"/>
                <a:ext cx="11143488" cy="3040299"/>
              </a:xfrm>
              <a:prstGeom prst="rect">
                <a:avLst/>
              </a:prstGeom>
              <a:blipFill>
                <a:blip r:embed="rId2"/>
                <a:stretch>
                  <a:fillRect l="-1094" b="-1202"/>
                </a:stretch>
              </a:blipFill>
            </p:spPr>
            <p:txBody>
              <a:bodyPr/>
              <a:lstStyle/>
              <a:p>
                <a:r>
                  <a:rPr lang="en-US">
                    <a:noFill/>
                  </a:rPr>
                  <a:t> </a:t>
                </a:r>
              </a:p>
            </p:txBody>
          </p:sp>
        </mc:Fallback>
      </mc:AlternateContent>
    </p:spTree>
    <p:extLst>
      <p:ext uri="{BB962C8B-B14F-4D97-AF65-F5344CB8AC3E}">
        <p14:creationId xmlns:p14="http://schemas.microsoft.com/office/powerpoint/2010/main" val="32598582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82B7D7-F722-FCAA-0684-EF87B3365BC3}"/>
              </a:ext>
            </a:extLst>
          </p:cNvPr>
          <p:cNvSpPr>
            <a:spLocks noGrp="1"/>
          </p:cNvSpPr>
          <p:nvPr>
            <p:ph idx="1"/>
          </p:nvPr>
        </p:nvSpPr>
        <p:spPr>
          <a:xfrm>
            <a:off x="299545" y="157655"/>
            <a:ext cx="11592910" cy="6429212"/>
          </a:xfrm>
        </p:spPr>
        <p:txBody>
          <a:bodyPr/>
          <a:lstStyle/>
          <a:p>
            <a:pPr marL="0" indent="0">
              <a:buNone/>
            </a:pPr>
            <a:r>
              <a:rPr lang="en-US" dirty="0"/>
              <a:t>CI=520+1.96(100/root(25)) =559.2</a:t>
            </a:r>
          </a:p>
          <a:p>
            <a:pPr marL="0" indent="0">
              <a:buNone/>
            </a:pPr>
            <a:r>
              <a:rPr lang="en-US" dirty="0"/>
              <a:t>CI=520-1.96(100/root(25))=480.8</a:t>
            </a:r>
          </a:p>
          <a:p>
            <a:pPr marL="0" indent="0">
              <a:buNone/>
            </a:pPr>
            <a:r>
              <a:rPr lang="en-US" dirty="0"/>
              <a:t>CI=[480.8, 559]</a:t>
            </a:r>
          </a:p>
          <a:p>
            <a:pPr marL="0" indent="0">
              <a:buNone/>
            </a:pPr>
            <a:endParaRPr lang="en-US" dirty="0"/>
          </a:p>
          <a:p>
            <a:pPr marL="0" indent="0">
              <a:buNone/>
            </a:pPr>
            <a:r>
              <a:rPr lang="en-US" b="1" dirty="0"/>
              <a:t>Note: what if Pop. SD is not given then we use a test called as t-test</a:t>
            </a:r>
          </a:p>
          <a:p>
            <a:pPr marL="0" indent="0">
              <a:buNone/>
            </a:pPr>
            <a:endParaRPr lang="en-US" b="1" dirty="0"/>
          </a:p>
          <a:p>
            <a:pPr marL="0" indent="0">
              <a:buNone/>
            </a:pPr>
            <a:endParaRPr lang="en-US" b="1" dirty="0"/>
          </a:p>
        </p:txBody>
      </p:sp>
      <p:graphicFrame>
        <p:nvGraphicFramePr>
          <p:cNvPr id="4" name="Table 3">
            <a:extLst>
              <a:ext uri="{FF2B5EF4-FFF2-40B4-BE49-F238E27FC236}">
                <a16:creationId xmlns:a16="http://schemas.microsoft.com/office/drawing/2014/main" id="{54436697-E371-91A6-BAA0-8A06C542259C}"/>
              </a:ext>
            </a:extLst>
          </p:cNvPr>
          <p:cNvGraphicFramePr>
            <a:graphicFrameLocks noGrp="1"/>
          </p:cNvGraphicFramePr>
          <p:nvPr>
            <p:extLst>
              <p:ext uri="{D42A27DB-BD31-4B8C-83A1-F6EECF244321}">
                <p14:modId xmlns:p14="http://schemas.microsoft.com/office/powerpoint/2010/main" val="3050142931"/>
              </p:ext>
            </p:extLst>
          </p:nvPr>
        </p:nvGraphicFramePr>
        <p:xfrm>
          <a:off x="838200" y="3086894"/>
          <a:ext cx="10515600" cy="2630734"/>
        </p:xfrm>
        <a:graphic>
          <a:graphicData uri="http://schemas.openxmlformats.org/drawingml/2006/table">
            <a:tbl>
              <a:tblPr/>
              <a:tblGrid>
                <a:gridCol w="6711176">
                  <a:extLst>
                    <a:ext uri="{9D8B030D-6E8A-4147-A177-3AD203B41FA5}">
                      <a16:colId xmlns:a16="http://schemas.microsoft.com/office/drawing/2014/main" val="286828878"/>
                    </a:ext>
                  </a:extLst>
                </a:gridCol>
                <a:gridCol w="3804424">
                  <a:extLst>
                    <a:ext uri="{9D8B030D-6E8A-4147-A177-3AD203B41FA5}">
                      <a16:colId xmlns:a16="http://schemas.microsoft.com/office/drawing/2014/main" val="911933420"/>
                    </a:ext>
                  </a:extLst>
                </a:gridCol>
              </a:tblGrid>
              <a:tr h="457519">
                <a:tc>
                  <a:txBody>
                    <a:bodyPr/>
                    <a:lstStyle/>
                    <a:p>
                      <a:pPr>
                        <a:buNone/>
                      </a:pPr>
                      <a:r>
                        <a:rPr lang="en-US" b="1">
                          <a:latin typeface="Times New Roman" panose="02020603050405020304" pitchFamily="18" charset="0"/>
                          <a:cs typeface="Times New Roman" panose="02020603050405020304" pitchFamily="18" charset="0"/>
                        </a:rPr>
                        <a:t>Situation</a:t>
                      </a:r>
                    </a:p>
                  </a:txBody>
                  <a:tcPr anchor="ctr">
                    <a:lnL>
                      <a:noFill/>
                    </a:lnL>
                    <a:lnR>
                      <a:noFill/>
                    </a:lnR>
                    <a:lnT>
                      <a:noFill/>
                    </a:lnT>
                    <a:lnB>
                      <a:noFill/>
                    </a:lnB>
                    <a:noFill/>
                  </a:tcPr>
                </a:tc>
                <a:tc>
                  <a:txBody>
                    <a:bodyPr/>
                    <a:lstStyle/>
                    <a:p>
                      <a:pPr>
                        <a:buNone/>
                      </a:pPr>
                      <a:r>
                        <a:rPr lang="en-US" b="1" dirty="0">
                          <a:latin typeface="Times New Roman" panose="02020603050405020304" pitchFamily="18" charset="0"/>
                          <a:cs typeface="Times New Roman" panose="02020603050405020304" pitchFamily="18" charset="0"/>
                        </a:rPr>
                        <a:t>Test Used</a:t>
                      </a:r>
                    </a:p>
                  </a:txBody>
                  <a:tcPr anchor="ctr">
                    <a:lnL>
                      <a:noFill/>
                    </a:lnL>
                    <a:lnR>
                      <a:noFill/>
                    </a:lnR>
                    <a:lnT>
                      <a:noFill/>
                    </a:lnT>
                    <a:lnB>
                      <a:noFill/>
                    </a:lnB>
                    <a:noFill/>
                  </a:tcPr>
                </a:tc>
                <a:extLst>
                  <a:ext uri="{0D108BD9-81ED-4DB2-BD59-A6C34878D82A}">
                    <a16:rowId xmlns:a16="http://schemas.microsoft.com/office/drawing/2014/main" val="1592467496"/>
                  </a:ext>
                </a:extLst>
              </a:tr>
              <a:tr h="457519">
                <a:tc>
                  <a:txBody>
                    <a:bodyPr/>
                    <a:lstStyle/>
                    <a:p>
                      <a:pPr>
                        <a:buNone/>
                      </a:pPr>
                      <a:r>
                        <a:rPr lang="en-US">
                          <a:latin typeface="Times New Roman" panose="02020603050405020304" pitchFamily="18" charset="0"/>
                          <a:cs typeface="Times New Roman" panose="02020603050405020304" pitchFamily="18" charset="0"/>
                        </a:rPr>
                        <a:t>Population standard deviation </a:t>
                      </a:r>
                      <a:r>
                        <a:rPr lang="en-US" b="1">
                          <a:latin typeface="Times New Roman" panose="02020603050405020304" pitchFamily="18" charset="0"/>
                          <a:cs typeface="Times New Roman" panose="02020603050405020304" pitchFamily="18" charset="0"/>
                        </a:rPr>
                        <a:t>known</a:t>
                      </a:r>
                      <a:endParaRPr lang="en-US">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b="1">
                          <a:latin typeface="Times New Roman" panose="02020603050405020304" pitchFamily="18" charset="0"/>
                          <a:cs typeface="Times New Roman" panose="02020603050405020304" pitchFamily="18" charset="0"/>
                        </a:rPr>
                        <a:t>Z-test / Z-confidence interval</a:t>
                      </a:r>
                      <a:endParaRPr lang="en-US">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843075144"/>
                  </a:ext>
                </a:extLst>
              </a:tr>
              <a:tr h="457519">
                <a:tc>
                  <a:txBody>
                    <a:bodyPr/>
                    <a:lstStyle/>
                    <a:p>
                      <a:pPr>
                        <a:buNone/>
                      </a:pPr>
                      <a:r>
                        <a:rPr lang="en-US">
                          <a:latin typeface="Times New Roman" panose="02020603050405020304" pitchFamily="18" charset="0"/>
                          <a:cs typeface="Times New Roman" panose="02020603050405020304" pitchFamily="18" charset="0"/>
                        </a:rPr>
                        <a:t>Population standard deviation </a:t>
                      </a:r>
                      <a:r>
                        <a:rPr lang="en-US" b="1">
                          <a:latin typeface="Times New Roman" panose="02020603050405020304" pitchFamily="18" charset="0"/>
                          <a:cs typeface="Times New Roman" panose="02020603050405020304" pitchFamily="18" charset="0"/>
                        </a:rPr>
                        <a:t>unknown</a:t>
                      </a:r>
                      <a:endParaRPr lang="en-US">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b="1">
                          <a:latin typeface="Times New Roman" panose="02020603050405020304" pitchFamily="18" charset="0"/>
                          <a:cs typeface="Times New Roman" panose="02020603050405020304" pitchFamily="18" charset="0"/>
                        </a:rPr>
                        <a:t>t-test / t-confidence interval</a:t>
                      </a:r>
                      <a:endParaRPr lang="en-US">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3041504597"/>
                  </a:ext>
                </a:extLst>
              </a:tr>
              <a:tr h="800658">
                <a:tc>
                  <a:txBody>
                    <a:bodyPr/>
                    <a:lstStyle/>
                    <a:p>
                      <a:pPr>
                        <a:buNone/>
                      </a:pPr>
                      <a:r>
                        <a:rPr lang="en-US" dirty="0">
                          <a:latin typeface="Times New Roman" panose="02020603050405020304" pitchFamily="18" charset="0"/>
                          <a:cs typeface="Times New Roman" panose="02020603050405020304" pitchFamily="18" charset="0"/>
                        </a:rPr>
                        <a:t>Sample size </a:t>
                      </a:r>
                      <a:r>
                        <a:rPr lang="en-US" b="1" dirty="0">
                          <a:latin typeface="Times New Roman" panose="02020603050405020304" pitchFamily="18" charset="0"/>
                          <a:cs typeface="Times New Roman" panose="02020603050405020304" pitchFamily="18" charset="0"/>
                        </a:rPr>
                        <a:t>large (n ≥ 30){unfortunately we used 25 in the example}</a:t>
                      </a:r>
                      <a:endParaRPr lang="en-US"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a:latin typeface="Times New Roman" panose="02020603050405020304" pitchFamily="18" charset="0"/>
                          <a:cs typeface="Times New Roman" panose="02020603050405020304" pitchFamily="18" charset="0"/>
                        </a:rPr>
                        <a:t>Z-test often used</a:t>
                      </a:r>
                    </a:p>
                  </a:txBody>
                  <a:tcPr anchor="ctr">
                    <a:lnL>
                      <a:noFill/>
                    </a:lnL>
                    <a:lnR>
                      <a:noFill/>
                    </a:lnR>
                    <a:lnT>
                      <a:noFill/>
                    </a:lnT>
                    <a:lnB>
                      <a:noFill/>
                    </a:lnB>
                    <a:noFill/>
                  </a:tcPr>
                </a:tc>
                <a:extLst>
                  <a:ext uri="{0D108BD9-81ED-4DB2-BD59-A6C34878D82A}">
                    <a16:rowId xmlns:a16="http://schemas.microsoft.com/office/drawing/2014/main" val="2602887996"/>
                  </a:ext>
                </a:extLst>
              </a:tr>
              <a:tr h="457519">
                <a:tc>
                  <a:txBody>
                    <a:bodyPr/>
                    <a:lstStyle/>
                    <a:p>
                      <a:pPr>
                        <a:buNone/>
                      </a:pPr>
                      <a:r>
                        <a:rPr lang="en-US">
                          <a:latin typeface="Times New Roman" panose="02020603050405020304" pitchFamily="18" charset="0"/>
                          <a:cs typeface="Times New Roman" panose="02020603050405020304" pitchFamily="18" charset="0"/>
                        </a:rPr>
                        <a:t>Sample size </a:t>
                      </a:r>
                      <a:r>
                        <a:rPr lang="en-US" b="1">
                          <a:latin typeface="Times New Roman" panose="02020603050405020304" pitchFamily="18" charset="0"/>
                          <a:cs typeface="Times New Roman" panose="02020603050405020304" pitchFamily="18" charset="0"/>
                        </a:rPr>
                        <a:t>small (n &lt; 30)</a:t>
                      </a:r>
                      <a:endParaRPr lang="en-US">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b="1" dirty="0">
                          <a:latin typeface="Times New Roman" panose="02020603050405020304" pitchFamily="18" charset="0"/>
                          <a:cs typeface="Times New Roman" panose="02020603050405020304" pitchFamily="18" charset="0"/>
                        </a:rPr>
                        <a:t>t-test preferred</a:t>
                      </a:r>
                      <a:endParaRPr lang="en-US"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497901925"/>
                  </a:ext>
                </a:extLst>
              </a:tr>
            </a:tbl>
          </a:graphicData>
        </a:graphic>
      </p:graphicFrame>
    </p:spTree>
    <p:extLst>
      <p:ext uri="{BB962C8B-B14F-4D97-AF65-F5344CB8AC3E}">
        <p14:creationId xmlns:p14="http://schemas.microsoft.com/office/powerpoint/2010/main" val="15872500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DE4D196-77F2-B656-2E8C-B2F8548166F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
            <a:ext cx="12192000" cy="6936059"/>
          </a:xfrm>
          <a:prstGeom prst="rect">
            <a:avLst/>
          </a:prstGeom>
        </p:spPr>
      </p:pic>
      <p:sp>
        <p:nvSpPr>
          <p:cNvPr id="6" name="Rectangle 5">
            <a:extLst>
              <a:ext uri="{FF2B5EF4-FFF2-40B4-BE49-F238E27FC236}">
                <a16:creationId xmlns:a16="http://schemas.microsoft.com/office/drawing/2014/main" id="{E145422A-2923-9B10-1D03-3C78DE13A114}"/>
              </a:ext>
            </a:extLst>
          </p:cNvPr>
          <p:cNvSpPr/>
          <p:nvPr/>
        </p:nvSpPr>
        <p:spPr>
          <a:xfrm>
            <a:off x="7772400" y="3323063"/>
            <a:ext cx="892098" cy="211874"/>
          </a:xfrm>
          <a:prstGeom prst="rect">
            <a:avLst/>
          </a:prstGeom>
          <a:solidFill>
            <a:schemeClr val="lt1">
              <a:alpha val="12000"/>
            </a:schemeClr>
          </a:solidFill>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5076272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D791E0C-74BF-02D8-6697-29616540D7A1}"/>
                  </a:ext>
                </a:extLst>
              </p:cNvPr>
              <p:cNvSpPr>
                <a:spLocks noGrp="1"/>
              </p:cNvSpPr>
              <p:nvPr>
                <p:ph idx="1"/>
              </p:nvPr>
            </p:nvSpPr>
            <p:spPr>
              <a:xfrm>
                <a:off x="838200" y="283779"/>
                <a:ext cx="10515600" cy="6390290"/>
              </a:xfrm>
            </p:spPr>
            <p:txBody>
              <a:bodyPr/>
              <a:lstStyle/>
              <a:p>
                <a:pPr marL="0" indent="0">
                  <a:buNone/>
                </a:pPr>
                <a:r>
                  <a:rPr lang="en-US" dirty="0"/>
                  <a:t>Example 2 : Students appearing in NEET exam. A sample of 25 students has mean score 520 </a:t>
                </a:r>
                <a:r>
                  <a:rPr lang="en-US" dirty="0">
                    <a:highlight>
                      <a:srgbClr val="FFFF00"/>
                    </a:highlight>
                  </a:rPr>
                  <a:t>and sample standard deviation = 100</a:t>
                </a:r>
                <a:r>
                  <a:rPr lang="en-US" dirty="0"/>
                  <a:t>. Construct a 95% confidence interval.</a:t>
                </a:r>
              </a:p>
              <a:p>
                <a:pPr marL="0" indent="0">
                  <a:buNone/>
                </a:pPr>
                <a:r>
                  <a:rPr lang="en-US" dirty="0"/>
                  <a:t>Sol</a:t>
                </a:r>
              </a:p>
              <a:p>
                <a:pPr marL="0" indent="0">
                  <a:buNone/>
                </a:pPr>
                <a:r>
                  <a:rPr lang="en-US" b="1" dirty="0">
                    <a:solidFill>
                      <a:srgbClr val="FF0000"/>
                    </a:solidFill>
                  </a:rPr>
                  <a:t>Note: population SD is unknown, so we use t-distribution.</a:t>
                </a:r>
              </a:p>
              <a:p>
                <a:r>
                  <a:rPr lang="en-US" dirty="0">
                    <a:latin typeface="Times New Roman" panose="02020603050405020304" pitchFamily="18" charset="0"/>
                    <a:cs typeface="Times New Roman" panose="02020603050405020304" pitchFamily="18" charset="0"/>
                  </a:rPr>
                  <a:t>Given:</a:t>
                </a:r>
              </a:p>
              <a:p>
                <a14:m>
                  <m:oMath xmlns:m="http://schemas.openxmlformats.org/officeDocument/2006/math">
                    <m:limUpp>
                      <m:limUppPr>
                        <m:ctrlPr>
                          <a:rPr lang="ar-AE" i="1">
                            <a:latin typeface="Cambria Math" panose="02040503050406030204" pitchFamily="18" charset="0"/>
                          </a:rPr>
                        </m:ctrlPr>
                      </m:limUppPr>
                      <m:e>
                        <m:r>
                          <a:rPr lang="ar-AE" i="1">
                            <a:latin typeface="Cambria Math" panose="02040503050406030204" pitchFamily="18" charset="0"/>
                          </a:rPr>
                          <m:t>𝑥</m:t>
                        </m:r>
                      </m:e>
                      <m:lim>
                        <m:r>
                          <a:rPr lang="ar-AE">
                            <a:latin typeface="Cambria Math" panose="02040503050406030204" pitchFamily="18" charset="0"/>
                          </a:rPr>
                          <m:t>ˉ</m:t>
                        </m:r>
                      </m:lim>
                    </m:limUpp>
                    <m:r>
                      <a:rPr lang="ar-AE">
                        <a:latin typeface="Cambria Math" panose="02040503050406030204" pitchFamily="18" charset="0"/>
                      </a:rPr>
                      <m:t>=</m:t>
                    </m:r>
                    <m:r>
                      <a:rPr lang="ar-AE">
                        <a:latin typeface="Cambria Math" panose="02040503050406030204" pitchFamily="18" charset="0"/>
                      </a:rPr>
                      <m:t>520</m:t>
                    </m:r>
                  </m:oMath>
                </a14:m>
                <a:endParaRPr lang="ar-AE" dirty="0">
                  <a:latin typeface="Times New Roman" panose="02020603050405020304" pitchFamily="18" charset="0"/>
                  <a:cs typeface="Times New Roman" panose="02020603050405020304" pitchFamily="18" charset="0"/>
                </a:endParaRPr>
              </a:p>
              <a:p>
                <a14:m>
                  <m:oMath xmlns:m="http://schemas.openxmlformats.org/officeDocument/2006/math">
                    <m:r>
                      <a:rPr lang="ar-AE" i="1">
                        <a:latin typeface="Cambria Math" panose="02040503050406030204" pitchFamily="18" charset="0"/>
                      </a:rPr>
                      <m:t>𝑠</m:t>
                    </m:r>
                    <m:r>
                      <a:rPr lang="ar-AE">
                        <a:latin typeface="Cambria Math" panose="02040503050406030204" pitchFamily="18" charset="0"/>
                      </a:rPr>
                      <m:t>=</m:t>
                    </m:r>
                    <m:r>
                      <a:rPr lang="ar-AE">
                        <a:latin typeface="Cambria Math" panose="02040503050406030204" pitchFamily="18" charset="0"/>
                      </a:rPr>
                      <m:t>100</m:t>
                    </m:r>
                  </m:oMath>
                </a14:m>
                <a:r>
                  <a:rPr lang="en-US" dirty="0">
                    <a:latin typeface="Times New Roman" panose="02020603050405020304" pitchFamily="18" charset="0"/>
                    <a:cs typeface="Times New Roman" panose="02020603050405020304" pitchFamily="18" charset="0"/>
                  </a:rPr>
                  <a:t> (Sample)</a:t>
                </a:r>
                <a:endParaRPr lang="ar-AE" dirty="0">
                  <a:latin typeface="Times New Roman" panose="02020603050405020304" pitchFamily="18" charset="0"/>
                  <a:cs typeface="Times New Roman" panose="02020603050405020304" pitchFamily="18" charset="0"/>
                </a:endParaRPr>
              </a:p>
              <a:p>
                <a14:m>
                  <m:oMath xmlns:m="http://schemas.openxmlformats.org/officeDocument/2006/math">
                    <m:r>
                      <a:rPr lang="ar-AE" i="1">
                        <a:latin typeface="Cambria Math" panose="02040503050406030204" pitchFamily="18" charset="0"/>
                      </a:rPr>
                      <m:t>𝑛</m:t>
                    </m:r>
                    <m:r>
                      <a:rPr lang="ar-AE">
                        <a:latin typeface="Cambria Math" panose="02040503050406030204" pitchFamily="18" charset="0"/>
                      </a:rPr>
                      <m:t>=</m:t>
                    </m:r>
                    <m:r>
                      <a:rPr lang="ar-AE">
                        <a:latin typeface="Cambria Math" panose="02040503050406030204" pitchFamily="18" charset="0"/>
                      </a:rPr>
                      <m:t>25</m:t>
                    </m:r>
                  </m:oMath>
                </a14:m>
                <a:endParaRPr lang="ar-AE"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Confidence level = </a:t>
                </a:r>
                <a:r>
                  <a:rPr lang="en-US" b="1" dirty="0">
                    <a:latin typeface="Times New Roman" panose="02020603050405020304" pitchFamily="18" charset="0"/>
                    <a:cs typeface="Times New Roman" panose="02020603050405020304" pitchFamily="18" charset="0"/>
                  </a:rPr>
                  <a:t>95%</a:t>
                </a:r>
                <a:endParaRPr lang="en-US"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𝐶𝐼</m:t>
                      </m:r>
                      <m:r>
                        <a:rPr lang="en-US">
                          <a:latin typeface="Cambria Math" panose="02040503050406030204" pitchFamily="18" charset="0"/>
                        </a:rPr>
                        <m:t>=</m:t>
                      </m:r>
                      <m:limUpp>
                        <m:limUppPr>
                          <m:ctrlPr>
                            <a:rPr lang="ar-AE" i="1">
                              <a:latin typeface="Cambria Math" panose="02040503050406030204" pitchFamily="18" charset="0"/>
                            </a:rPr>
                          </m:ctrlPr>
                        </m:limUppPr>
                        <m:e>
                          <m:r>
                            <a:rPr lang="ar-AE" i="1">
                              <a:latin typeface="Cambria Math" panose="02040503050406030204" pitchFamily="18" charset="0"/>
                            </a:rPr>
                            <m:t>𝑥</m:t>
                          </m:r>
                        </m:e>
                        <m:lim>
                          <m:r>
                            <a:rPr lang="ar-AE">
                              <a:latin typeface="Cambria Math" panose="02040503050406030204" pitchFamily="18" charset="0"/>
                            </a:rPr>
                            <m:t>ˉ</m:t>
                          </m:r>
                        </m:lim>
                      </m:limUpp>
                      <m:r>
                        <a:rPr lang="ar-AE">
                          <a:latin typeface="Cambria Math" panose="02040503050406030204" pitchFamily="18" charset="0"/>
                        </a:rPr>
                        <m:t>±</m:t>
                      </m:r>
                      <m:sSub>
                        <m:sSubPr>
                          <m:ctrlPr>
                            <a:rPr lang="ar-AE" i="1">
                              <a:latin typeface="Cambria Math" panose="02040503050406030204" pitchFamily="18" charset="0"/>
                            </a:rPr>
                          </m:ctrlPr>
                        </m:sSubPr>
                        <m:e>
                          <m:r>
                            <a:rPr lang="en-US" b="0" i="1" smtClean="0">
                              <a:latin typeface="Cambria Math" panose="02040503050406030204" pitchFamily="18" charset="0"/>
                            </a:rPr>
                            <m:t>𝑡</m:t>
                          </m:r>
                        </m:e>
                        <m:sub>
                          <m:r>
                            <m:rPr>
                              <m:nor/>
                            </m:rPr>
                            <a:rPr lang="el-GR" dirty="0">
                              <a:latin typeface="Times New Roman" panose="02020603050405020304" pitchFamily="18" charset="0"/>
                              <a:cs typeface="Times New Roman" panose="02020603050405020304" pitchFamily="18" charset="0"/>
                            </a:rPr>
                            <m:t>α</m:t>
                          </m:r>
                          <m:r>
                            <m:rPr>
                              <m:nor/>
                            </m:rPr>
                            <a:rPr lang="en-US" dirty="0">
                              <a:latin typeface="Times New Roman" panose="02020603050405020304" pitchFamily="18" charset="0"/>
                              <a:cs typeface="Times New Roman" panose="02020603050405020304" pitchFamily="18" charset="0"/>
                            </a:rPr>
                            <m:t>/</m:t>
                          </m:r>
                          <m:r>
                            <m:rPr>
                              <m:nor/>
                            </m:rPr>
                            <a:rPr lang="en-US" dirty="0">
                              <a:latin typeface="Times New Roman" panose="02020603050405020304" pitchFamily="18" charset="0"/>
                              <a:cs typeface="Times New Roman" panose="02020603050405020304" pitchFamily="18" charset="0"/>
                            </a:rPr>
                            <m:t>2</m:t>
                          </m:r>
                        </m:sub>
                      </m:sSub>
                      <m:f>
                        <m:fPr>
                          <m:ctrlPr>
                            <a:rPr lang="ar-AE" i="1">
                              <a:latin typeface="Cambria Math" panose="02040503050406030204" pitchFamily="18" charset="0"/>
                            </a:rPr>
                          </m:ctrlPr>
                        </m:fPr>
                        <m:num>
                          <m:r>
                            <a:rPr lang="en-US" b="0" i="1" smtClean="0">
                              <a:latin typeface="Cambria Math" panose="02040503050406030204" pitchFamily="18" charset="0"/>
                            </a:rPr>
                            <m:t>𝑠</m:t>
                          </m:r>
                        </m:num>
                        <m:den>
                          <m:rad>
                            <m:radPr>
                              <m:degHide m:val="on"/>
                              <m:ctrlPr>
                                <a:rPr lang="ar-AE" i="1">
                                  <a:latin typeface="Cambria Math" panose="02040503050406030204" pitchFamily="18" charset="0"/>
                                </a:rPr>
                              </m:ctrlPr>
                            </m:radPr>
                            <m:deg/>
                            <m:e>
                              <m:r>
                                <a:rPr lang="ar-AE" i="1">
                                  <a:latin typeface="Cambria Math" panose="02040503050406030204" pitchFamily="18" charset="0"/>
                                </a:rPr>
                                <m:t>𝑛</m:t>
                              </m:r>
                            </m:e>
                          </m:rad>
                        </m:den>
                      </m:f>
                    </m:oMath>
                  </m:oMathPara>
                </a14:m>
                <a:endParaRPr lang="en-US" b="1" dirty="0">
                  <a:solidFill>
                    <a:srgbClr val="FF0000"/>
                  </a:solidFill>
                </a:endParaRPr>
              </a:p>
            </p:txBody>
          </p:sp>
        </mc:Choice>
        <mc:Fallback xmlns="">
          <p:sp>
            <p:nvSpPr>
              <p:cNvPr id="3" name="Content Placeholder 2">
                <a:extLst>
                  <a:ext uri="{FF2B5EF4-FFF2-40B4-BE49-F238E27FC236}">
                    <a16:creationId xmlns:a16="http://schemas.microsoft.com/office/drawing/2014/main" id="{4D791E0C-74BF-02D8-6697-29616540D7A1}"/>
                  </a:ext>
                </a:extLst>
              </p:cNvPr>
              <p:cNvSpPr>
                <a:spLocks noGrp="1" noRot="1" noChangeAspect="1" noMove="1" noResize="1" noEditPoints="1" noAdjustHandles="1" noChangeArrowheads="1" noChangeShapeType="1" noTextEdit="1"/>
              </p:cNvSpPr>
              <p:nvPr>
                <p:ph idx="1"/>
              </p:nvPr>
            </p:nvSpPr>
            <p:spPr>
              <a:xfrm>
                <a:off x="838200" y="283779"/>
                <a:ext cx="10515600" cy="6390290"/>
              </a:xfrm>
              <a:blipFill>
                <a:blip r:embed="rId2"/>
                <a:stretch>
                  <a:fillRect l="-1217" t="-1718" r="-1681"/>
                </a:stretch>
              </a:blipFill>
            </p:spPr>
            <p:txBody>
              <a:bodyPr/>
              <a:lstStyle/>
              <a:p>
                <a:r>
                  <a:rPr lang="en-US">
                    <a:noFill/>
                  </a:rPr>
                  <a:t> </a:t>
                </a:r>
              </a:p>
            </p:txBody>
          </p:sp>
        </mc:Fallback>
      </mc:AlternateContent>
    </p:spTree>
    <p:extLst>
      <p:ext uri="{BB962C8B-B14F-4D97-AF65-F5344CB8AC3E}">
        <p14:creationId xmlns:p14="http://schemas.microsoft.com/office/powerpoint/2010/main" val="40773930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EC1107F-3D08-9A73-ED1B-F12BC7FC9902}"/>
                  </a:ext>
                </a:extLst>
              </p:cNvPr>
              <p:cNvSpPr>
                <a:spLocks noGrp="1"/>
              </p:cNvSpPr>
              <p:nvPr>
                <p:ph idx="1"/>
              </p:nvPr>
            </p:nvSpPr>
            <p:spPr>
              <a:xfrm>
                <a:off x="838200" y="220717"/>
                <a:ext cx="10515600" cy="5956246"/>
              </a:xfrm>
            </p:spPr>
            <p:txBody>
              <a:bodyPr>
                <a:normAutofit lnSpcReduction="10000"/>
              </a:bodyPr>
              <a:lstStyle/>
              <a:p>
                <a:pPr marL="0" indent="0">
                  <a:buNone/>
                </a:pPr>
                <a:r>
                  <a:rPr lang="en-US" b="1" dirty="0"/>
                  <a:t>Step 2: Degrees of Freedom (DOF)</a:t>
                </a:r>
              </a:p>
              <a:p>
                <a14:m>
                  <m:oMath xmlns:m="http://schemas.openxmlformats.org/officeDocument/2006/math">
                    <m:r>
                      <a:rPr lang="en-US" i="1">
                        <a:latin typeface="Cambria Math" panose="02040503050406030204" pitchFamily="18" charset="0"/>
                      </a:rPr>
                      <m:t>𝑑𝑓</m:t>
                    </m:r>
                    <m:r>
                      <a:rPr lang="en-US">
                        <a:latin typeface="Cambria Math" panose="02040503050406030204" pitchFamily="18" charset="0"/>
                      </a:rPr>
                      <m:t>=</m:t>
                    </m:r>
                    <m:r>
                      <a:rPr lang="en-US" i="1">
                        <a:latin typeface="Cambria Math" panose="02040503050406030204" pitchFamily="18" charset="0"/>
                      </a:rPr>
                      <m:t>𝑛</m:t>
                    </m:r>
                    <m:r>
                      <a:rPr lang="en-US">
                        <a:latin typeface="Cambria Math" panose="02040503050406030204" pitchFamily="18" charset="0"/>
                      </a:rPr>
                      <m:t>−</m:t>
                    </m:r>
                    <m:r>
                      <a:rPr lang="en-US">
                        <a:latin typeface="Cambria Math" panose="02040503050406030204" pitchFamily="18" charset="0"/>
                      </a:rPr>
                      <m:t>1</m:t>
                    </m:r>
                  </m:oMath>
                </a14:m>
                <a:endParaRPr lang="en-US" dirty="0"/>
              </a:p>
              <a:p>
                <a14:m>
                  <m:oMath xmlns:m="http://schemas.openxmlformats.org/officeDocument/2006/math">
                    <m:r>
                      <a:rPr lang="en-US" i="1">
                        <a:latin typeface="Cambria Math" panose="02040503050406030204" pitchFamily="18" charset="0"/>
                      </a:rPr>
                      <m:t>𝑑𝑓</m:t>
                    </m:r>
                    <m:r>
                      <a:rPr lang="en-US">
                        <a:latin typeface="Cambria Math" panose="02040503050406030204" pitchFamily="18" charset="0"/>
                      </a:rPr>
                      <m:t>=</m:t>
                    </m:r>
                    <m:r>
                      <a:rPr lang="en-US">
                        <a:latin typeface="Cambria Math" panose="02040503050406030204" pitchFamily="18" charset="0"/>
                      </a:rPr>
                      <m:t>25</m:t>
                    </m:r>
                    <m:r>
                      <a:rPr lang="en-US">
                        <a:latin typeface="Cambria Math" panose="02040503050406030204" pitchFamily="18" charset="0"/>
                      </a:rPr>
                      <m:t>−</m:t>
                    </m:r>
                    <m:r>
                      <a:rPr lang="en-US">
                        <a:latin typeface="Cambria Math" panose="02040503050406030204" pitchFamily="18" charset="0"/>
                      </a:rPr>
                      <m:t>1</m:t>
                    </m:r>
                    <m:r>
                      <a:rPr lang="en-US">
                        <a:latin typeface="Cambria Math" panose="02040503050406030204" pitchFamily="18" charset="0"/>
                      </a:rPr>
                      <m:t>=</m:t>
                    </m:r>
                    <m:r>
                      <a:rPr lang="en-US">
                        <a:latin typeface="Cambria Math" panose="02040503050406030204" pitchFamily="18" charset="0"/>
                      </a:rPr>
                      <m:t>24</m:t>
                    </m:r>
                  </m:oMath>
                </a14:m>
                <a:endParaRPr lang="en-US" dirty="0"/>
              </a:p>
              <a:p>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𝐶𝐼</m:t>
                      </m:r>
                      <m:r>
                        <a:rPr lang="en-US">
                          <a:latin typeface="Cambria Math" panose="02040503050406030204" pitchFamily="18" charset="0"/>
                        </a:rPr>
                        <m:t>=</m:t>
                      </m:r>
                      <m:limUpp>
                        <m:limUppPr>
                          <m:ctrlPr>
                            <a:rPr lang="ar-AE" i="1">
                              <a:latin typeface="Cambria Math" panose="02040503050406030204" pitchFamily="18" charset="0"/>
                            </a:rPr>
                          </m:ctrlPr>
                        </m:limUppPr>
                        <m:e>
                          <m:r>
                            <a:rPr lang="ar-AE" i="1">
                              <a:latin typeface="Cambria Math" panose="02040503050406030204" pitchFamily="18" charset="0"/>
                            </a:rPr>
                            <m:t>𝑥</m:t>
                          </m:r>
                        </m:e>
                        <m:lim>
                          <m:r>
                            <a:rPr lang="ar-AE">
                              <a:latin typeface="Cambria Math" panose="02040503050406030204" pitchFamily="18" charset="0"/>
                            </a:rPr>
                            <m:t>ˉ</m:t>
                          </m:r>
                        </m:lim>
                      </m:limUpp>
                      <m:r>
                        <a:rPr lang="ar-AE">
                          <a:latin typeface="Cambria Math" panose="02040503050406030204" pitchFamily="18" charset="0"/>
                        </a:rPr>
                        <m:t>±</m:t>
                      </m:r>
                      <m:sSub>
                        <m:sSubPr>
                          <m:ctrlPr>
                            <a:rPr lang="ar-AE" i="1">
                              <a:latin typeface="Cambria Math" panose="02040503050406030204" pitchFamily="18" charset="0"/>
                            </a:rPr>
                          </m:ctrlPr>
                        </m:sSubPr>
                        <m:e>
                          <m:r>
                            <a:rPr lang="en-US" i="1">
                              <a:latin typeface="Cambria Math" panose="02040503050406030204" pitchFamily="18" charset="0"/>
                            </a:rPr>
                            <m:t>𝑡</m:t>
                          </m:r>
                        </m:e>
                        <m:sub>
                          <m:r>
                            <m:rPr>
                              <m:nor/>
                            </m:rPr>
                            <a:rPr lang="en-US" b="0" i="0" smtClean="0">
                              <a:latin typeface="Cambria Math" panose="02040503050406030204" pitchFamily="18" charset="0"/>
                            </a:rPr>
                            <m:t>0</m:t>
                          </m:r>
                          <m:r>
                            <m:rPr>
                              <m:nor/>
                            </m:rPr>
                            <a:rPr lang="en-US" b="0" i="0" smtClean="0">
                              <a:latin typeface="Cambria Math" panose="02040503050406030204" pitchFamily="18" charset="0"/>
                            </a:rPr>
                            <m:t>.</m:t>
                          </m:r>
                          <m:r>
                            <m:rPr>
                              <m:nor/>
                            </m:rPr>
                            <a:rPr lang="en-US" b="0" i="0" smtClean="0">
                              <a:latin typeface="Cambria Math" panose="02040503050406030204" pitchFamily="18" charset="0"/>
                            </a:rPr>
                            <m:t>05</m:t>
                          </m:r>
                          <m:r>
                            <m:rPr>
                              <m:nor/>
                            </m:rPr>
                            <a:rPr lang="en-US" dirty="0">
                              <a:latin typeface="Times New Roman" panose="02020603050405020304" pitchFamily="18" charset="0"/>
                              <a:cs typeface="Times New Roman" panose="02020603050405020304" pitchFamily="18" charset="0"/>
                            </a:rPr>
                            <m:t>/</m:t>
                          </m:r>
                          <m:r>
                            <m:rPr>
                              <m:nor/>
                            </m:rPr>
                            <a:rPr lang="en-US" dirty="0">
                              <a:latin typeface="Times New Roman" panose="02020603050405020304" pitchFamily="18" charset="0"/>
                              <a:cs typeface="Times New Roman" panose="02020603050405020304" pitchFamily="18" charset="0"/>
                            </a:rPr>
                            <m:t>2</m:t>
                          </m:r>
                        </m:sub>
                      </m:sSub>
                      <m:f>
                        <m:fPr>
                          <m:ctrlPr>
                            <a:rPr lang="ar-AE" i="1">
                              <a:latin typeface="Cambria Math" panose="02040503050406030204" pitchFamily="18" charset="0"/>
                            </a:rPr>
                          </m:ctrlPr>
                        </m:fPr>
                        <m:num>
                          <m:r>
                            <a:rPr lang="en-US" i="1">
                              <a:latin typeface="Cambria Math" panose="02040503050406030204" pitchFamily="18" charset="0"/>
                            </a:rPr>
                            <m:t>𝑠</m:t>
                          </m:r>
                        </m:num>
                        <m:den>
                          <m:rad>
                            <m:radPr>
                              <m:degHide m:val="on"/>
                              <m:ctrlPr>
                                <a:rPr lang="ar-AE" i="1">
                                  <a:latin typeface="Cambria Math" panose="02040503050406030204" pitchFamily="18" charset="0"/>
                                </a:rPr>
                              </m:ctrlPr>
                            </m:radPr>
                            <m:deg/>
                            <m:e>
                              <m:r>
                                <a:rPr lang="ar-AE" i="1">
                                  <a:latin typeface="Cambria Math" panose="02040503050406030204" pitchFamily="18" charset="0"/>
                                </a:rPr>
                                <m:t>𝑛</m:t>
                              </m:r>
                            </m:e>
                          </m:rad>
                        </m:den>
                      </m:f>
                    </m:oMath>
                  </m:oMathPara>
                </a14:m>
                <a:endParaRPr lang="en-US" b="1" dirty="0">
                  <a:solidFill>
                    <a:srgbClr val="FF0000"/>
                  </a:solidFill>
                </a:endParaRPr>
              </a:p>
              <a:p>
                <a:pPr marL="0" indent="0">
                  <a:buNone/>
                </a:pPr>
                <a:endParaRPr lang="en-US" b="1" dirty="0">
                  <a:solidFill>
                    <a:srgbClr val="FF0000"/>
                  </a:solidFill>
                </a:endParaRPr>
              </a:p>
              <a:p>
                <a:pPr marL="0" indent="0">
                  <a:buNone/>
                </a:pPr>
                <a:r>
                  <a:rPr lang="en-US" b="1" dirty="0">
                    <a:solidFill>
                      <a:srgbClr val="FF0000"/>
                    </a:solidFill>
                  </a:rPr>
                  <a:t>Search in t-table </a:t>
                </a:r>
                <a14:m>
                  <m:oMath xmlns:m="http://schemas.openxmlformats.org/officeDocument/2006/math">
                    <m:sSub>
                      <m:sSubPr>
                        <m:ctrlPr>
                          <a:rPr lang="ar-AE" i="1">
                            <a:highlight>
                              <a:srgbClr val="FFFF00"/>
                            </a:highlight>
                            <a:latin typeface="Cambria Math" panose="02040503050406030204" pitchFamily="18" charset="0"/>
                          </a:rPr>
                        </m:ctrlPr>
                      </m:sSubPr>
                      <m:e>
                        <m:r>
                          <a:rPr lang="en-US" b="0" i="1" smtClean="0">
                            <a:highlight>
                              <a:srgbClr val="FFFF00"/>
                            </a:highlight>
                            <a:latin typeface="Cambria Math" panose="02040503050406030204" pitchFamily="18" charset="0"/>
                          </a:rPr>
                          <m:t>(</m:t>
                        </m:r>
                        <m:r>
                          <a:rPr lang="en-US" i="1">
                            <a:highlight>
                              <a:srgbClr val="FFFF00"/>
                            </a:highlight>
                            <a:latin typeface="Cambria Math" panose="02040503050406030204" pitchFamily="18" charset="0"/>
                          </a:rPr>
                          <m:t>𝑡</m:t>
                        </m:r>
                      </m:e>
                      <m:sub>
                        <m:r>
                          <m:rPr>
                            <m:nor/>
                          </m:rPr>
                          <a:rPr lang="en-US">
                            <a:highlight>
                              <a:srgbClr val="FFFF00"/>
                            </a:highlight>
                            <a:latin typeface="Cambria Math" panose="02040503050406030204" pitchFamily="18" charset="0"/>
                          </a:rPr>
                          <m:t>0.0</m:t>
                        </m:r>
                        <m:r>
                          <a:rPr lang="en-US" i="1">
                            <a:highlight>
                              <a:srgbClr val="FFFF00"/>
                            </a:highlight>
                            <a:latin typeface="Cambria Math" panose="02040503050406030204" pitchFamily="18" charset="0"/>
                          </a:rPr>
                          <m:t>25</m:t>
                        </m:r>
                      </m:sub>
                    </m:sSub>
                    <m:r>
                      <a:rPr lang="en-US" dirty="0">
                        <a:highlight>
                          <a:srgbClr val="FFFF00"/>
                        </a:highlight>
                        <a:latin typeface="Cambria Math" panose="02040503050406030204" pitchFamily="18" charset="0"/>
                        <a:cs typeface="Times New Roman" panose="02020603050405020304" pitchFamily="18" charset="0"/>
                      </a:rPr>
                      <m:t>,</m:t>
                    </m:r>
                    <m:r>
                      <m:rPr>
                        <m:sty m:val="p"/>
                      </m:rPr>
                      <a:rPr lang="en-US" b="0" i="0" dirty="0" smtClean="0">
                        <a:highlight>
                          <a:srgbClr val="FFFF00"/>
                        </a:highlight>
                        <a:latin typeface="Cambria Math" panose="02040503050406030204" pitchFamily="18" charset="0"/>
                        <a:cs typeface="Times New Roman" panose="02020603050405020304" pitchFamily="18" charset="0"/>
                      </a:rPr>
                      <m:t>DOF</m:t>
                    </m:r>
                    <m:r>
                      <a:rPr lang="en-US" b="0" i="0" dirty="0" smtClean="0">
                        <a:highlight>
                          <a:srgbClr val="FFFF00"/>
                        </a:highlight>
                        <a:latin typeface="Cambria Math" panose="02040503050406030204" pitchFamily="18" charset="0"/>
                        <a:cs typeface="Times New Roman" panose="02020603050405020304" pitchFamily="18" charset="0"/>
                      </a:rPr>
                      <m:t>=</m:t>
                    </m:r>
                    <m:r>
                      <a:rPr lang="en-US" dirty="0">
                        <a:highlight>
                          <a:srgbClr val="FFFF00"/>
                        </a:highlight>
                        <a:latin typeface="Cambria Math" panose="02040503050406030204" pitchFamily="18" charset="0"/>
                        <a:cs typeface="Times New Roman" panose="02020603050405020304" pitchFamily="18" charset="0"/>
                      </a:rPr>
                      <m:t>24</m:t>
                    </m:r>
                    <m:r>
                      <a:rPr lang="en-US" b="0" i="0" dirty="0" smtClean="0">
                        <a:latin typeface="Cambria Math" panose="02040503050406030204" pitchFamily="18" charset="0"/>
                        <a:cs typeface="Times New Roman" panose="02020603050405020304" pitchFamily="18" charset="0"/>
                      </a:rPr>
                      <m:t>)</m:t>
                    </m:r>
                  </m:oMath>
                </a14:m>
                <a:endParaRPr lang="en-US" b="1" dirty="0">
                  <a:solidFill>
                    <a:srgbClr val="FF0000"/>
                  </a:solidFill>
                </a:endParaRPr>
              </a:p>
              <a:p>
                <a:pPr marL="0" indent="0">
                  <a:buNone/>
                </a:pPr>
                <a14:m>
                  <m:oMath xmlns:m="http://schemas.openxmlformats.org/officeDocument/2006/math">
                    <m:sSub>
                      <m:sSubPr>
                        <m:ctrlPr>
                          <a:rPr lang="ar-AE" i="1">
                            <a:highlight>
                              <a:srgbClr val="FFFF00"/>
                            </a:highlight>
                            <a:latin typeface="Cambria Math" panose="02040503050406030204" pitchFamily="18" charset="0"/>
                          </a:rPr>
                        </m:ctrlPr>
                      </m:sSubPr>
                      <m:e>
                        <m:r>
                          <a:rPr lang="en-US" i="1">
                            <a:highlight>
                              <a:srgbClr val="FFFF00"/>
                            </a:highlight>
                            <a:latin typeface="Cambria Math" panose="02040503050406030204" pitchFamily="18" charset="0"/>
                          </a:rPr>
                          <m:t>𝑡</m:t>
                        </m:r>
                      </m:e>
                      <m:sub>
                        <m:r>
                          <m:rPr>
                            <m:nor/>
                          </m:rPr>
                          <a:rPr lang="en-US">
                            <a:highlight>
                              <a:srgbClr val="FFFF00"/>
                            </a:highlight>
                            <a:latin typeface="Cambria Math" panose="02040503050406030204" pitchFamily="18" charset="0"/>
                          </a:rPr>
                          <m:t>0.0</m:t>
                        </m:r>
                        <m:r>
                          <a:rPr lang="en-US" b="0" i="1" smtClean="0">
                            <a:highlight>
                              <a:srgbClr val="FFFF00"/>
                            </a:highlight>
                            <a:latin typeface="Cambria Math" panose="02040503050406030204" pitchFamily="18" charset="0"/>
                          </a:rPr>
                          <m:t>25</m:t>
                        </m:r>
                      </m:sub>
                    </m:sSub>
                    <m:r>
                      <a:rPr lang="en-US" b="0" i="0" dirty="0" smtClean="0">
                        <a:highlight>
                          <a:srgbClr val="FFFF00"/>
                        </a:highlight>
                        <a:latin typeface="Cambria Math" panose="02040503050406030204" pitchFamily="18" charset="0"/>
                        <a:cs typeface="Times New Roman" panose="02020603050405020304" pitchFamily="18" charset="0"/>
                      </a:rPr>
                      <m:t>,</m:t>
                    </m:r>
                    <m:r>
                      <a:rPr lang="en-US" b="0" i="0" dirty="0" smtClean="0">
                        <a:highlight>
                          <a:srgbClr val="FFFF00"/>
                        </a:highlight>
                        <a:latin typeface="Cambria Math" panose="02040503050406030204" pitchFamily="18" charset="0"/>
                        <a:cs typeface="Times New Roman" panose="02020603050405020304" pitchFamily="18" charset="0"/>
                      </a:rPr>
                      <m:t>24</m:t>
                    </m:r>
                    <m:r>
                      <a:rPr lang="en-US" b="0" i="0" dirty="0" smtClean="0">
                        <a:latin typeface="Cambria Math" panose="02040503050406030204" pitchFamily="18" charset="0"/>
                        <a:cs typeface="Times New Roman" panose="02020603050405020304" pitchFamily="18" charset="0"/>
                      </a:rPr>
                      <m:t> </m:t>
                    </m:r>
                    <m:r>
                      <m:rPr>
                        <m:sty m:val="p"/>
                      </m:rPr>
                      <a:rPr lang="en-US" b="0" i="0" dirty="0" smtClean="0">
                        <a:latin typeface="Cambria Math" panose="02040503050406030204" pitchFamily="18" charset="0"/>
                        <a:cs typeface="Times New Roman" panose="02020603050405020304" pitchFamily="18" charset="0"/>
                      </a:rPr>
                      <m:t>degree</m:t>
                    </m:r>
                    <m:r>
                      <a:rPr lang="en-US" b="0" i="0" dirty="0" smtClean="0">
                        <a:latin typeface="Cambria Math" panose="02040503050406030204" pitchFamily="18" charset="0"/>
                        <a:cs typeface="Times New Roman" panose="02020603050405020304" pitchFamily="18" charset="0"/>
                      </a:rPr>
                      <m:t> </m:t>
                    </m:r>
                    <m:r>
                      <m:rPr>
                        <m:sty m:val="p"/>
                      </m:rPr>
                      <a:rPr lang="en-US" b="0" i="0" dirty="0" smtClean="0">
                        <a:latin typeface="Cambria Math" panose="02040503050406030204" pitchFamily="18" charset="0"/>
                        <a:cs typeface="Times New Roman" panose="02020603050405020304" pitchFamily="18" charset="0"/>
                      </a:rPr>
                      <m:t>of</m:t>
                    </m:r>
                    <m:r>
                      <a:rPr lang="en-US" b="0" i="0" dirty="0" smtClean="0">
                        <a:latin typeface="Cambria Math" panose="02040503050406030204" pitchFamily="18" charset="0"/>
                        <a:cs typeface="Times New Roman" panose="02020603050405020304" pitchFamily="18" charset="0"/>
                      </a:rPr>
                      <m:t> </m:t>
                    </m:r>
                    <m:r>
                      <m:rPr>
                        <m:sty m:val="p"/>
                      </m:rPr>
                      <a:rPr lang="en-US" b="0" i="0" dirty="0" smtClean="0">
                        <a:latin typeface="Cambria Math" panose="02040503050406030204" pitchFamily="18" charset="0"/>
                        <a:cs typeface="Times New Roman" panose="02020603050405020304" pitchFamily="18" charset="0"/>
                      </a:rPr>
                      <m:t>freedom</m:t>
                    </m:r>
                    <m:r>
                      <a:rPr lang="en-US" b="0" i="0" dirty="0" smtClean="0">
                        <a:latin typeface="Cambria Math" panose="02040503050406030204" pitchFamily="18" charset="0"/>
                        <a:cs typeface="Times New Roman" panose="02020603050405020304" pitchFamily="18" charset="0"/>
                      </a:rPr>
                      <m:t> </m:t>
                    </m:r>
                    <m:r>
                      <m:rPr>
                        <m:sty m:val="p"/>
                      </m:rPr>
                      <a:rPr lang="en-US" b="0" i="0" dirty="0" smtClean="0">
                        <a:latin typeface="Cambria Math" panose="02040503050406030204" pitchFamily="18" charset="0"/>
                        <a:cs typeface="Times New Roman" panose="02020603050405020304" pitchFamily="18" charset="0"/>
                      </a:rPr>
                      <m:t>on</m:t>
                    </m:r>
                    <m:r>
                      <a:rPr lang="en-US" b="0" i="0" dirty="0" smtClean="0">
                        <a:latin typeface="Cambria Math" panose="02040503050406030204" pitchFamily="18" charset="0"/>
                        <a:cs typeface="Times New Roman" panose="02020603050405020304" pitchFamily="18" charset="0"/>
                      </a:rPr>
                      <m:t> </m:t>
                    </m:r>
                    <m:r>
                      <m:rPr>
                        <m:sty m:val="p"/>
                      </m:rPr>
                      <a:rPr lang="en-US" b="0" i="0" dirty="0" smtClean="0">
                        <a:latin typeface="Cambria Math" panose="02040503050406030204" pitchFamily="18" charset="0"/>
                        <a:cs typeface="Times New Roman" panose="02020603050405020304" pitchFamily="18" charset="0"/>
                      </a:rPr>
                      <m:t>t</m:t>
                    </m:r>
                    <m:r>
                      <a:rPr lang="en-US" b="0" i="0" dirty="0" smtClean="0">
                        <a:latin typeface="Cambria Math" panose="02040503050406030204" pitchFamily="18" charset="0"/>
                        <a:cs typeface="Times New Roman" panose="02020603050405020304" pitchFamily="18" charset="0"/>
                      </a:rPr>
                      <m:t> </m:t>
                    </m:r>
                    <m:r>
                      <m:rPr>
                        <m:sty m:val="p"/>
                      </m:rPr>
                      <a:rPr lang="en-US" b="0" i="0" dirty="0" smtClean="0">
                        <a:latin typeface="Cambria Math" panose="02040503050406030204" pitchFamily="18" charset="0"/>
                        <a:cs typeface="Times New Roman" panose="02020603050405020304" pitchFamily="18" charset="0"/>
                      </a:rPr>
                      <m:t>table</m:t>
                    </m:r>
                    <m:r>
                      <a:rPr lang="en-US" b="0" i="0" dirty="0" smtClean="0">
                        <a:latin typeface="Cambria Math" panose="02040503050406030204" pitchFamily="18" charset="0"/>
                        <a:cs typeface="Times New Roman" panose="02020603050405020304" pitchFamily="18" charset="0"/>
                      </a:rPr>
                      <m:t> </m:t>
                    </m:r>
                    <m:r>
                      <m:rPr>
                        <m:sty m:val="p"/>
                      </m:rPr>
                      <a:rPr lang="en-US" b="0" i="0" dirty="0" smtClean="0">
                        <a:latin typeface="Cambria Math" panose="02040503050406030204" pitchFamily="18" charset="0"/>
                        <a:cs typeface="Times New Roman" panose="02020603050405020304" pitchFamily="18" charset="0"/>
                      </a:rPr>
                      <m:t>value</m:t>
                    </m:r>
                    <m:r>
                      <a:rPr lang="en-US" b="0" i="0" dirty="0" smtClean="0">
                        <a:latin typeface="Cambria Math" panose="02040503050406030204" pitchFamily="18" charset="0"/>
                        <a:cs typeface="Times New Roman" panose="02020603050405020304" pitchFamily="18" charset="0"/>
                      </a:rPr>
                      <m:t>=</m:t>
                    </m:r>
                  </m:oMath>
                </a14:m>
                <a:r>
                  <a:rPr lang="en-US" dirty="0"/>
                  <a:t>2.064</a:t>
                </a:r>
              </a:p>
              <a:p>
                <a:pPr marL="0" indent="0">
                  <a:buNone/>
                </a:pPr>
                <a:r>
                  <a:rPr lang="en-US" dirty="0"/>
                  <a:t>CI=520+41.28</a:t>
                </a:r>
              </a:p>
              <a:p>
                <a:pPr marL="0" indent="0">
                  <a:buNone/>
                </a:pPr>
                <a:r>
                  <a:rPr lang="en-US" dirty="0"/>
                  <a:t>CI=520-41.28</a:t>
                </a:r>
              </a:p>
              <a:p>
                <a:pPr marL="0" indent="0">
                  <a:buNone/>
                </a:pPr>
                <a:r>
                  <a:rPr lang="en-US" dirty="0"/>
                  <a:t>CI= The </a:t>
                </a:r>
                <a:r>
                  <a:rPr lang="en-US" b="1" dirty="0"/>
                  <a:t>95% confidence interval using t-distribution</a:t>
                </a:r>
                <a:r>
                  <a:rPr lang="en-US" dirty="0"/>
                  <a:t> is</a:t>
                </a:r>
              </a:p>
              <a:p>
                <a:pPr marL="0" indent="0">
                  <a:buNone/>
                </a:pPr>
                <a14:m>
                  <m:oMathPara xmlns:m="http://schemas.openxmlformats.org/officeDocument/2006/math">
                    <m:oMathParaPr>
                      <m:jc m:val="centerGroup"/>
                    </m:oMathParaPr>
                    <m:oMath xmlns:m="http://schemas.openxmlformats.org/officeDocument/2006/math">
                      <m:d>
                        <m:dPr>
                          <m:sepChr m:val=","/>
                          <m:ctrlPr>
                            <a:rPr lang="ar-AE" i="1">
                              <a:highlight>
                                <a:srgbClr val="FFFF00"/>
                              </a:highlight>
                              <a:latin typeface="Cambria Math" panose="02040503050406030204" pitchFamily="18" charset="0"/>
                            </a:rPr>
                          </m:ctrlPr>
                        </m:dPr>
                        <m:e>
                          <m:r>
                            <a:rPr lang="ar-AE">
                              <a:highlight>
                                <a:srgbClr val="FFFF00"/>
                              </a:highlight>
                              <a:latin typeface="Cambria Math" panose="02040503050406030204" pitchFamily="18" charset="0"/>
                            </a:rPr>
                            <m:t>478</m:t>
                          </m:r>
                          <m:r>
                            <a:rPr lang="ar-AE">
                              <a:highlight>
                                <a:srgbClr val="FFFF00"/>
                              </a:highlight>
                              <a:latin typeface="Cambria Math" panose="02040503050406030204" pitchFamily="18" charset="0"/>
                            </a:rPr>
                            <m:t>.</m:t>
                          </m:r>
                          <m:r>
                            <a:rPr lang="ar-AE">
                              <a:highlight>
                                <a:srgbClr val="FFFF00"/>
                              </a:highlight>
                              <a:latin typeface="Cambria Math" panose="02040503050406030204" pitchFamily="18" charset="0"/>
                            </a:rPr>
                            <m:t>72</m:t>
                          </m:r>
                        </m:e>
                        <m:e>
                          <m:r>
                            <m:rPr>
                              <m:nor/>
                            </m:rPr>
                            <a:rPr lang="ar-AE" i="1">
                              <a:highlight>
                                <a:srgbClr val="FFFF00"/>
                              </a:highlight>
                            </a:rPr>
                            <m:t>  </m:t>
                          </m:r>
                          <m:r>
                            <a:rPr lang="ar-AE">
                              <a:highlight>
                                <a:srgbClr val="FFFF00"/>
                              </a:highlight>
                              <a:latin typeface="Cambria Math" panose="02040503050406030204" pitchFamily="18" charset="0"/>
                            </a:rPr>
                            <m:t>561</m:t>
                          </m:r>
                          <m:r>
                            <a:rPr lang="ar-AE">
                              <a:highlight>
                                <a:srgbClr val="FFFF00"/>
                              </a:highlight>
                              <a:latin typeface="Cambria Math" panose="02040503050406030204" pitchFamily="18" charset="0"/>
                            </a:rPr>
                            <m:t>.</m:t>
                          </m:r>
                          <m:r>
                            <a:rPr lang="ar-AE">
                              <a:highlight>
                                <a:srgbClr val="FFFF00"/>
                              </a:highlight>
                              <a:latin typeface="Cambria Math" panose="02040503050406030204" pitchFamily="18" charset="0"/>
                            </a:rPr>
                            <m:t>28</m:t>
                          </m:r>
                        </m:e>
                      </m:d>
                    </m:oMath>
                  </m:oMathPara>
                </a14:m>
                <a:endParaRPr lang="ar-AE" b="0" dirty="0">
                  <a:highlight>
                    <a:srgbClr val="FFFF00"/>
                  </a:highlight>
                </a:endParaRP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0EC1107F-3D08-9A73-ED1B-F12BC7FC9902}"/>
                  </a:ext>
                </a:extLst>
              </p:cNvPr>
              <p:cNvSpPr>
                <a:spLocks noGrp="1" noRot="1" noChangeAspect="1" noMove="1" noResize="1" noEditPoints="1" noAdjustHandles="1" noChangeArrowheads="1" noChangeShapeType="1" noTextEdit="1"/>
              </p:cNvSpPr>
              <p:nvPr>
                <p:ph idx="1"/>
              </p:nvPr>
            </p:nvSpPr>
            <p:spPr>
              <a:xfrm>
                <a:off x="838200" y="220717"/>
                <a:ext cx="10515600" cy="5956246"/>
              </a:xfrm>
              <a:blipFill>
                <a:blip r:embed="rId2"/>
                <a:stretch>
                  <a:fillRect l="-1217" t="-2252"/>
                </a:stretch>
              </a:blipFill>
            </p:spPr>
            <p:txBody>
              <a:bodyPr/>
              <a:lstStyle/>
              <a:p>
                <a:r>
                  <a:rPr lang="en-US">
                    <a:noFill/>
                  </a:rPr>
                  <a:t> </a:t>
                </a:r>
              </a:p>
            </p:txBody>
          </p:sp>
        </mc:Fallback>
      </mc:AlternateContent>
    </p:spTree>
    <p:extLst>
      <p:ext uri="{BB962C8B-B14F-4D97-AF65-F5344CB8AC3E}">
        <p14:creationId xmlns:p14="http://schemas.microsoft.com/office/powerpoint/2010/main" val="3323132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8" name="Picture 8" descr="T Score Table">
            <a:extLst>
              <a:ext uri="{FF2B5EF4-FFF2-40B4-BE49-F238E27FC236}">
                <a16:creationId xmlns:a16="http://schemas.microsoft.com/office/drawing/2014/main" id="{3096FC24-4297-4381-2A81-4F0455FE694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74488" y="191294"/>
            <a:ext cx="8675649" cy="66667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63696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623347-A173-437B-841D-1E97E023E8BE}"/>
              </a:ext>
            </a:extLst>
          </p:cNvPr>
          <p:cNvSpPr>
            <a:spLocks noGrp="1"/>
          </p:cNvSpPr>
          <p:nvPr>
            <p:ph idx="1"/>
          </p:nvPr>
        </p:nvSpPr>
        <p:spPr>
          <a:xfrm>
            <a:off x="128016" y="164593"/>
            <a:ext cx="12063984" cy="1709927"/>
          </a:xfrm>
        </p:spPr>
        <p:txBody>
          <a:bodyPr/>
          <a:lstStyle/>
          <a:p>
            <a:pPr marL="0" indent="0">
              <a:buNone/>
            </a:pPr>
            <a:r>
              <a:rPr lang="en-US" dirty="0">
                <a:highlight>
                  <a:srgbClr val="FFFF00"/>
                </a:highlight>
                <a:latin typeface="Times New Roman" panose="02020603050405020304" pitchFamily="18" charset="0"/>
                <a:cs typeface="Times New Roman" panose="02020603050405020304" pitchFamily="18" charset="0"/>
              </a:rPr>
              <a:t>Example: </a:t>
            </a:r>
            <a:r>
              <a:rPr lang="en-US" dirty="0">
                <a:latin typeface="Times New Roman" panose="02020603050405020304" pitchFamily="18" charset="0"/>
                <a:cs typeface="Times New Roman" panose="02020603050405020304" pitchFamily="18" charset="0"/>
              </a:rPr>
              <a:t>A soft drink company claims that the average sugar content in its bottle is 50 grams. A nutrition researcher tests 40 bottles and finds the sample mean = 47 grams. </a:t>
            </a:r>
            <a:r>
              <a:rPr lang="en-US" dirty="0">
                <a:highlight>
                  <a:srgbClr val="FFFF00"/>
                </a:highlight>
                <a:latin typeface="Times New Roman" panose="02020603050405020304" pitchFamily="18" charset="0"/>
                <a:cs typeface="Times New Roman" panose="02020603050405020304" pitchFamily="18" charset="0"/>
              </a:rPr>
              <a:t>The population standard deviation is known</a:t>
            </a:r>
            <a:r>
              <a:rPr lang="en-US" dirty="0">
                <a:latin typeface="Times New Roman" panose="02020603050405020304" pitchFamily="18" charset="0"/>
                <a:cs typeface="Times New Roman" panose="02020603050405020304" pitchFamily="18" charset="0"/>
              </a:rPr>
              <a:t> = 8 grams. Test at 5% level of significance whether the company’s claim is correct.</a:t>
            </a:r>
          </a:p>
          <a:p>
            <a:pPr marL="0" indent="0">
              <a:buNone/>
            </a:pPr>
            <a:endParaRPr lang="en-US"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C2AA1DA1-D0E0-DE58-ED47-6FE3C920DE2F}"/>
                  </a:ext>
                </a:extLst>
              </p:cNvPr>
              <p:cNvSpPr txBox="1">
                <a:spLocks/>
              </p:cNvSpPr>
              <p:nvPr/>
            </p:nvSpPr>
            <p:spPr>
              <a:xfrm>
                <a:off x="225552" y="2292097"/>
                <a:ext cx="12063984" cy="39806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Times New Roman" panose="02020603050405020304" pitchFamily="18" charset="0"/>
                    <a:cs typeface="Times New Roman" panose="02020603050405020304" pitchFamily="18" charset="0"/>
                  </a:rPr>
                  <a:t>Sol: </a:t>
                </a:r>
              </a:p>
              <a:p>
                <a:pPr marL="0" indent="0">
                  <a:buNone/>
                </a:pPr>
                <a:r>
                  <a:rPr lang="en-US" b="1" dirty="0"/>
                  <a:t>Step 1: State Hypotheses</a:t>
                </a:r>
              </a:p>
              <a:p>
                <a:pPr marL="0" indent="0">
                  <a:buNone/>
                </a:pPr>
                <a:r>
                  <a:rPr lang="en-US" dirty="0"/>
                  <a:t>Since we are checking if the mean is different, this is a two-tailed test.</a:t>
                </a:r>
              </a:p>
              <a:p>
                <a:pPr marL="0" indent="0">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𝐻</m:t>
                          </m:r>
                        </m:e>
                        <m:sub>
                          <m:r>
                            <a:rPr lang="ar-AE">
                              <a:latin typeface="Cambria Math" panose="02040503050406030204" pitchFamily="18" charset="0"/>
                            </a:rPr>
                            <m:t>0</m:t>
                          </m:r>
                        </m:sub>
                      </m:sSub>
                      <m:r>
                        <a:rPr lang="ar-AE">
                          <a:latin typeface="Cambria Math" panose="02040503050406030204" pitchFamily="18" charset="0"/>
                        </a:rPr>
                        <m:t>:</m:t>
                      </m:r>
                      <m:r>
                        <a:rPr lang="ar-AE" i="1">
                          <a:latin typeface="Cambria Math" panose="02040503050406030204" pitchFamily="18" charset="0"/>
                        </a:rPr>
                        <m:t>𝜇</m:t>
                      </m:r>
                      <m:r>
                        <a:rPr lang="ar-AE">
                          <a:latin typeface="Cambria Math" panose="02040503050406030204" pitchFamily="18" charset="0"/>
                        </a:rPr>
                        <m:t>=</m:t>
                      </m:r>
                      <m:r>
                        <a:rPr lang="ar-AE">
                          <a:latin typeface="Cambria Math" panose="02040503050406030204" pitchFamily="18" charset="0"/>
                        </a:rPr>
                        <m:t>50</m:t>
                      </m:r>
                    </m:oMath>
                  </m:oMathPara>
                </a14:m>
                <a:endParaRPr lang="ar-AE" dirty="0"/>
              </a:p>
              <a:p>
                <a:pPr marL="0" indent="0">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𝐻</m:t>
                          </m:r>
                        </m:e>
                        <m:sub>
                          <m:r>
                            <a:rPr lang="ar-AE">
                              <a:latin typeface="Cambria Math" panose="02040503050406030204" pitchFamily="18" charset="0"/>
                            </a:rPr>
                            <m:t>1</m:t>
                          </m:r>
                        </m:sub>
                      </m:sSub>
                      <m:r>
                        <a:rPr lang="ar-AE">
                          <a:latin typeface="Cambria Math" panose="02040503050406030204" pitchFamily="18" charset="0"/>
                        </a:rPr>
                        <m:t>:</m:t>
                      </m:r>
                      <m:r>
                        <a:rPr lang="ar-AE" i="1">
                          <a:latin typeface="Cambria Math" panose="02040503050406030204" pitchFamily="18" charset="0"/>
                        </a:rPr>
                        <m:t>𝜇</m:t>
                      </m:r>
                      <m:r>
                        <a:rPr lang="ar-AE">
                          <a:latin typeface="Cambria Math" panose="02040503050406030204" pitchFamily="18" charset="0"/>
                        </a:rPr>
                        <m:t>≠</m:t>
                      </m:r>
                      <m:r>
                        <a:rPr lang="ar-AE">
                          <a:latin typeface="Cambria Math" panose="02040503050406030204" pitchFamily="18" charset="0"/>
                        </a:rPr>
                        <m:t>50</m:t>
                      </m:r>
                    </m:oMath>
                  </m:oMathPara>
                </a14:m>
                <a:endParaRPr lang="en-US" dirty="0"/>
              </a:p>
              <a:p>
                <a:r>
                  <a:rPr lang="en-US" b="1" dirty="0"/>
                  <a:t>Step 2: Formula for Z-Test</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𝑍</m:t>
                      </m:r>
                      <m:r>
                        <a:rPr lang="en-US">
                          <a:latin typeface="Cambria Math" panose="02040503050406030204" pitchFamily="18" charset="0"/>
                        </a:rPr>
                        <m:t>=</m:t>
                      </m:r>
                      <m:f>
                        <m:fPr>
                          <m:ctrlPr>
                            <a:rPr lang="ar-AE" i="1">
                              <a:latin typeface="Cambria Math" panose="02040503050406030204" pitchFamily="18" charset="0"/>
                            </a:rPr>
                          </m:ctrlPr>
                        </m:fPr>
                        <m:num>
                          <m:limUpp>
                            <m:limUppPr>
                              <m:ctrlPr>
                                <a:rPr lang="ar-AE" i="1">
                                  <a:latin typeface="Cambria Math" panose="02040503050406030204" pitchFamily="18" charset="0"/>
                                </a:rPr>
                              </m:ctrlPr>
                            </m:limUppPr>
                            <m:e>
                              <m:r>
                                <a:rPr lang="ar-AE" i="1">
                                  <a:latin typeface="Cambria Math" panose="02040503050406030204" pitchFamily="18" charset="0"/>
                                </a:rPr>
                                <m:t>𝑥</m:t>
                              </m:r>
                            </m:e>
                            <m:lim>
                              <m:r>
                                <a:rPr lang="ar-AE">
                                  <a:latin typeface="Cambria Math" panose="02040503050406030204" pitchFamily="18" charset="0"/>
                                </a:rPr>
                                <m:t>ˉ</m:t>
                              </m:r>
                            </m:lim>
                          </m:limUpp>
                          <m:r>
                            <a:rPr lang="ar-AE">
                              <a:latin typeface="Cambria Math" panose="02040503050406030204" pitchFamily="18" charset="0"/>
                            </a:rPr>
                            <m:t>−</m:t>
                          </m:r>
                          <m:r>
                            <a:rPr lang="ar-AE" i="1">
                              <a:latin typeface="Cambria Math" panose="02040503050406030204" pitchFamily="18" charset="0"/>
                            </a:rPr>
                            <m:t>𝜇</m:t>
                          </m:r>
                        </m:num>
                        <m:den>
                          <m:r>
                            <a:rPr lang="ar-AE" i="1">
                              <a:latin typeface="Cambria Math" panose="02040503050406030204" pitchFamily="18" charset="0"/>
                            </a:rPr>
                            <m:t>𝜎</m:t>
                          </m:r>
                          <m:r>
                            <a:rPr lang="ar-AE">
                              <a:latin typeface="Cambria Math" panose="02040503050406030204" pitchFamily="18" charset="0"/>
                            </a:rPr>
                            <m:t>/</m:t>
                          </m:r>
                          <m:rad>
                            <m:radPr>
                              <m:degHide m:val="on"/>
                              <m:ctrlPr>
                                <a:rPr lang="ar-AE" i="1">
                                  <a:latin typeface="Cambria Math" panose="02040503050406030204" pitchFamily="18" charset="0"/>
                                </a:rPr>
                              </m:ctrlPr>
                            </m:radPr>
                            <m:deg/>
                            <m:e>
                              <m:r>
                                <a:rPr lang="ar-AE" i="1">
                                  <a:latin typeface="Cambria Math" panose="02040503050406030204" pitchFamily="18" charset="0"/>
                                </a:rPr>
                                <m:t>𝑛</m:t>
                              </m:r>
                            </m:e>
                          </m:rad>
                        </m:den>
                      </m:f>
                    </m:oMath>
                  </m:oMathPara>
                </a14:m>
                <a:endParaRPr lang="ar-AE" dirty="0"/>
              </a:p>
              <a:p>
                <a:pPr marL="0" indent="0">
                  <a:buNone/>
                </a:pPr>
                <a:endParaRPr lang="en-US" dirty="0"/>
              </a:p>
              <a:p>
                <a:pPr marL="0" indent="0">
                  <a:buNone/>
                </a:pPr>
                <a:endParaRPr lang="ar-AE" dirty="0"/>
              </a:p>
              <a:p>
                <a:pPr marL="0" indent="0">
                  <a:buFont typeface="Arial" panose="020B0604020202020204" pitchFamily="34" charset="0"/>
                  <a:buNone/>
                </a:pPr>
                <a:endParaRPr lang="en-US" dirty="0"/>
              </a:p>
            </p:txBody>
          </p:sp>
        </mc:Choice>
        <mc:Fallback xmlns="">
          <p:sp>
            <p:nvSpPr>
              <p:cNvPr id="4" name="Content Placeholder 2">
                <a:extLst>
                  <a:ext uri="{FF2B5EF4-FFF2-40B4-BE49-F238E27FC236}">
                    <a16:creationId xmlns:a16="http://schemas.microsoft.com/office/drawing/2014/main" id="{C2AA1DA1-D0E0-DE58-ED47-6FE3C920DE2F}"/>
                  </a:ext>
                </a:extLst>
              </p:cNvPr>
              <p:cNvSpPr txBox="1">
                <a:spLocks noRot="1" noChangeAspect="1" noMove="1" noResize="1" noEditPoints="1" noAdjustHandles="1" noChangeArrowheads="1" noChangeShapeType="1" noTextEdit="1"/>
              </p:cNvSpPr>
              <p:nvPr/>
            </p:nvSpPr>
            <p:spPr>
              <a:xfrm>
                <a:off x="225552" y="2292097"/>
                <a:ext cx="12063984" cy="3980687"/>
              </a:xfrm>
              <a:prstGeom prst="rect">
                <a:avLst/>
              </a:prstGeom>
              <a:blipFill>
                <a:blip r:embed="rId2"/>
                <a:stretch>
                  <a:fillRect l="-1011" t="-2603"/>
                </a:stretch>
              </a:blipFill>
            </p:spPr>
            <p:txBody>
              <a:bodyPr/>
              <a:lstStyle/>
              <a:p>
                <a:r>
                  <a:rPr lang="en-US">
                    <a:noFill/>
                  </a:rPr>
                  <a:t> </a:t>
                </a:r>
              </a:p>
            </p:txBody>
          </p:sp>
        </mc:Fallback>
      </mc:AlternateContent>
    </p:spTree>
    <p:extLst>
      <p:ext uri="{BB962C8B-B14F-4D97-AF65-F5344CB8AC3E}">
        <p14:creationId xmlns:p14="http://schemas.microsoft.com/office/powerpoint/2010/main" val="16762593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3ABEB24-2896-FE39-78CD-ACC8B1D51CB4}"/>
                  </a:ext>
                </a:extLst>
              </p:cNvPr>
              <p:cNvSpPr>
                <a:spLocks noGrp="1"/>
              </p:cNvSpPr>
              <p:nvPr>
                <p:ph idx="1"/>
              </p:nvPr>
            </p:nvSpPr>
            <p:spPr>
              <a:xfrm>
                <a:off x="256032" y="0"/>
                <a:ext cx="11850624" cy="6519672"/>
              </a:xfrm>
            </p:spPr>
            <p:txBody>
              <a:bodyPr>
                <a:normAutofit fontScale="85000" lnSpcReduction="20000"/>
              </a:bodyPr>
              <a:lstStyle/>
              <a:p>
                <a14:m>
                  <m:oMath xmlns:m="http://schemas.openxmlformats.org/officeDocument/2006/math">
                    <m:limUpp>
                      <m:limUppPr>
                        <m:ctrlPr>
                          <a:rPr lang="ar-AE" i="1" smtClean="0">
                            <a:latin typeface="Cambria Math" panose="02040503050406030204" pitchFamily="18" charset="0"/>
                          </a:rPr>
                        </m:ctrlPr>
                      </m:limUppPr>
                      <m:e>
                        <m:r>
                          <a:rPr lang="ar-AE" i="1">
                            <a:latin typeface="Cambria Math" panose="02040503050406030204" pitchFamily="18" charset="0"/>
                          </a:rPr>
                          <m:t>𝑥</m:t>
                        </m:r>
                      </m:e>
                      <m:lim>
                        <m:r>
                          <a:rPr lang="ar-AE">
                            <a:latin typeface="Cambria Math" panose="02040503050406030204" pitchFamily="18" charset="0"/>
                          </a:rPr>
                          <m:t>ˉ</m:t>
                        </m:r>
                      </m:lim>
                    </m:limUpp>
                  </m:oMath>
                </a14:m>
                <a:r>
                  <a:rPr lang="ar-AE" dirty="0"/>
                  <a:t>= </a:t>
                </a:r>
                <a:r>
                  <a:rPr lang="en-US" dirty="0"/>
                  <a:t>sample mean</a:t>
                </a:r>
              </a:p>
              <a:p>
                <a14:m>
                  <m:oMath xmlns:m="http://schemas.openxmlformats.org/officeDocument/2006/math">
                    <m:r>
                      <a:rPr lang="en-US" i="1">
                        <a:latin typeface="Cambria Math" panose="02040503050406030204" pitchFamily="18" charset="0"/>
                      </a:rPr>
                      <m:t>𝜇</m:t>
                    </m:r>
                  </m:oMath>
                </a14:m>
                <a:r>
                  <a:rPr lang="en-US" dirty="0"/>
                  <a:t>= population mean</a:t>
                </a:r>
              </a:p>
              <a:p>
                <a14:m>
                  <m:oMath xmlns:m="http://schemas.openxmlformats.org/officeDocument/2006/math">
                    <m:r>
                      <a:rPr lang="en-US" i="1">
                        <a:latin typeface="Cambria Math" panose="02040503050406030204" pitchFamily="18" charset="0"/>
                      </a:rPr>
                      <m:t>𝜎</m:t>
                    </m:r>
                  </m:oMath>
                </a14:m>
                <a:r>
                  <a:rPr lang="en-US" dirty="0"/>
                  <a:t>= population standard deviation</a:t>
                </a:r>
              </a:p>
              <a:p>
                <a14:m>
                  <m:oMath xmlns:m="http://schemas.openxmlformats.org/officeDocument/2006/math">
                    <m:r>
                      <a:rPr lang="en-US" i="1">
                        <a:latin typeface="Cambria Math" panose="02040503050406030204" pitchFamily="18" charset="0"/>
                      </a:rPr>
                      <m:t>𝑛</m:t>
                    </m:r>
                  </m:oMath>
                </a14:m>
                <a:r>
                  <a:rPr lang="en-US" dirty="0"/>
                  <a:t>= sample size</a:t>
                </a:r>
              </a:p>
              <a:p>
                <a:pPr marL="0" indent="0" algn="ctr">
                  <a:buNone/>
                </a:pPr>
                <a:r>
                  <a:rPr lang="en-US" dirty="0"/>
                  <a:t>Z=</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47</m:t>
                        </m:r>
                        <m:r>
                          <a:rPr lang="en-US" b="0" i="1" smtClean="0">
                            <a:latin typeface="Cambria Math" panose="02040503050406030204" pitchFamily="18" charset="0"/>
                          </a:rPr>
                          <m:t>−</m:t>
                        </m:r>
                        <m:r>
                          <a:rPr lang="en-US" b="0" i="1" smtClean="0">
                            <a:latin typeface="Cambria Math" panose="02040503050406030204" pitchFamily="18" charset="0"/>
                          </a:rPr>
                          <m:t>50</m:t>
                        </m:r>
                      </m:num>
                      <m:den>
                        <m:r>
                          <a:rPr lang="en-US" b="0" i="1" smtClean="0">
                            <a:latin typeface="Cambria Math" panose="02040503050406030204" pitchFamily="18" charset="0"/>
                          </a:rPr>
                          <m:t>8</m:t>
                        </m:r>
                        <m:r>
                          <a:rPr lang="en-US" b="0" i="1" smtClean="0">
                            <a:latin typeface="Cambria Math" panose="02040503050406030204" pitchFamily="18" charset="0"/>
                          </a:rPr>
                          <m:t>/</m:t>
                        </m:r>
                        <m:rad>
                          <m:radPr>
                            <m:degHide m:val="on"/>
                            <m:ctrlPr>
                              <a:rPr lang="ar-AE" i="1">
                                <a:latin typeface="Cambria Math" panose="02040503050406030204" pitchFamily="18" charset="0"/>
                              </a:rPr>
                            </m:ctrlPr>
                          </m:radPr>
                          <m:deg/>
                          <m:e>
                            <m:r>
                              <a:rPr lang="ar-AE">
                                <a:latin typeface="Cambria Math" panose="02040503050406030204" pitchFamily="18" charset="0"/>
                              </a:rPr>
                              <m:t>40</m:t>
                            </m:r>
                          </m:e>
                        </m:rad>
                      </m:den>
                    </m:f>
                  </m:oMath>
                </a14:m>
                <a:endParaRPr lang="en-US" dirty="0"/>
              </a:p>
              <a:p>
                <a:pPr marL="0" indent="0">
                  <a:buNone/>
                </a:pPr>
                <a:endParaRPr lang="en-US" i="1" dirty="0"/>
              </a:p>
              <a:p>
                <a:pPr marL="0" indent="0">
                  <a:buNone/>
                </a:pPr>
                <a14:m>
                  <m:oMathPara xmlns:m="http://schemas.openxmlformats.org/officeDocument/2006/math">
                    <m:oMathParaPr>
                      <m:jc m:val="centerGroup"/>
                    </m:oMathParaPr>
                    <m:oMath xmlns:m="http://schemas.openxmlformats.org/officeDocument/2006/math">
                      <m:r>
                        <a:rPr lang="ar-AE" i="1">
                          <a:latin typeface="Cambria Math" panose="02040503050406030204" pitchFamily="18" charset="0"/>
                        </a:rPr>
                        <m:t>𝑍</m:t>
                      </m:r>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m:t>
                          </m:r>
                          <m:r>
                            <a:rPr lang="ar-AE">
                              <a:latin typeface="Cambria Math" panose="02040503050406030204" pitchFamily="18" charset="0"/>
                            </a:rPr>
                            <m:t>3</m:t>
                          </m:r>
                        </m:num>
                        <m:den>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265</m:t>
                          </m:r>
                        </m:den>
                      </m:f>
                    </m:oMath>
                  </m:oMathPara>
                </a14:m>
                <a:endParaRPr lang="ar-AE" dirty="0"/>
              </a:p>
              <a:p>
                <a:pPr marL="0" indent="0">
                  <a:buNone/>
                </a:pPr>
                <a:endParaRPr lang="en-US" i="1" dirty="0"/>
              </a:p>
              <a:p>
                <a:pPr marL="0" indent="0">
                  <a:buNone/>
                </a:pPr>
                <a14:m>
                  <m:oMathPara xmlns:m="http://schemas.openxmlformats.org/officeDocument/2006/math">
                    <m:oMathParaPr>
                      <m:jc m:val="centerGroup"/>
                    </m:oMathParaPr>
                    <m:oMath xmlns:m="http://schemas.openxmlformats.org/officeDocument/2006/math">
                      <m:r>
                        <a:rPr lang="ar-AE" i="1" smtClean="0">
                          <a:solidFill>
                            <a:srgbClr val="FF0000"/>
                          </a:solidFill>
                          <a:latin typeface="Cambria Math" panose="02040503050406030204" pitchFamily="18" charset="0"/>
                        </a:rPr>
                        <m:t>𝑍</m:t>
                      </m:r>
                      <m:r>
                        <a:rPr lang="ar-AE">
                          <a:solidFill>
                            <a:srgbClr val="FF0000"/>
                          </a:solidFill>
                          <a:latin typeface="Cambria Math" panose="02040503050406030204" pitchFamily="18" charset="0"/>
                        </a:rPr>
                        <m:t>=−</m:t>
                      </m:r>
                      <m:r>
                        <a:rPr lang="ar-AE">
                          <a:solidFill>
                            <a:srgbClr val="FF0000"/>
                          </a:solidFill>
                          <a:latin typeface="Cambria Math" panose="02040503050406030204" pitchFamily="18" charset="0"/>
                        </a:rPr>
                        <m:t>2</m:t>
                      </m:r>
                      <m:r>
                        <a:rPr lang="ar-AE">
                          <a:solidFill>
                            <a:srgbClr val="FF0000"/>
                          </a:solidFill>
                          <a:latin typeface="Cambria Math" panose="02040503050406030204" pitchFamily="18" charset="0"/>
                        </a:rPr>
                        <m:t>.</m:t>
                      </m:r>
                      <m:r>
                        <a:rPr lang="ar-AE">
                          <a:solidFill>
                            <a:srgbClr val="FF0000"/>
                          </a:solidFill>
                          <a:latin typeface="Cambria Math" panose="02040503050406030204" pitchFamily="18" charset="0"/>
                        </a:rPr>
                        <m:t>37</m:t>
                      </m:r>
                    </m:oMath>
                  </m:oMathPara>
                </a14:m>
                <a:endParaRPr lang="ar-AE" dirty="0">
                  <a:solidFill>
                    <a:srgbClr val="FF0000"/>
                  </a:solidFill>
                </a:endParaRPr>
              </a:p>
              <a:p>
                <a:r>
                  <a:rPr lang="en-US" b="1" dirty="0"/>
                  <a:t>Step 4: Critical Value</a:t>
                </a:r>
              </a:p>
              <a:p>
                <a:pPr marL="0" indent="0">
                  <a:buNone/>
                </a:pPr>
                <a:r>
                  <a:rPr lang="en-US" dirty="0"/>
                  <a:t>                                                        For </a:t>
                </a:r>
                <a:r>
                  <a:rPr lang="en-US" b="1" dirty="0"/>
                  <a:t>5% significance (two-tailed)</a:t>
                </a: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𝑍</m:t>
                          </m:r>
                        </m:e>
                        <m:sub>
                          <m:r>
                            <a:rPr lang="ar-AE" i="1">
                              <a:latin typeface="Cambria Math" panose="02040503050406030204" pitchFamily="18" charset="0"/>
                            </a:rPr>
                            <m:t>𝑐𝑟𝑖𝑡𝑖𝑐𝑎𝑙</m:t>
                          </m:r>
                        </m:sub>
                      </m:sSub>
                      <m:r>
                        <a:rPr lang="ar-AE">
                          <a:latin typeface="Cambria Math" panose="02040503050406030204" pitchFamily="18" charset="0"/>
                        </a:rPr>
                        <m:t>=±</m:t>
                      </m:r>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96</m:t>
                      </m:r>
                    </m:oMath>
                  </m:oMathPara>
                </a14:m>
                <a:endParaRPr lang="ar-AE" dirty="0"/>
              </a:p>
              <a:p>
                <a:pPr marL="0" indent="0">
                  <a:buNone/>
                </a:pPr>
                <a:r>
                  <a:rPr lang="en-US" dirty="0"/>
                  <a:t>Decision rule:</a:t>
                </a:r>
              </a:p>
              <a:p>
                <a:r>
                  <a:rPr lang="en-US" dirty="0"/>
                  <a:t>If </a:t>
                </a:r>
                <a14:m>
                  <m:oMath xmlns:m="http://schemas.openxmlformats.org/officeDocument/2006/math">
                    <m:r>
                      <a:rPr lang="en-US">
                        <a:latin typeface="Cambria Math" panose="02040503050406030204" pitchFamily="18" charset="0"/>
                      </a:rPr>
                      <m:t>∣</m:t>
                    </m:r>
                    <m:r>
                      <a:rPr lang="en-US" i="1">
                        <a:latin typeface="Cambria Math" panose="02040503050406030204" pitchFamily="18" charset="0"/>
                      </a:rPr>
                      <m:t>𝑍</m:t>
                    </m:r>
                    <m:r>
                      <a:rPr lang="en-US">
                        <a:latin typeface="Cambria Math" panose="02040503050406030204" pitchFamily="18" charset="0"/>
                      </a:rPr>
                      <m:t>∣</m:t>
                    </m:r>
                    <m:r>
                      <a:rPr lang="en-US" b="0" i="0" smtClean="0">
                        <a:latin typeface="Cambria Math" panose="02040503050406030204" pitchFamily="18" charset="0"/>
                      </a:rPr>
                      <m:t>&lt;−</m:t>
                    </m:r>
                    <m:r>
                      <a:rPr lang="en-US">
                        <a:latin typeface="Cambria Math" panose="02040503050406030204" pitchFamily="18" charset="0"/>
                      </a:rPr>
                      <m:t>1</m:t>
                    </m:r>
                    <m:r>
                      <a:rPr lang="en-US">
                        <a:latin typeface="Cambria Math" panose="02040503050406030204" pitchFamily="18" charset="0"/>
                      </a:rPr>
                      <m:t>.</m:t>
                    </m:r>
                    <m:r>
                      <a:rPr lang="en-US">
                        <a:latin typeface="Cambria Math" panose="02040503050406030204" pitchFamily="18" charset="0"/>
                      </a:rPr>
                      <m:t>96</m:t>
                    </m:r>
                    <m:r>
                      <a:rPr lang="en-US" b="0" i="0" smtClean="0">
                        <a:latin typeface="Cambria Math" panose="02040503050406030204" pitchFamily="18" charset="0"/>
                      </a:rPr>
                      <m:t> </m:t>
                    </m:r>
                  </m:oMath>
                </a14:m>
                <a:r>
                  <a:rPr lang="en-US" b="1" dirty="0"/>
                  <a:t>Reject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𝐻</m:t>
                        </m:r>
                      </m:e>
                      <m:sub>
                        <m:r>
                          <a:rPr lang="ar-AE">
                            <a:latin typeface="Cambria Math" panose="02040503050406030204" pitchFamily="18" charset="0"/>
                          </a:rPr>
                          <m:t>0</m:t>
                        </m:r>
                      </m:sub>
                    </m:sSub>
                  </m:oMath>
                </a14:m>
                <a:endParaRPr lang="ar-AE" dirty="0"/>
              </a:p>
              <a:p>
                <a:pPr marL="0" indent="0">
                  <a:buNone/>
                </a:pPr>
                <a:r>
                  <a:rPr lang="en-US" dirty="0"/>
                  <a:t>Which means there is significant evidence that the average sugar content is not 50 grams. So the company’s claim is likely incorrect.</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13ABEB24-2896-FE39-78CD-ACC8B1D51CB4}"/>
                  </a:ext>
                </a:extLst>
              </p:cNvPr>
              <p:cNvSpPr>
                <a:spLocks noGrp="1" noRot="1" noChangeAspect="1" noMove="1" noResize="1" noEditPoints="1" noAdjustHandles="1" noChangeArrowheads="1" noChangeShapeType="1" noTextEdit="1"/>
              </p:cNvSpPr>
              <p:nvPr>
                <p:ph idx="1"/>
              </p:nvPr>
            </p:nvSpPr>
            <p:spPr>
              <a:xfrm>
                <a:off x="256032" y="0"/>
                <a:ext cx="11850624" cy="6519672"/>
              </a:xfrm>
              <a:blipFill>
                <a:blip r:embed="rId2"/>
                <a:stretch>
                  <a:fillRect l="-772" t="-1402" r="-1235"/>
                </a:stretch>
              </a:blipFill>
            </p:spPr>
            <p:txBody>
              <a:bodyPr/>
              <a:lstStyle/>
              <a:p>
                <a:r>
                  <a:rPr lang="en-US">
                    <a:noFill/>
                  </a:rPr>
                  <a:t> </a:t>
                </a:r>
              </a:p>
            </p:txBody>
          </p:sp>
        </mc:Fallback>
      </mc:AlternateContent>
      <p:pic>
        <p:nvPicPr>
          <p:cNvPr id="4" name="Picture 4" descr="What is the rejection region for a two-tailed test when alpha = 0.05? |  Homework.Study.com">
            <a:extLst>
              <a:ext uri="{FF2B5EF4-FFF2-40B4-BE49-F238E27FC236}">
                <a16:creationId xmlns:a16="http://schemas.microsoft.com/office/drawing/2014/main" id="{90B74BB8-C080-6D60-AABA-72DB4639B9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42666" y="2445488"/>
            <a:ext cx="4325396" cy="14779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06685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4EC2E7-12DE-44FD-5F74-45618869DF5C}"/>
              </a:ext>
            </a:extLst>
          </p:cNvPr>
          <p:cNvSpPr>
            <a:spLocks noGrp="1"/>
          </p:cNvSpPr>
          <p:nvPr>
            <p:ph idx="1"/>
          </p:nvPr>
        </p:nvSpPr>
        <p:spPr>
          <a:xfrm>
            <a:off x="838200" y="207137"/>
            <a:ext cx="11195304" cy="1804543"/>
          </a:xfrm>
        </p:spPr>
        <p:txBody>
          <a:bodyPr/>
          <a:lstStyle/>
          <a:p>
            <a:pPr marL="0" indent="0">
              <a:buNone/>
            </a:pPr>
            <a:r>
              <a:rPr lang="en-US" dirty="0">
                <a:highlight>
                  <a:srgbClr val="FFFF00"/>
                </a:highlight>
                <a:latin typeface="Times New Roman" panose="02020603050405020304" pitchFamily="18" charset="0"/>
                <a:cs typeface="Times New Roman" panose="02020603050405020304" pitchFamily="18" charset="0"/>
              </a:rPr>
              <a:t>Example: </a:t>
            </a:r>
            <a:r>
              <a:rPr lang="en-US" dirty="0">
                <a:latin typeface="Times New Roman" panose="02020603050405020304" pitchFamily="18" charset="0"/>
                <a:cs typeface="Times New Roman" panose="02020603050405020304" pitchFamily="18" charset="0"/>
              </a:rPr>
              <a:t>A machine produces rods that should have mean length 50 cm. A sample of 10 rods is taken. Sample mean = 52 cm</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Sample standard deviation = 4 cm. Test at 5% significance level whether the machine is producing longer rods.</a:t>
            </a:r>
          </a:p>
          <a:p>
            <a:pPr marL="0" indent="0">
              <a:buNone/>
            </a:pPr>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9CEE0C3-0C70-638E-AD7E-EA600AD9DD7D}"/>
                  </a:ext>
                </a:extLst>
              </p:cNvPr>
              <p:cNvSpPr txBox="1"/>
              <p:nvPr/>
            </p:nvSpPr>
            <p:spPr>
              <a:xfrm>
                <a:off x="1117854" y="2011680"/>
                <a:ext cx="6094476" cy="1754326"/>
              </a:xfrm>
              <a:prstGeom prst="rect">
                <a:avLst/>
              </a:prstGeom>
              <a:noFill/>
            </p:spPr>
            <p:txBody>
              <a:bodyPr wrap="square">
                <a:spAutoFit/>
              </a:bodyPr>
              <a:lstStyle/>
              <a:p>
                <a:pPr>
                  <a:buNone/>
                </a:pPr>
                <a:r>
                  <a:rPr lang="en-US" b="1" dirty="0">
                    <a:highlight>
                      <a:srgbClr val="FFFF00"/>
                    </a:highlight>
                  </a:rPr>
                  <a:t>Sol: Step 1: State Hypotheses</a:t>
                </a:r>
              </a:p>
              <a:p>
                <a:pPr>
                  <a:buNone/>
                </a:pPr>
                <a:r>
                  <a:rPr lang="en-US" dirty="0"/>
                  <a:t>Null hypothesis:</a:t>
                </a:r>
              </a:p>
              <a:p>
                <a:pPr>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𝐻</m:t>
                          </m:r>
                        </m:e>
                        <m:sub>
                          <m:r>
                            <a:rPr lang="ar-AE" i="0">
                              <a:latin typeface="Cambria Math" panose="02040503050406030204" pitchFamily="18" charset="0"/>
                            </a:rPr>
                            <m:t>0</m:t>
                          </m:r>
                        </m:sub>
                      </m:sSub>
                      <m:r>
                        <a:rPr lang="ar-AE" i="0">
                          <a:latin typeface="Cambria Math" panose="02040503050406030204" pitchFamily="18" charset="0"/>
                        </a:rPr>
                        <m:t>:</m:t>
                      </m:r>
                      <m:r>
                        <a:rPr lang="ar-AE" i="1">
                          <a:latin typeface="Cambria Math" panose="02040503050406030204" pitchFamily="18" charset="0"/>
                        </a:rPr>
                        <m:t>𝜇</m:t>
                      </m:r>
                      <m:r>
                        <a:rPr lang="ar-AE" i="0">
                          <a:latin typeface="Cambria Math" panose="02040503050406030204" pitchFamily="18" charset="0"/>
                        </a:rPr>
                        <m:t>=</m:t>
                      </m:r>
                      <m:r>
                        <a:rPr lang="ar-AE" i="0">
                          <a:latin typeface="Cambria Math" panose="02040503050406030204" pitchFamily="18" charset="0"/>
                        </a:rPr>
                        <m:t>50</m:t>
                      </m:r>
                    </m:oMath>
                  </m:oMathPara>
                </a14:m>
                <a:endParaRPr lang="ar-AE" dirty="0"/>
              </a:p>
              <a:p>
                <a:pPr>
                  <a:buNone/>
                </a:pPr>
                <a:r>
                  <a:rPr lang="en-US" dirty="0"/>
                  <a:t>Alternative hypothesis:</a:t>
                </a:r>
              </a:p>
              <a:p>
                <a:pPr>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𝐻</m:t>
                          </m:r>
                        </m:e>
                        <m:sub>
                          <m:r>
                            <a:rPr lang="ar-AE" i="0">
                              <a:latin typeface="Cambria Math" panose="02040503050406030204" pitchFamily="18" charset="0"/>
                            </a:rPr>
                            <m:t>1</m:t>
                          </m:r>
                        </m:sub>
                      </m:sSub>
                      <m:r>
                        <a:rPr lang="ar-AE" i="0">
                          <a:latin typeface="Cambria Math" panose="02040503050406030204" pitchFamily="18" charset="0"/>
                        </a:rPr>
                        <m:t>:</m:t>
                      </m:r>
                      <m:r>
                        <a:rPr lang="ar-AE" i="1">
                          <a:latin typeface="Cambria Math" panose="02040503050406030204" pitchFamily="18" charset="0"/>
                        </a:rPr>
                        <m:t>𝜇</m:t>
                      </m:r>
                      <m:r>
                        <a:rPr lang="ar-AE" i="0">
                          <a:latin typeface="Cambria Math" panose="02040503050406030204" pitchFamily="18" charset="0"/>
                        </a:rPr>
                        <m:t>&gt;</m:t>
                      </m:r>
                      <m:r>
                        <a:rPr lang="ar-AE" i="0">
                          <a:latin typeface="Cambria Math" panose="02040503050406030204" pitchFamily="18" charset="0"/>
                        </a:rPr>
                        <m:t>50</m:t>
                      </m:r>
                    </m:oMath>
                  </m:oMathPara>
                </a14:m>
                <a:endParaRPr lang="ar-AE" dirty="0"/>
              </a:p>
              <a:p>
                <a:pPr>
                  <a:buNone/>
                </a:pPr>
                <a:r>
                  <a:rPr lang="en-US" dirty="0"/>
                  <a:t>This is a </a:t>
                </a:r>
                <a:r>
                  <a:rPr lang="en-US" b="1" dirty="0"/>
                  <a:t>right-tailed test</a:t>
                </a:r>
                <a:r>
                  <a:rPr lang="en-US" dirty="0"/>
                  <a:t>.</a:t>
                </a:r>
              </a:p>
            </p:txBody>
          </p:sp>
        </mc:Choice>
        <mc:Fallback xmlns="">
          <p:sp>
            <p:nvSpPr>
              <p:cNvPr id="5" name="TextBox 4">
                <a:extLst>
                  <a:ext uri="{FF2B5EF4-FFF2-40B4-BE49-F238E27FC236}">
                    <a16:creationId xmlns:a16="http://schemas.microsoft.com/office/drawing/2014/main" id="{A9CEE0C3-0C70-638E-AD7E-EA600AD9DD7D}"/>
                  </a:ext>
                </a:extLst>
              </p:cNvPr>
              <p:cNvSpPr txBox="1">
                <a:spLocks noRot="1" noChangeAspect="1" noMove="1" noResize="1" noEditPoints="1" noAdjustHandles="1" noChangeArrowheads="1" noChangeShapeType="1" noTextEdit="1"/>
              </p:cNvSpPr>
              <p:nvPr/>
            </p:nvSpPr>
            <p:spPr>
              <a:xfrm>
                <a:off x="1117854" y="2011680"/>
                <a:ext cx="6094476" cy="1754326"/>
              </a:xfrm>
              <a:prstGeom prst="rect">
                <a:avLst/>
              </a:prstGeom>
              <a:blipFill>
                <a:blip r:embed="rId2"/>
                <a:stretch>
                  <a:fillRect l="-800" t="-1389" b="-48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D748A19-DE42-9881-11E1-9BC57301E4BC}"/>
                  </a:ext>
                </a:extLst>
              </p:cNvPr>
              <p:cNvSpPr txBox="1"/>
              <p:nvPr/>
            </p:nvSpPr>
            <p:spPr>
              <a:xfrm>
                <a:off x="1044702" y="3913272"/>
                <a:ext cx="3920490" cy="2451312"/>
              </a:xfrm>
              <a:prstGeom prst="rect">
                <a:avLst/>
              </a:prstGeom>
              <a:noFill/>
            </p:spPr>
            <p:txBody>
              <a:bodyPr wrap="square">
                <a:spAutoFit/>
              </a:bodyPr>
              <a:lstStyle/>
              <a:p>
                <a:pPr>
                  <a:buNone/>
                </a:pPr>
                <a:r>
                  <a:rPr lang="en-US" b="1" dirty="0">
                    <a:highlight>
                      <a:srgbClr val="FFFF00"/>
                    </a:highlight>
                  </a:rPr>
                  <a:t>Step 2: Test Statistic</a:t>
                </a:r>
              </a:p>
              <a:p>
                <a:pPr>
                  <a:buNone/>
                </a:pPr>
                <a:r>
                  <a:rPr lang="en-US" dirty="0"/>
                  <a:t>Since:</a:t>
                </a:r>
              </a:p>
              <a:p>
                <a:r>
                  <a:rPr lang="en-US" dirty="0"/>
                  <a:t>Population SD </a:t>
                </a:r>
                <a:r>
                  <a:rPr lang="en-US" b="1" dirty="0"/>
                  <a:t>not known</a:t>
                </a:r>
                <a:endParaRPr lang="en-US" dirty="0"/>
              </a:p>
              <a:p>
                <a:r>
                  <a:rPr lang="en-US" dirty="0"/>
                  <a:t>Sample size </a:t>
                </a:r>
                <a:r>
                  <a:rPr lang="en-US" b="1" dirty="0"/>
                  <a:t>small (n &lt; 30)</a:t>
                </a:r>
                <a:endParaRPr lang="en-US" dirty="0"/>
              </a:p>
              <a:p>
                <a:pPr>
                  <a:buNone/>
                </a:pPr>
                <a:r>
                  <a:rPr lang="en-US" dirty="0"/>
                  <a:t>We use </a:t>
                </a:r>
                <a:r>
                  <a:rPr lang="en-US" b="1" dirty="0"/>
                  <a:t>t-test</a:t>
                </a:r>
                <a:r>
                  <a:rPr lang="en-US" dirty="0"/>
                  <a:t>.</a:t>
                </a:r>
              </a:p>
              <a:p>
                <a:pPr>
                  <a:buNone/>
                </a:pPr>
                <a:r>
                  <a:rPr lang="en-US" dirty="0"/>
                  <a:t>Formula:</a:t>
                </a:r>
              </a:p>
              <a:p>
                <a:pP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𝑡</m:t>
                      </m:r>
                      <m:r>
                        <a:rPr lang="en-US" i="0">
                          <a:latin typeface="Cambria Math" panose="02040503050406030204" pitchFamily="18" charset="0"/>
                        </a:rPr>
                        <m:t>=</m:t>
                      </m:r>
                      <m:f>
                        <m:fPr>
                          <m:ctrlPr>
                            <a:rPr lang="ar-AE" i="1">
                              <a:latin typeface="Cambria Math" panose="02040503050406030204" pitchFamily="18" charset="0"/>
                            </a:rPr>
                          </m:ctrlPr>
                        </m:fPr>
                        <m:num>
                          <m:limUpp>
                            <m:limUppPr>
                              <m:ctrlPr>
                                <a:rPr lang="ar-AE" i="1">
                                  <a:latin typeface="Cambria Math" panose="02040503050406030204" pitchFamily="18" charset="0"/>
                                </a:rPr>
                              </m:ctrlPr>
                            </m:limUppPr>
                            <m:e>
                              <m:r>
                                <a:rPr lang="ar-AE" i="1">
                                  <a:latin typeface="Cambria Math" panose="02040503050406030204" pitchFamily="18" charset="0"/>
                                </a:rPr>
                                <m:t>𝑥</m:t>
                              </m:r>
                            </m:e>
                            <m:lim>
                              <m:r>
                                <a:rPr lang="ar-AE" i="0">
                                  <a:latin typeface="Cambria Math" panose="02040503050406030204" pitchFamily="18" charset="0"/>
                                </a:rPr>
                                <m:t>ˉ</m:t>
                              </m:r>
                            </m:lim>
                          </m:limUpp>
                          <m:r>
                            <a:rPr lang="ar-AE" i="0">
                              <a:latin typeface="Cambria Math" panose="02040503050406030204" pitchFamily="18" charset="0"/>
                            </a:rPr>
                            <m:t>−</m:t>
                          </m:r>
                          <m:r>
                            <a:rPr lang="ar-AE" i="1">
                              <a:latin typeface="Cambria Math" panose="02040503050406030204" pitchFamily="18" charset="0"/>
                            </a:rPr>
                            <m:t>𝜇</m:t>
                          </m:r>
                        </m:num>
                        <m:den>
                          <m:r>
                            <a:rPr lang="ar-AE" i="1">
                              <a:latin typeface="Cambria Math" panose="02040503050406030204" pitchFamily="18" charset="0"/>
                            </a:rPr>
                            <m:t>𝑠</m:t>
                          </m:r>
                          <m:r>
                            <a:rPr lang="ar-AE" i="0">
                              <a:latin typeface="Cambria Math" panose="02040503050406030204" pitchFamily="18" charset="0"/>
                            </a:rPr>
                            <m:t>/</m:t>
                          </m:r>
                          <m:rad>
                            <m:radPr>
                              <m:degHide m:val="on"/>
                              <m:ctrlPr>
                                <a:rPr lang="ar-AE" i="1">
                                  <a:latin typeface="Cambria Math" panose="02040503050406030204" pitchFamily="18" charset="0"/>
                                </a:rPr>
                              </m:ctrlPr>
                            </m:radPr>
                            <m:deg/>
                            <m:e>
                              <m:r>
                                <a:rPr lang="ar-AE" i="1">
                                  <a:latin typeface="Cambria Math" panose="02040503050406030204" pitchFamily="18" charset="0"/>
                                </a:rPr>
                                <m:t>𝑛</m:t>
                              </m:r>
                            </m:e>
                          </m:rad>
                        </m:den>
                      </m:f>
                    </m:oMath>
                  </m:oMathPara>
                </a14:m>
                <a:endParaRPr lang="ar-AE" dirty="0"/>
              </a:p>
            </p:txBody>
          </p:sp>
        </mc:Choice>
        <mc:Fallback xmlns="">
          <p:sp>
            <p:nvSpPr>
              <p:cNvPr id="7" name="TextBox 6">
                <a:extLst>
                  <a:ext uri="{FF2B5EF4-FFF2-40B4-BE49-F238E27FC236}">
                    <a16:creationId xmlns:a16="http://schemas.microsoft.com/office/drawing/2014/main" id="{6D748A19-DE42-9881-11E1-9BC57301E4BC}"/>
                  </a:ext>
                </a:extLst>
              </p:cNvPr>
              <p:cNvSpPr txBox="1">
                <a:spLocks noRot="1" noChangeAspect="1" noMove="1" noResize="1" noEditPoints="1" noAdjustHandles="1" noChangeArrowheads="1" noChangeShapeType="1" noTextEdit="1"/>
              </p:cNvSpPr>
              <p:nvPr/>
            </p:nvSpPr>
            <p:spPr>
              <a:xfrm>
                <a:off x="1044702" y="3913272"/>
                <a:ext cx="3920490" cy="2451312"/>
              </a:xfrm>
              <a:prstGeom prst="rect">
                <a:avLst/>
              </a:prstGeom>
              <a:blipFill>
                <a:blip r:embed="rId3"/>
                <a:stretch>
                  <a:fillRect l="-1242" t="-12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4D09795-102F-1A00-4B09-431DDDE1DD1A}"/>
                  </a:ext>
                </a:extLst>
              </p:cNvPr>
              <p:cNvSpPr txBox="1"/>
              <p:nvPr/>
            </p:nvSpPr>
            <p:spPr>
              <a:xfrm>
                <a:off x="4892040" y="5431536"/>
                <a:ext cx="1316736" cy="9764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52</m:t>
                          </m:r>
                          <m:r>
                            <a:rPr lang="en-US" b="0" i="1" smtClean="0">
                              <a:latin typeface="Cambria Math" panose="02040503050406030204" pitchFamily="18" charset="0"/>
                            </a:rPr>
                            <m:t>−</m:t>
                          </m:r>
                          <m:r>
                            <a:rPr lang="en-US" b="0" i="1" smtClean="0">
                              <a:latin typeface="Cambria Math" panose="02040503050406030204" pitchFamily="18" charset="0"/>
                            </a:rPr>
                            <m:t>50</m:t>
                          </m:r>
                        </m:num>
                        <m:den>
                          <m:r>
                            <a:rPr lang="en-US" b="0" i="1" smtClean="0">
                              <a:latin typeface="Cambria Math" panose="02040503050406030204" pitchFamily="18" charset="0"/>
                            </a:rPr>
                            <m:t>4</m:t>
                          </m:r>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10</m:t>
                              </m:r>
                            </m:e>
                          </m:rad>
                        </m:den>
                      </m:f>
                    </m:oMath>
                  </m:oMathPara>
                </a14:m>
                <a:endParaRPr lang="en-US" dirty="0"/>
              </a:p>
              <a:p>
                <a:r>
                  <a:rPr lang="en-US" dirty="0">
                    <a:highlight>
                      <a:srgbClr val="FFFF00"/>
                    </a:highlight>
                  </a:rPr>
                  <a:t>t=1.58</a:t>
                </a:r>
              </a:p>
            </p:txBody>
          </p:sp>
        </mc:Choice>
        <mc:Fallback xmlns="">
          <p:sp>
            <p:nvSpPr>
              <p:cNvPr id="10" name="TextBox 9">
                <a:extLst>
                  <a:ext uri="{FF2B5EF4-FFF2-40B4-BE49-F238E27FC236}">
                    <a16:creationId xmlns:a16="http://schemas.microsoft.com/office/drawing/2014/main" id="{34D09795-102F-1A00-4B09-431DDDE1DD1A}"/>
                  </a:ext>
                </a:extLst>
              </p:cNvPr>
              <p:cNvSpPr txBox="1">
                <a:spLocks noRot="1" noChangeAspect="1" noMove="1" noResize="1" noEditPoints="1" noAdjustHandles="1" noChangeArrowheads="1" noChangeShapeType="1" noTextEdit="1"/>
              </p:cNvSpPr>
              <p:nvPr/>
            </p:nvSpPr>
            <p:spPr>
              <a:xfrm>
                <a:off x="4892040" y="5431536"/>
                <a:ext cx="1316736" cy="976486"/>
              </a:xfrm>
              <a:prstGeom prst="rect">
                <a:avLst/>
              </a:prstGeom>
              <a:blipFill>
                <a:blip r:embed="rId4"/>
                <a:stretch>
                  <a:fillRect l="-4167" b="-9375"/>
                </a:stretch>
              </a:blipFill>
            </p:spPr>
            <p:txBody>
              <a:bodyPr/>
              <a:lstStyle/>
              <a:p>
                <a:r>
                  <a:rPr lang="en-US">
                    <a:noFill/>
                  </a:rPr>
                  <a:t> </a:t>
                </a:r>
              </a:p>
            </p:txBody>
          </p:sp>
        </mc:Fallback>
      </mc:AlternateContent>
    </p:spTree>
    <p:extLst>
      <p:ext uri="{BB962C8B-B14F-4D97-AF65-F5344CB8AC3E}">
        <p14:creationId xmlns:p14="http://schemas.microsoft.com/office/powerpoint/2010/main" val="19389326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68B5F50-2A13-9076-DAA4-10CFB574F803}"/>
                  </a:ext>
                </a:extLst>
              </p:cNvPr>
              <p:cNvSpPr>
                <a:spLocks noGrp="1"/>
              </p:cNvSpPr>
              <p:nvPr>
                <p:ph idx="1"/>
              </p:nvPr>
            </p:nvSpPr>
            <p:spPr>
              <a:xfrm>
                <a:off x="838200" y="329184"/>
                <a:ext cx="10515600" cy="6528816"/>
              </a:xfrm>
            </p:spPr>
            <p:txBody>
              <a:bodyPr>
                <a:normAutofit/>
              </a:bodyPr>
              <a:lstStyle/>
              <a:p>
                <a:pPr marL="0" indent="0">
                  <a:buNone/>
                </a:pPr>
                <a:r>
                  <a:rPr lang="en-US" b="1" dirty="0"/>
                  <a:t>Step 4: Critical Value</a:t>
                </a:r>
              </a:p>
              <a:p>
                <a:pPr marL="0" indent="0">
                  <a:buNone/>
                </a:pPr>
                <a:r>
                  <a:rPr lang="en-US" dirty="0"/>
                  <a:t>Significance level = </a:t>
                </a:r>
                <a:r>
                  <a:rPr lang="en-US" b="1" dirty="0"/>
                  <a:t>0.05</a:t>
                </a:r>
                <a:endParaRPr lang="en-US" dirty="0"/>
              </a:p>
              <a:p>
                <a:r>
                  <a:rPr lang="en-US" dirty="0"/>
                  <a:t>Degrees of freedom</a:t>
                </a:r>
              </a:p>
              <a:p>
                <a14:m>
                  <m:oMath xmlns:m="http://schemas.openxmlformats.org/officeDocument/2006/math">
                    <m:r>
                      <a:rPr lang="en-US" i="1">
                        <a:latin typeface="Cambria Math" panose="02040503050406030204" pitchFamily="18" charset="0"/>
                      </a:rPr>
                      <m:t>𝑑𝑓</m:t>
                    </m:r>
                    <m:r>
                      <a:rPr lang="en-US">
                        <a:latin typeface="Cambria Math" panose="02040503050406030204" pitchFamily="18" charset="0"/>
                      </a:rPr>
                      <m:t>=</m:t>
                    </m:r>
                    <m:r>
                      <a:rPr lang="en-US" i="1">
                        <a:latin typeface="Cambria Math" panose="02040503050406030204" pitchFamily="18" charset="0"/>
                      </a:rPr>
                      <m:t>𝑛</m:t>
                    </m:r>
                    <m:r>
                      <a:rPr lang="en-US">
                        <a:latin typeface="Cambria Math" panose="02040503050406030204" pitchFamily="18" charset="0"/>
                      </a:rPr>
                      <m:t>−</m:t>
                    </m:r>
                    <m:r>
                      <a:rPr lang="en-US">
                        <a:latin typeface="Cambria Math" panose="02040503050406030204" pitchFamily="18" charset="0"/>
                      </a:rPr>
                      <m:t>1</m:t>
                    </m:r>
                    <m:r>
                      <a:rPr lang="en-US">
                        <a:latin typeface="Cambria Math" panose="02040503050406030204" pitchFamily="18" charset="0"/>
                      </a:rPr>
                      <m:t>=</m:t>
                    </m:r>
                    <m:r>
                      <a:rPr lang="en-US">
                        <a:latin typeface="Cambria Math" panose="02040503050406030204" pitchFamily="18" charset="0"/>
                      </a:rPr>
                      <m:t>10</m:t>
                    </m:r>
                    <m:r>
                      <a:rPr lang="en-US">
                        <a:latin typeface="Cambria Math" panose="02040503050406030204" pitchFamily="18" charset="0"/>
                      </a:rPr>
                      <m:t>−</m:t>
                    </m:r>
                    <m:r>
                      <a:rPr lang="en-US">
                        <a:latin typeface="Cambria Math" panose="02040503050406030204" pitchFamily="18" charset="0"/>
                      </a:rPr>
                      <m:t>1</m:t>
                    </m:r>
                    <m:r>
                      <a:rPr lang="en-US">
                        <a:latin typeface="Cambria Math" panose="02040503050406030204" pitchFamily="18" charset="0"/>
                      </a:rPr>
                      <m:t>=</m:t>
                    </m:r>
                    <m:r>
                      <a:rPr lang="en-US">
                        <a:latin typeface="Cambria Math" panose="02040503050406030204" pitchFamily="18" charset="0"/>
                      </a:rPr>
                      <m:t>9</m:t>
                    </m:r>
                  </m:oMath>
                </a14:m>
                <a:endParaRPr lang="en-US" dirty="0"/>
              </a:p>
              <a:p>
                <a:pPr marL="0" indent="0">
                  <a:buNone/>
                </a:pPr>
                <a:r>
                  <a:rPr lang="en-US" dirty="0"/>
                  <a:t>From </a:t>
                </a:r>
                <a:r>
                  <a:rPr lang="en-US" b="1" dirty="0"/>
                  <a:t>t-table</a:t>
                </a: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ar-AE" i="1" smtClean="0">
                              <a:solidFill>
                                <a:srgbClr val="FF0000"/>
                              </a:solidFill>
                              <a:latin typeface="Cambria Math" panose="02040503050406030204" pitchFamily="18" charset="0"/>
                            </a:rPr>
                          </m:ctrlPr>
                        </m:sSubPr>
                        <m:e>
                          <m:r>
                            <a:rPr lang="ar-AE" i="1">
                              <a:solidFill>
                                <a:srgbClr val="FF0000"/>
                              </a:solidFill>
                              <a:latin typeface="Cambria Math" panose="02040503050406030204" pitchFamily="18" charset="0"/>
                            </a:rPr>
                            <m:t>𝑡</m:t>
                          </m:r>
                        </m:e>
                        <m:sub>
                          <m:r>
                            <a:rPr lang="ar-AE">
                              <a:solidFill>
                                <a:srgbClr val="FF0000"/>
                              </a:solidFill>
                              <a:latin typeface="Cambria Math" panose="02040503050406030204" pitchFamily="18" charset="0"/>
                            </a:rPr>
                            <m:t>0</m:t>
                          </m:r>
                          <m:r>
                            <a:rPr lang="ar-AE">
                              <a:solidFill>
                                <a:srgbClr val="FF0000"/>
                              </a:solidFill>
                              <a:latin typeface="Cambria Math" panose="02040503050406030204" pitchFamily="18" charset="0"/>
                            </a:rPr>
                            <m:t>.</m:t>
                          </m:r>
                          <m:r>
                            <a:rPr lang="ar-AE">
                              <a:solidFill>
                                <a:srgbClr val="FF0000"/>
                              </a:solidFill>
                              <a:latin typeface="Cambria Math" panose="02040503050406030204" pitchFamily="18" charset="0"/>
                            </a:rPr>
                            <m:t>05</m:t>
                          </m:r>
                          <m:r>
                            <a:rPr lang="ar-AE">
                              <a:solidFill>
                                <a:srgbClr val="FF0000"/>
                              </a:solidFill>
                              <a:latin typeface="Cambria Math" panose="02040503050406030204" pitchFamily="18" charset="0"/>
                            </a:rPr>
                            <m:t>,</m:t>
                          </m:r>
                          <m:r>
                            <a:rPr lang="ar-AE">
                              <a:solidFill>
                                <a:srgbClr val="FF0000"/>
                              </a:solidFill>
                              <a:latin typeface="Cambria Math" panose="02040503050406030204" pitchFamily="18" charset="0"/>
                            </a:rPr>
                            <m:t>9</m:t>
                          </m:r>
                        </m:sub>
                      </m:sSub>
                      <m:r>
                        <a:rPr lang="ar-AE">
                          <a:solidFill>
                            <a:srgbClr val="FF0000"/>
                          </a:solidFill>
                          <a:latin typeface="Cambria Math" panose="02040503050406030204" pitchFamily="18" charset="0"/>
                        </a:rPr>
                        <m:t>=</m:t>
                      </m:r>
                      <m:r>
                        <a:rPr lang="ar-AE">
                          <a:solidFill>
                            <a:srgbClr val="FF0000"/>
                          </a:solidFill>
                          <a:latin typeface="Cambria Math" panose="02040503050406030204" pitchFamily="18" charset="0"/>
                        </a:rPr>
                        <m:t>1</m:t>
                      </m:r>
                      <m:r>
                        <a:rPr lang="ar-AE">
                          <a:solidFill>
                            <a:srgbClr val="FF0000"/>
                          </a:solidFill>
                          <a:latin typeface="Cambria Math" panose="02040503050406030204" pitchFamily="18" charset="0"/>
                        </a:rPr>
                        <m:t>.</m:t>
                      </m:r>
                      <m:r>
                        <a:rPr lang="ar-AE">
                          <a:solidFill>
                            <a:srgbClr val="FF0000"/>
                          </a:solidFill>
                          <a:latin typeface="Cambria Math" panose="02040503050406030204" pitchFamily="18" charset="0"/>
                        </a:rPr>
                        <m:t>833</m:t>
                      </m:r>
                    </m:oMath>
                  </m:oMathPara>
                </a14:m>
                <a:endParaRPr lang="ar-AE" dirty="0">
                  <a:solidFill>
                    <a:srgbClr val="FF0000"/>
                  </a:solidFill>
                  <a:latin typeface="Times New Roman" panose="02020603050405020304" pitchFamily="18" charset="0"/>
                  <a:cs typeface="Times New Roman" panose="02020603050405020304" pitchFamily="18" charset="0"/>
                </a:endParaRPr>
              </a:p>
              <a:p>
                <a:pPr marL="0" indent="0">
                  <a:buNone/>
                </a:pPr>
                <a:r>
                  <a:rPr lang="en-US" b="1" dirty="0"/>
                  <a:t>Step 5: Decision</a:t>
                </a:r>
              </a:p>
              <a:p>
                <a:r>
                  <a:rPr lang="en-US" dirty="0"/>
                  <a:t>Compare</a:t>
                </a:r>
              </a:p>
              <a:p>
                <a14:m>
                  <m:oMath xmlns:m="http://schemas.openxmlformats.org/officeDocument/2006/math">
                    <m:sSub>
                      <m:sSubPr>
                        <m:ctrlPr>
                          <a:rPr lang="ar-AE" i="1" smtClean="0">
                            <a:solidFill>
                              <a:srgbClr val="FF0000"/>
                            </a:solidFill>
                            <a:latin typeface="Cambria Math" panose="02040503050406030204" pitchFamily="18" charset="0"/>
                          </a:rPr>
                        </m:ctrlPr>
                      </m:sSubPr>
                      <m:e>
                        <m:r>
                          <a:rPr lang="ar-AE" i="1">
                            <a:solidFill>
                              <a:srgbClr val="FF0000"/>
                            </a:solidFill>
                            <a:latin typeface="Cambria Math" panose="02040503050406030204" pitchFamily="18" charset="0"/>
                          </a:rPr>
                          <m:t>𝑡</m:t>
                        </m:r>
                      </m:e>
                      <m:sub>
                        <m:r>
                          <a:rPr lang="ar-AE" i="1">
                            <a:solidFill>
                              <a:srgbClr val="FF0000"/>
                            </a:solidFill>
                            <a:latin typeface="Cambria Math" panose="02040503050406030204" pitchFamily="18" charset="0"/>
                          </a:rPr>
                          <m:t>𝑐𝑎𝑙𝑐𝑢𝑙𝑎𝑡𝑒𝑑</m:t>
                        </m:r>
                      </m:sub>
                    </m:sSub>
                    <m:r>
                      <a:rPr lang="ar-AE">
                        <a:solidFill>
                          <a:srgbClr val="FF0000"/>
                        </a:solidFill>
                        <a:latin typeface="Cambria Math" panose="02040503050406030204" pitchFamily="18" charset="0"/>
                      </a:rPr>
                      <m:t>=</m:t>
                    </m:r>
                    <m:r>
                      <a:rPr lang="ar-AE">
                        <a:solidFill>
                          <a:srgbClr val="FF0000"/>
                        </a:solidFill>
                        <a:latin typeface="Cambria Math" panose="02040503050406030204" pitchFamily="18" charset="0"/>
                      </a:rPr>
                      <m:t>1</m:t>
                    </m:r>
                    <m:r>
                      <a:rPr lang="ar-AE">
                        <a:solidFill>
                          <a:srgbClr val="FF0000"/>
                        </a:solidFill>
                        <a:latin typeface="Cambria Math" panose="02040503050406030204" pitchFamily="18" charset="0"/>
                      </a:rPr>
                      <m:t>.</m:t>
                    </m:r>
                    <m:r>
                      <a:rPr lang="ar-AE">
                        <a:solidFill>
                          <a:srgbClr val="FF0000"/>
                        </a:solidFill>
                        <a:latin typeface="Cambria Math" panose="02040503050406030204" pitchFamily="18" charset="0"/>
                      </a:rPr>
                      <m:t>58</m:t>
                    </m:r>
                  </m:oMath>
                </a14:m>
                <a:endParaRPr lang="ar-AE" dirty="0">
                  <a:solidFill>
                    <a:srgbClr val="FF0000"/>
                  </a:solidFill>
                </a:endParaRPr>
              </a:p>
              <a:p>
                <a14:m>
                  <m:oMath xmlns:m="http://schemas.openxmlformats.org/officeDocument/2006/math">
                    <m:sSub>
                      <m:sSubPr>
                        <m:ctrlPr>
                          <a:rPr lang="ar-AE" i="1" smtClean="0">
                            <a:solidFill>
                              <a:srgbClr val="0070C0"/>
                            </a:solidFill>
                            <a:latin typeface="Cambria Math" panose="02040503050406030204" pitchFamily="18" charset="0"/>
                          </a:rPr>
                        </m:ctrlPr>
                      </m:sSubPr>
                      <m:e>
                        <m:r>
                          <a:rPr lang="ar-AE" i="1">
                            <a:solidFill>
                              <a:srgbClr val="0070C0"/>
                            </a:solidFill>
                            <a:latin typeface="Cambria Math" panose="02040503050406030204" pitchFamily="18" charset="0"/>
                          </a:rPr>
                          <m:t>𝑡</m:t>
                        </m:r>
                      </m:e>
                      <m:sub>
                        <m:r>
                          <a:rPr lang="ar-AE" i="1">
                            <a:solidFill>
                              <a:srgbClr val="0070C0"/>
                            </a:solidFill>
                            <a:latin typeface="Cambria Math" panose="02040503050406030204" pitchFamily="18" charset="0"/>
                          </a:rPr>
                          <m:t>𝑐𝑟𝑖𝑡𝑖𝑐𝑎𝑙</m:t>
                        </m:r>
                      </m:sub>
                    </m:sSub>
                    <m:r>
                      <a:rPr lang="ar-AE">
                        <a:solidFill>
                          <a:srgbClr val="0070C0"/>
                        </a:solidFill>
                        <a:latin typeface="Cambria Math" panose="02040503050406030204" pitchFamily="18" charset="0"/>
                      </a:rPr>
                      <m:t>=</m:t>
                    </m:r>
                    <m:r>
                      <a:rPr lang="ar-AE">
                        <a:solidFill>
                          <a:srgbClr val="0070C0"/>
                        </a:solidFill>
                        <a:latin typeface="Cambria Math" panose="02040503050406030204" pitchFamily="18" charset="0"/>
                      </a:rPr>
                      <m:t>1</m:t>
                    </m:r>
                    <m:r>
                      <a:rPr lang="ar-AE">
                        <a:solidFill>
                          <a:srgbClr val="0070C0"/>
                        </a:solidFill>
                        <a:latin typeface="Cambria Math" panose="02040503050406030204" pitchFamily="18" charset="0"/>
                      </a:rPr>
                      <m:t>.</m:t>
                    </m:r>
                    <m:r>
                      <a:rPr lang="ar-AE">
                        <a:solidFill>
                          <a:srgbClr val="0070C0"/>
                        </a:solidFill>
                        <a:latin typeface="Cambria Math" panose="02040503050406030204" pitchFamily="18" charset="0"/>
                      </a:rPr>
                      <m:t>833</m:t>
                    </m:r>
                  </m:oMath>
                </a14:m>
                <a:endParaRPr lang="ar-AE" dirty="0">
                  <a:solidFill>
                    <a:srgbClr val="0070C0"/>
                  </a:solidFill>
                </a:endParaRPr>
              </a:p>
              <a:p>
                <a:pPr marL="0" indent="0">
                  <a:buNone/>
                </a:pPr>
                <a:r>
                  <a:rPr lang="en-US" dirty="0"/>
                  <a:t>Since</a:t>
                </a:r>
              </a:p>
              <a:p>
                <a:pPr marL="0" indent="0">
                  <a:buNone/>
                </a:pPr>
                <a14:m>
                  <m:oMathPara xmlns:m="http://schemas.openxmlformats.org/officeDocument/2006/math">
                    <m:oMathParaPr>
                      <m:jc m:val="centerGroup"/>
                    </m:oMathParaPr>
                    <m:oMath xmlns:m="http://schemas.openxmlformats.org/officeDocument/2006/math">
                      <m:r>
                        <a:rPr lang="en-US">
                          <a:latin typeface="Cambria Math" panose="02040503050406030204" pitchFamily="18" charset="0"/>
                        </a:rPr>
                        <m:t>1</m:t>
                      </m:r>
                      <m:r>
                        <a:rPr lang="en-US">
                          <a:latin typeface="Cambria Math" panose="02040503050406030204" pitchFamily="18" charset="0"/>
                        </a:rPr>
                        <m:t>.</m:t>
                      </m:r>
                      <m:r>
                        <a:rPr lang="en-US">
                          <a:latin typeface="Cambria Math" panose="02040503050406030204" pitchFamily="18" charset="0"/>
                        </a:rPr>
                        <m:t>58</m:t>
                      </m:r>
                      <m:r>
                        <a:rPr lang="en-US">
                          <a:latin typeface="Cambria Math" panose="02040503050406030204" pitchFamily="18" charset="0"/>
                        </a:rPr>
                        <m:t>&lt;</m:t>
                      </m:r>
                      <m:r>
                        <a:rPr lang="en-US">
                          <a:latin typeface="Cambria Math" panose="02040503050406030204" pitchFamily="18" charset="0"/>
                        </a:rPr>
                        <m:t>1</m:t>
                      </m:r>
                      <m:r>
                        <a:rPr lang="en-US">
                          <a:latin typeface="Cambria Math" panose="02040503050406030204" pitchFamily="18" charset="0"/>
                        </a:rPr>
                        <m:t>.</m:t>
                      </m:r>
                      <m:r>
                        <a:rPr lang="en-US">
                          <a:latin typeface="Cambria Math" panose="02040503050406030204" pitchFamily="18" charset="0"/>
                        </a:rPr>
                        <m:t>833</m:t>
                      </m:r>
                    </m:oMath>
                  </m:oMathPara>
                </a14:m>
                <a:endParaRPr lang="en-US" dirty="0"/>
              </a:p>
              <a:p>
                <a:pPr marL="0" indent="0">
                  <a:buNone/>
                </a:pPr>
                <a:r>
                  <a:rPr lang="en-US" dirty="0"/>
                  <a:t>We fail to reject </a:t>
                </a:r>
                <a14:m>
                  <m:oMath xmlns:m="http://schemas.openxmlformats.org/officeDocument/2006/math">
                    <m:sSub>
                      <m:sSubPr>
                        <m:ctrlPr>
                          <a:rPr lang="ar-AE" i="1">
                            <a:latin typeface="Cambria Math" panose="02040503050406030204" pitchFamily="18" charset="0"/>
                          </a:rPr>
                        </m:ctrlPr>
                      </m:sSubPr>
                      <m:e>
                        <m:r>
                          <a:rPr lang="ar-AE" b="0" i="1">
                            <a:latin typeface="Cambria Math" panose="02040503050406030204" pitchFamily="18" charset="0"/>
                          </a:rPr>
                          <m:t>𝐻</m:t>
                        </m:r>
                      </m:e>
                      <m:sub>
                        <m:r>
                          <a:rPr lang="ar-AE" b="0" i="1">
                            <a:latin typeface="Cambria Math" panose="02040503050406030204" pitchFamily="18" charset="0"/>
                          </a:rPr>
                          <m:t>0</m:t>
                        </m:r>
                      </m:sub>
                    </m:sSub>
                  </m:oMath>
                </a14:m>
                <a:r>
                  <a:rPr lang="ar-AE" dirty="0"/>
                  <a:t>.</a:t>
                </a: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768B5F50-2A13-9076-DAA4-10CFB574F803}"/>
                  </a:ext>
                </a:extLst>
              </p:cNvPr>
              <p:cNvSpPr>
                <a:spLocks noGrp="1" noRot="1" noChangeAspect="1" noMove="1" noResize="1" noEditPoints="1" noAdjustHandles="1" noChangeArrowheads="1" noChangeShapeType="1" noTextEdit="1"/>
              </p:cNvSpPr>
              <p:nvPr>
                <p:ph idx="1"/>
              </p:nvPr>
            </p:nvSpPr>
            <p:spPr>
              <a:xfrm>
                <a:off x="838200" y="329184"/>
                <a:ext cx="10515600" cy="6528816"/>
              </a:xfrm>
              <a:blipFill>
                <a:blip r:embed="rId2"/>
                <a:stretch>
                  <a:fillRect l="-1217" t="-1587" b="-280"/>
                </a:stretch>
              </a:blipFill>
            </p:spPr>
            <p:txBody>
              <a:bodyPr/>
              <a:lstStyle/>
              <a:p>
                <a:r>
                  <a:rPr lang="en-US">
                    <a:noFill/>
                  </a:rPr>
                  <a:t> </a:t>
                </a:r>
              </a:p>
            </p:txBody>
          </p:sp>
        </mc:Fallback>
      </mc:AlternateContent>
    </p:spTree>
    <p:extLst>
      <p:ext uri="{BB962C8B-B14F-4D97-AF65-F5344CB8AC3E}">
        <p14:creationId xmlns:p14="http://schemas.microsoft.com/office/powerpoint/2010/main" val="8716183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D8DD4-4FD8-B78D-0398-EEF3F7910743}"/>
              </a:ext>
            </a:extLst>
          </p:cNvPr>
          <p:cNvSpPr>
            <a:spLocks noGrp="1"/>
          </p:cNvSpPr>
          <p:nvPr>
            <p:ph type="title"/>
          </p:nvPr>
        </p:nvSpPr>
        <p:spPr>
          <a:xfrm>
            <a:off x="838200" y="365125"/>
            <a:ext cx="10515600" cy="622427"/>
          </a:xfrm>
        </p:spPr>
        <p:txBody>
          <a:bodyPr>
            <a:normAutofit fontScale="90000"/>
          </a:bodyPr>
          <a:lstStyle/>
          <a:p>
            <a:r>
              <a:rPr lang="en-US" dirty="0"/>
              <a:t>Chi-Square Test (</a:t>
            </a:r>
            <a:r>
              <a:rPr lang="el-GR" dirty="0"/>
              <a:t>χ² </a:t>
            </a:r>
            <a:r>
              <a:rPr lang="en-US" dirty="0"/>
              <a:t>Test)</a:t>
            </a:r>
          </a:p>
        </p:txBody>
      </p:sp>
      <p:sp>
        <p:nvSpPr>
          <p:cNvPr id="3" name="Content Placeholder 2">
            <a:extLst>
              <a:ext uri="{FF2B5EF4-FFF2-40B4-BE49-F238E27FC236}">
                <a16:creationId xmlns:a16="http://schemas.microsoft.com/office/drawing/2014/main" id="{A12790A8-0795-716D-00D1-C5805455ED8D}"/>
              </a:ext>
            </a:extLst>
          </p:cNvPr>
          <p:cNvSpPr>
            <a:spLocks noGrp="1"/>
          </p:cNvSpPr>
          <p:nvPr>
            <p:ph idx="1"/>
          </p:nvPr>
        </p:nvSpPr>
        <p:spPr>
          <a:xfrm>
            <a:off x="164592" y="1097280"/>
            <a:ext cx="11896344" cy="5079683"/>
          </a:xfrm>
        </p:spPr>
        <p:txBody>
          <a:bodyPr/>
          <a:lstStyle/>
          <a:p>
            <a:r>
              <a:rPr lang="en-US" dirty="0"/>
              <a:t>T</a:t>
            </a:r>
            <a:r>
              <a:rPr lang="en-US" dirty="0">
                <a:latin typeface="Times New Roman" panose="02020603050405020304" pitchFamily="18" charset="0"/>
                <a:cs typeface="Times New Roman" panose="02020603050405020304" pitchFamily="18" charset="0"/>
              </a:rPr>
              <a:t>he Chi-Square (χ²) test is a non-parametric statistical test used to analyze categorical data (data in the form of counts or frequencies).</a:t>
            </a:r>
          </a:p>
          <a:p>
            <a:r>
              <a:rPr lang="en-US" dirty="0"/>
              <a:t>It tests whether the difference between observed and expected frequencies is due to chance or a real effect.</a:t>
            </a:r>
          </a:p>
          <a:p>
            <a:pPr marL="0" indent="0">
              <a:buNone/>
            </a:pPr>
            <a:r>
              <a:rPr lang="en-US" b="1" dirty="0">
                <a:latin typeface="Times New Roman" panose="02020603050405020304" pitchFamily="18" charset="0"/>
                <a:cs typeface="Times New Roman" panose="02020603050405020304" pitchFamily="18" charset="0"/>
              </a:rPr>
              <a:t>Mainly used in 3 situations</a:t>
            </a:r>
          </a:p>
        </p:txBody>
      </p:sp>
      <p:graphicFrame>
        <p:nvGraphicFramePr>
          <p:cNvPr id="4" name="Table 3">
            <a:extLst>
              <a:ext uri="{FF2B5EF4-FFF2-40B4-BE49-F238E27FC236}">
                <a16:creationId xmlns:a16="http://schemas.microsoft.com/office/drawing/2014/main" id="{378980F2-78A7-3325-6232-A6E0FC70434A}"/>
              </a:ext>
            </a:extLst>
          </p:cNvPr>
          <p:cNvGraphicFramePr>
            <a:graphicFrameLocks noGrp="1"/>
          </p:cNvGraphicFramePr>
          <p:nvPr>
            <p:extLst>
              <p:ext uri="{D42A27DB-BD31-4B8C-83A1-F6EECF244321}">
                <p14:modId xmlns:p14="http://schemas.microsoft.com/office/powerpoint/2010/main" val="2778411900"/>
              </p:ext>
            </p:extLst>
          </p:nvPr>
        </p:nvGraphicFramePr>
        <p:xfrm>
          <a:off x="228600" y="3637121"/>
          <a:ext cx="11256264" cy="1463040"/>
        </p:xfrm>
        <a:graphic>
          <a:graphicData uri="http://schemas.openxmlformats.org/drawingml/2006/table">
            <a:tbl>
              <a:tblPr/>
              <a:tblGrid>
                <a:gridCol w="5628132">
                  <a:extLst>
                    <a:ext uri="{9D8B030D-6E8A-4147-A177-3AD203B41FA5}">
                      <a16:colId xmlns:a16="http://schemas.microsoft.com/office/drawing/2014/main" val="504209319"/>
                    </a:ext>
                  </a:extLst>
                </a:gridCol>
                <a:gridCol w="5628132">
                  <a:extLst>
                    <a:ext uri="{9D8B030D-6E8A-4147-A177-3AD203B41FA5}">
                      <a16:colId xmlns:a16="http://schemas.microsoft.com/office/drawing/2014/main" val="4091997655"/>
                    </a:ext>
                  </a:extLst>
                </a:gridCol>
              </a:tblGrid>
              <a:tr h="0">
                <a:tc>
                  <a:txBody>
                    <a:bodyPr/>
                    <a:lstStyle/>
                    <a:p>
                      <a:pPr>
                        <a:buNone/>
                      </a:pPr>
                      <a:r>
                        <a:rPr lang="en-US" b="1"/>
                        <a:t>Test</a:t>
                      </a:r>
                    </a:p>
                  </a:txBody>
                  <a:tcPr anchor="ctr">
                    <a:lnL>
                      <a:noFill/>
                    </a:lnL>
                    <a:lnR>
                      <a:noFill/>
                    </a:lnR>
                    <a:lnT>
                      <a:noFill/>
                    </a:lnT>
                    <a:lnB>
                      <a:noFill/>
                    </a:lnB>
                    <a:noFill/>
                  </a:tcPr>
                </a:tc>
                <a:tc>
                  <a:txBody>
                    <a:bodyPr/>
                    <a:lstStyle/>
                    <a:p>
                      <a:pPr>
                        <a:buNone/>
                      </a:pPr>
                      <a:r>
                        <a:rPr lang="en-US" b="1" dirty="0"/>
                        <a:t>Purpose</a:t>
                      </a:r>
                    </a:p>
                  </a:txBody>
                  <a:tcPr anchor="ctr">
                    <a:lnL>
                      <a:noFill/>
                    </a:lnL>
                    <a:lnR>
                      <a:noFill/>
                    </a:lnR>
                    <a:lnT>
                      <a:noFill/>
                    </a:lnT>
                    <a:lnB>
                      <a:noFill/>
                    </a:lnB>
                    <a:noFill/>
                  </a:tcPr>
                </a:tc>
                <a:extLst>
                  <a:ext uri="{0D108BD9-81ED-4DB2-BD59-A6C34878D82A}">
                    <a16:rowId xmlns:a16="http://schemas.microsoft.com/office/drawing/2014/main" val="3732994834"/>
                  </a:ext>
                </a:extLst>
              </a:tr>
              <a:tr h="0">
                <a:tc>
                  <a:txBody>
                    <a:bodyPr/>
                    <a:lstStyle/>
                    <a:p>
                      <a:pPr>
                        <a:buNone/>
                      </a:pPr>
                      <a:r>
                        <a:rPr lang="en-US" b="1" dirty="0"/>
                        <a:t>Chi-Square Goodness of Fit</a:t>
                      </a:r>
                    </a:p>
                  </a:txBody>
                  <a:tcPr anchor="ctr">
                    <a:lnL>
                      <a:noFill/>
                    </a:lnL>
                    <a:lnR>
                      <a:noFill/>
                    </a:lnR>
                    <a:lnT>
                      <a:noFill/>
                    </a:lnT>
                    <a:lnB>
                      <a:noFill/>
                    </a:lnB>
                    <a:noFill/>
                  </a:tcPr>
                </a:tc>
                <a:tc>
                  <a:txBody>
                    <a:bodyPr/>
                    <a:lstStyle/>
                    <a:p>
                      <a:pPr>
                        <a:buNone/>
                      </a:pPr>
                      <a:r>
                        <a:rPr lang="en-US"/>
                        <a:t>Check if data fits a theoretical distribution</a:t>
                      </a:r>
                    </a:p>
                  </a:txBody>
                  <a:tcPr anchor="ctr">
                    <a:lnL>
                      <a:noFill/>
                    </a:lnL>
                    <a:lnR>
                      <a:noFill/>
                    </a:lnR>
                    <a:lnT>
                      <a:noFill/>
                    </a:lnT>
                    <a:lnB>
                      <a:noFill/>
                    </a:lnB>
                    <a:noFill/>
                  </a:tcPr>
                </a:tc>
                <a:extLst>
                  <a:ext uri="{0D108BD9-81ED-4DB2-BD59-A6C34878D82A}">
                    <a16:rowId xmlns:a16="http://schemas.microsoft.com/office/drawing/2014/main" val="166884703"/>
                  </a:ext>
                </a:extLst>
              </a:tr>
              <a:tr h="0">
                <a:tc>
                  <a:txBody>
                    <a:bodyPr/>
                    <a:lstStyle/>
                    <a:p>
                      <a:pPr>
                        <a:buNone/>
                      </a:pPr>
                      <a:r>
                        <a:rPr lang="en-US" b="1" dirty="0"/>
                        <a:t>Chi-Square Test of Independence</a:t>
                      </a:r>
                    </a:p>
                  </a:txBody>
                  <a:tcPr anchor="ctr">
                    <a:lnL>
                      <a:noFill/>
                    </a:lnL>
                    <a:lnR>
                      <a:noFill/>
                    </a:lnR>
                    <a:lnT>
                      <a:noFill/>
                    </a:lnT>
                    <a:lnB>
                      <a:noFill/>
                    </a:lnB>
                    <a:noFill/>
                  </a:tcPr>
                </a:tc>
                <a:tc>
                  <a:txBody>
                    <a:bodyPr/>
                    <a:lstStyle/>
                    <a:p>
                      <a:pPr>
                        <a:buNone/>
                      </a:pPr>
                      <a:r>
                        <a:rPr lang="en-US"/>
                        <a:t>Check if two variables are related</a:t>
                      </a:r>
                    </a:p>
                  </a:txBody>
                  <a:tcPr anchor="ctr">
                    <a:lnL>
                      <a:noFill/>
                    </a:lnL>
                    <a:lnR>
                      <a:noFill/>
                    </a:lnR>
                    <a:lnT>
                      <a:noFill/>
                    </a:lnT>
                    <a:lnB>
                      <a:noFill/>
                    </a:lnB>
                    <a:noFill/>
                  </a:tcPr>
                </a:tc>
                <a:extLst>
                  <a:ext uri="{0D108BD9-81ED-4DB2-BD59-A6C34878D82A}">
                    <a16:rowId xmlns:a16="http://schemas.microsoft.com/office/drawing/2014/main" val="158668147"/>
                  </a:ext>
                </a:extLst>
              </a:tr>
              <a:tr h="0">
                <a:tc>
                  <a:txBody>
                    <a:bodyPr/>
                    <a:lstStyle/>
                    <a:p>
                      <a:pPr>
                        <a:buNone/>
                      </a:pPr>
                      <a:r>
                        <a:rPr lang="en-US"/>
                        <a:t>Chi-Square Test of Homogeneity</a:t>
                      </a:r>
                    </a:p>
                  </a:txBody>
                  <a:tcPr anchor="ctr">
                    <a:lnL>
                      <a:noFill/>
                    </a:lnL>
                    <a:lnR>
                      <a:noFill/>
                    </a:lnR>
                    <a:lnT>
                      <a:noFill/>
                    </a:lnT>
                    <a:lnB>
                      <a:noFill/>
                    </a:lnB>
                    <a:noFill/>
                  </a:tcPr>
                </a:tc>
                <a:tc>
                  <a:txBody>
                    <a:bodyPr/>
                    <a:lstStyle/>
                    <a:p>
                      <a:pPr>
                        <a:buNone/>
                      </a:pPr>
                      <a:r>
                        <a:rPr lang="en-US" dirty="0"/>
                        <a:t>Compare distributions across groups</a:t>
                      </a:r>
                    </a:p>
                  </a:txBody>
                  <a:tcPr anchor="ctr">
                    <a:lnL>
                      <a:noFill/>
                    </a:lnL>
                    <a:lnR>
                      <a:noFill/>
                    </a:lnR>
                    <a:lnT>
                      <a:noFill/>
                    </a:lnT>
                    <a:lnB>
                      <a:noFill/>
                    </a:lnB>
                    <a:noFill/>
                  </a:tcPr>
                </a:tc>
                <a:extLst>
                  <a:ext uri="{0D108BD9-81ED-4DB2-BD59-A6C34878D82A}">
                    <a16:rowId xmlns:a16="http://schemas.microsoft.com/office/drawing/2014/main" val="286199030"/>
                  </a:ext>
                </a:extLst>
              </a:tr>
            </a:tbl>
          </a:graphicData>
        </a:graphic>
      </p:graphicFrame>
    </p:spTree>
    <p:extLst>
      <p:ext uri="{BB962C8B-B14F-4D97-AF65-F5344CB8AC3E}">
        <p14:creationId xmlns:p14="http://schemas.microsoft.com/office/powerpoint/2010/main" val="3743162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9B3C7C1-B8D4-2D14-02CF-576D4DCC164A}"/>
                  </a:ext>
                </a:extLst>
              </p:cNvPr>
              <p:cNvSpPr>
                <a:spLocks noGrp="1"/>
              </p:cNvSpPr>
              <p:nvPr>
                <p:ph idx="1"/>
              </p:nvPr>
            </p:nvSpPr>
            <p:spPr>
              <a:xfrm>
                <a:off x="137160" y="320040"/>
                <a:ext cx="11216640" cy="6300216"/>
              </a:xfrm>
            </p:spPr>
            <p:txBody>
              <a:bodyPr>
                <a:normAutofit/>
              </a:bodyPr>
              <a:lstStyle/>
              <a:p>
                <a:pPr marL="0" indent="0">
                  <a:buNone/>
                </a:pPr>
                <a14:m>
                  <m:oMathPara xmlns:m="http://schemas.openxmlformats.org/officeDocument/2006/math">
                    <m:oMathParaPr>
                      <m:jc m:val="centerGroup"/>
                    </m:oMathParaPr>
                    <m:oMath xmlns:m="http://schemas.openxmlformats.org/officeDocument/2006/math">
                      <m:r>
                        <m:rPr>
                          <m:nor/>
                        </m:rPr>
                        <a:rPr lang="el-GR" sz="1800" dirty="0">
                          <a:latin typeface="Times New Roman" panose="02020603050405020304" pitchFamily="18" charset="0"/>
                          <a:cs typeface="Times New Roman" panose="02020603050405020304" pitchFamily="18" charset="0"/>
                        </a:rPr>
                        <m:t>χ</m:t>
                      </m:r>
                      <m:r>
                        <m:rPr>
                          <m:nor/>
                        </m:rPr>
                        <a:rPr lang="el-GR" sz="1800" dirty="0">
                          <a:latin typeface="Times New Roman" panose="02020603050405020304" pitchFamily="18" charset="0"/>
                          <a:cs typeface="Times New Roman" panose="02020603050405020304" pitchFamily="18" charset="0"/>
                        </a:rPr>
                        <m:t>²</m:t>
                      </m:r>
                      <m:r>
                        <m:rPr>
                          <m:nor/>
                        </m:rPr>
                        <a:rPr lang="en-US" sz="1800" b="0" i="0" dirty="0" smtClean="0">
                          <a:latin typeface="Times New Roman" panose="02020603050405020304" pitchFamily="18" charset="0"/>
                          <a:cs typeface="Times New Roman" panose="02020603050405020304" pitchFamily="18" charset="0"/>
                        </a:rPr>
                        <m:t>=</m:t>
                      </m:r>
                      <m:nary>
                        <m:naryPr>
                          <m:chr m:val="∑"/>
                          <m:subHide m:val="on"/>
                          <m:supHide m:val="on"/>
                          <m:ctrlPr>
                            <a:rPr lang="en-US" sz="1800" i="1" smtClean="0">
                              <a:latin typeface="Cambria Math" panose="02040503050406030204" pitchFamily="18" charset="0"/>
                            </a:rPr>
                          </m:ctrlPr>
                        </m:naryPr>
                        <m:sub/>
                        <m:sup/>
                        <m:e>
                          <m:f>
                            <m:fPr>
                              <m:ctrlPr>
                                <a:rPr lang="en-US" sz="1800" i="1" smtClean="0">
                                  <a:latin typeface="Cambria Math" panose="02040503050406030204" pitchFamily="18" charset="0"/>
                                </a:rPr>
                              </m:ctrlPr>
                            </m:fPr>
                            <m:num>
                              <m:sSup>
                                <m:sSupPr>
                                  <m:ctrlPr>
                                    <a:rPr lang="en-US" sz="1800" i="1" smtClean="0">
                                      <a:latin typeface="Cambria Math" panose="02040503050406030204" pitchFamily="18" charset="0"/>
                                    </a:rPr>
                                  </m:ctrlPr>
                                </m:sSupPr>
                                <m:e>
                                  <m:r>
                                    <a:rPr lang="en-US" sz="1800" b="0" i="1" smtClean="0">
                                      <a:latin typeface="Cambria Math" panose="02040503050406030204" pitchFamily="18" charset="0"/>
                                    </a:rPr>
                                    <m:t>(</m:t>
                                  </m:r>
                                  <m:r>
                                    <a:rPr lang="en-US" sz="1800" b="0" i="1" smtClean="0">
                                      <a:latin typeface="Cambria Math" panose="02040503050406030204" pitchFamily="18" charset="0"/>
                                    </a:rPr>
                                    <m:t>𝑂</m:t>
                                  </m:r>
                                  <m:r>
                                    <a:rPr lang="en-US" sz="1800" b="0" i="1" smtClean="0">
                                      <a:latin typeface="Cambria Math" panose="02040503050406030204" pitchFamily="18" charset="0"/>
                                    </a:rPr>
                                    <m:t>−</m:t>
                                  </m:r>
                                  <m:r>
                                    <a:rPr lang="en-US" sz="1800" b="0" i="1" smtClean="0">
                                      <a:latin typeface="Cambria Math" panose="02040503050406030204" pitchFamily="18" charset="0"/>
                                    </a:rPr>
                                    <m:t>𝐸</m:t>
                                  </m:r>
                                  <m:r>
                                    <a:rPr lang="en-US" sz="1800" b="0" i="1" smtClean="0">
                                      <a:latin typeface="Cambria Math" panose="02040503050406030204" pitchFamily="18" charset="0"/>
                                    </a:rPr>
                                    <m:t>)</m:t>
                                  </m:r>
                                </m:e>
                                <m:sup>
                                  <m:r>
                                    <a:rPr lang="en-US" sz="1800" b="0" i="1" smtClean="0">
                                      <a:latin typeface="Cambria Math" panose="02040503050406030204" pitchFamily="18" charset="0"/>
                                    </a:rPr>
                                    <m:t>2</m:t>
                                  </m:r>
                                </m:sup>
                              </m:sSup>
                            </m:num>
                            <m:den>
                              <m:r>
                                <a:rPr lang="en-US" sz="1800" b="0" i="1" smtClean="0">
                                  <a:latin typeface="Cambria Math" panose="02040503050406030204" pitchFamily="18" charset="0"/>
                                </a:rPr>
                                <m:t>𝐸</m:t>
                              </m:r>
                            </m:den>
                          </m:f>
                        </m:e>
                      </m:nary>
                    </m:oMath>
                  </m:oMathPara>
                </a14:m>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O:Observed Freq.</a:t>
                </a:r>
              </a:p>
              <a:p>
                <a:pPr marL="0" indent="0">
                  <a:buNone/>
                </a:pPr>
                <a:r>
                  <a:rPr lang="en-US" sz="1800" dirty="0">
                    <a:latin typeface="Times New Roman" panose="02020603050405020304" pitchFamily="18" charset="0"/>
                    <a:cs typeface="Times New Roman" panose="02020603050405020304" pitchFamily="18" charset="0"/>
                  </a:rPr>
                  <a:t>E: Expected Freq.</a:t>
                </a:r>
              </a:p>
              <a:p>
                <a:pPr marL="0" indent="0">
                  <a:buNone/>
                </a:pPr>
                <a:r>
                  <a:rPr lang="en-US" sz="1800" dirty="0">
                    <a:latin typeface="Times New Roman" panose="02020603050405020304" pitchFamily="18" charset="0"/>
                    <a:cs typeface="Times New Roman" panose="02020603050405020304" pitchFamily="18" charset="0"/>
                  </a:rPr>
                  <a:t>Example: A Coin is tossed 100 times and its </a:t>
                </a:r>
                <a:r>
                  <a:rPr lang="en-US" sz="1800" dirty="0" err="1">
                    <a:latin typeface="Times New Roman" panose="02020603050405020304" pitchFamily="18" charset="0"/>
                    <a:cs typeface="Times New Roman" panose="02020603050405020304" pitchFamily="18" charset="0"/>
                  </a:rPr>
                  <a:t>oberved</a:t>
                </a:r>
                <a:endParaRPr lang="en-US" sz="1800"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49B3C7C1-B8D4-2D14-02CF-576D4DCC164A}"/>
                  </a:ext>
                </a:extLst>
              </p:cNvPr>
              <p:cNvSpPr>
                <a:spLocks noGrp="1" noRot="1" noChangeAspect="1" noMove="1" noResize="1" noEditPoints="1" noAdjustHandles="1" noChangeArrowheads="1" noChangeShapeType="1" noTextEdit="1"/>
              </p:cNvSpPr>
              <p:nvPr>
                <p:ph idx="1"/>
              </p:nvPr>
            </p:nvSpPr>
            <p:spPr>
              <a:xfrm>
                <a:off x="137160" y="320040"/>
                <a:ext cx="11216640" cy="6300216"/>
              </a:xfrm>
              <a:blipFill>
                <a:blip r:embed="rId2"/>
                <a:stretch>
                  <a:fillRect l="-489"/>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15665168-697D-C854-CB24-36EB86998E96}"/>
              </a:ext>
            </a:extLst>
          </p:cNvPr>
          <p:cNvGraphicFramePr>
            <a:graphicFrameLocks noGrp="1"/>
          </p:cNvGraphicFramePr>
          <p:nvPr>
            <p:extLst>
              <p:ext uri="{D42A27DB-BD31-4B8C-83A1-F6EECF244321}">
                <p14:modId xmlns:p14="http://schemas.microsoft.com/office/powerpoint/2010/main" val="2264070116"/>
              </p:ext>
            </p:extLst>
          </p:nvPr>
        </p:nvGraphicFramePr>
        <p:xfrm>
          <a:off x="1578864" y="2129806"/>
          <a:ext cx="3953256" cy="1483614"/>
        </p:xfrm>
        <a:graphic>
          <a:graphicData uri="http://schemas.openxmlformats.org/drawingml/2006/table">
            <a:tbl>
              <a:tblPr/>
              <a:tblGrid>
                <a:gridCol w="1976628">
                  <a:extLst>
                    <a:ext uri="{9D8B030D-6E8A-4147-A177-3AD203B41FA5}">
                      <a16:colId xmlns:a16="http://schemas.microsoft.com/office/drawing/2014/main" val="2432084022"/>
                    </a:ext>
                  </a:extLst>
                </a:gridCol>
                <a:gridCol w="1976628">
                  <a:extLst>
                    <a:ext uri="{9D8B030D-6E8A-4147-A177-3AD203B41FA5}">
                      <a16:colId xmlns:a16="http://schemas.microsoft.com/office/drawing/2014/main" val="2337871990"/>
                    </a:ext>
                  </a:extLst>
                </a:gridCol>
              </a:tblGrid>
              <a:tr h="494538">
                <a:tc>
                  <a:txBody>
                    <a:bodyPr/>
                    <a:lstStyle/>
                    <a:p>
                      <a:pPr>
                        <a:buNone/>
                      </a:pPr>
                      <a:r>
                        <a:rPr lang="en-US" dirty="0"/>
                        <a:t>Outcome</a:t>
                      </a:r>
                    </a:p>
                  </a:txBody>
                  <a:tcPr anchor="ctr">
                    <a:lnL>
                      <a:noFill/>
                    </a:lnL>
                    <a:lnR>
                      <a:noFill/>
                    </a:lnR>
                    <a:lnT>
                      <a:noFill/>
                    </a:lnT>
                    <a:lnB>
                      <a:noFill/>
                    </a:lnB>
                    <a:noFill/>
                  </a:tcPr>
                </a:tc>
                <a:tc>
                  <a:txBody>
                    <a:bodyPr/>
                    <a:lstStyle/>
                    <a:p>
                      <a:pPr>
                        <a:buNone/>
                      </a:pPr>
                      <a:r>
                        <a:rPr lang="en-US" dirty="0"/>
                        <a:t>Observed</a:t>
                      </a:r>
                    </a:p>
                  </a:txBody>
                  <a:tcPr anchor="ctr">
                    <a:lnL>
                      <a:noFill/>
                    </a:lnL>
                    <a:lnR>
                      <a:noFill/>
                    </a:lnR>
                    <a:lnT>
                      <a:noFill/>
                    </a:lnT>
                    <a:lnB>
                      <a:noFill/>
                    </a:lnB>
                    <a:noFill/>
                  </a:tcPr>
                </a:tc>
                <a:extLst>
                  <a:ext uri="{0D108BD9-81ED-4DB2-BD59-A6C34878D82A}">
                    <a16:rowId xmlns:a16="http://schemas.microsoft.com/office/drawing/2014/main" val="1027148104"/>
                  </a:ext>
                </a:extLst>
              </a:tr>
              <a:tr h="494538">
                <a:tc>
                  <a:txBody>
                    <a:bodyPr/>
                    <a:lstStyle/>
                    <a:p>
                      <a:pPr>
                        <a:buNone/>
                      </a:pPr>
                      <a:r>
                        <a:rPr lang="en-US"/>
                        <a:t>Heads</a:t>
                      </a:r>
                    </a:p>
                  </a:txBody>
                  <a:tcPr anchor="ctr">
                    <a:lnL>
                      <a:noFill/>
                    </a:lnL>
                    <a:lnR>
                      <a:noFill/>
                    </a:lnR>
                    <a:lnT>
                      <a:noFill/>
                    </a:lnT>
                    <a:lnB>
                      <a:noFill/>
                    </a:lnB>
                    <a:noFill/>
                  </a:tcPr>
                </a:tc>
                <a:tc>
                  <a:txBody>
                    <a:bodyPr/>
                    <a:lstStyle/>
                    <a:p>
                      <a:pPr>
                        <a:buNone/>
                      </a:pPr>
                      <a:r>
                        <a:rPr lang="en-US"/>
                        <a:t>65</a:t>
                      </a:r>
                    </a:p>
                  </a:txBody>
                  <a:tcPr anchor="ctr">
                    <a:lnL>
                      <a:noFill/>
                    </a:lnL>
                    <a:lnR>
                      <a:noFill/>
                    </a:lnR>
                    <a:lnT>
                      <a:noFill/>
                    </a:lnT>
                    <a:lnB>
                      <a:noFill/>
                    </a:lnB>
                    <a:noFill/>
                  </a:tcPr>
                </a:tc>
                <a:extLst>
                  <a:ext uri="{0D108BD9-81ED-4DB2-BD59-A6C34878D82A}">
                    <a16:rowId xmlns:a16="http://schemas.microsoft.com/office/drawing/2014/main" val="4037233831"/>
                  </a:ext>
                </a:extLst>
              </a:tr>
              <a:tr h="494538">
                <a:tc>
                  <a:txBody>
                    <a:bodyPr/>
                    <a:lstStyle/>
                    <a:p>
                      <a:pPr>
                        <a:buNone/>
                      </a:pPr>
                      <a:r>
                        <a:rPr lang="en-US"/>
                        <a:t>Tails</a:t>
                      </a:r>
                    </a:p>
                  </a:txBody>
                  <a:tcPr anchor="ctr">
                    <a:lnL>
                      <a:noFill/>
                    </a:lnL>
                    <a:lnR>
                      <a:noFill/>
                    </a:lnR>
                    <a:lnT>
                      <a:noFill/>
                    </a:lnT>
                    <a:lnB>
                      <a:noFill/>
                    </a:lnB>
                    <a:noFill/>
                  </a:tcPr>
                </a:tc>
                <a:tc>
                  <a:txBody>
                    <a:bodyPr/>
                    <a:lstStyle/>
                    <a:p>
                      <a:pPr>
                        <a:buNone/>
                      </a:pPr>
                      <a:r>
                        <a:rPr lang="en-US" dirty="0"/>
                        <a:t>35</a:t>
                      </a:r>
                    </a:p>
                  </a:txBody>
                  <a:tcPr anchor="ctr">
                    <a:lnL>
                      <a:noFill/>
                    </a:lnL>
                    <a:lnR>
                      <a:noFill/>
                    </a:lnR>
                    <a:lnT>
                      <a:noFill/>
                    </a:lnT>
                    <a:lnB>
                      <a:noFill/>
                    </a:lnB>
                    <a:noFill/>
                  </a:tcPr>
                </a:tc>
                <a:extLst>
                  <a:ext uri="{0D108BD9-81ED-4DB2-BD59-A6C34878D82A}">
                    <a16:rowId xmlns:a16="http://schemas.microsoft.com/office/drawing/2014/main" val="1784751978"/>
                  </a:ext>
                </a:extLst>
              </a:tr>
            </a:tbl>
          </a:graphicData>
        </a:graphic>
      </p:graphicFrame>
      <p:sp>
        <p:nvSpPr>
          <p:cNvPr id="7" name="TextBox 6">
            <a:extLst>
              <a:ext uri="{FF2B5EF4-FFF2-40B4-BE49-F238E27FC236}">
                <a16:creationId xmlns:a16="http://schemas.microsoft.com/office/drawing/2014/main" id="{06DBB06C-5EFD-D73D-B9EB-6738995259D3}"/>
              </a:ext>
            </a:extLst>
          </p:cNvPr>
          <p:cNvSpPr txBox="1"/>
          <p:nvPr/>
        </p:nvSpPr>
        <p:spPr>
          <a:xfrm>
            <a:off x="4894326" y="2757710"/>
            <a:ext cx="6094476"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Test whether the coin is fair at 5% significance level.</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475FD4A-6F2E-AE12-3196-1DE93DC0AAE5}"/>
                  </a:ext>
                </a:extLst>
              </p:cNvPr>
              <p:cNvSpPr txBox="1"/>
              <p:nvPr/>
            </p:nvSpPr>
            <p:spPr>
              <a:xfrm>
                <a:off x="508254" y="4378174"/>
                <a:ext cx="4667250" cy="1477328"/>
              </a:xfrm>
              <a:prstGeom prst="rect">
                <a:avLst/>
              </a:prstGeom>
              <a:noFill/>
            </p:spPr>
            <p:txBody>
              <a:bodyPr wrap="square">
                <a:spAutoFit/>
              </a:bodyPr>
              <a:lstStyle/>
              <a:p>
                <a:pPr>
                  <a:buNone/>
                </a:pPr>
                <a:r>
                  <a:rPr lang="en-US" b="1" dirty="0">
                    <a:highlight>
                      <a:srgbClr val="FFFF00"/>
                    </a:highlight>
                  </a:rPr>
                  <a:t>Sol: </a:t>
                </a:r>
                <a:r>
                  <a:rPr lang="en-US" b="1" dirty="0"/>
                  <a:t>Step 1: Hypotheses</a:t>
                </a:r>
              </a:p>
              <a:p>
                <a:pPr>
                  <a:buNone/>
                </a:pPr>
                <a:r>
                  <a:rPr lang="en-US" dirty="0"/>
                  <a:t>Null hypothesis</a:t>
                </a:r>
              </a:p>
              <a:p>
                <a:pPr>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𝐻</m:t>
                          </m:r>
                        </m:e>
                        <m:sub>
                          <m:r>
                            <a:rPr lang="ar-AE" i="0">
                              <a:latin typeface="Cambria Math" panose="02040503050406030204" pitchFamily="18" charset="0"/>
                            </a:rPr>
                            <m:t>0</m:t>
                          </m:r>
                        </m:sub>
                      </m:sSub>
                      <m:r>
                        <a:rPr lang="ar-AE" i="0">
                          <a:latin typeface="Cambria Math" panose="02040503050406030204" pitchFamily="18" charset="0"/>
                        </a:rPr>
                        <m:t>:</m:t>
                      </m:r>
                      <m:r>
                        <m:rPr>
                          <m:nor/>
                        </m:rPr>
                        <a:rPr lang="en-US" b="0" i="1">
                          <a:latin typeface="Cambria Math" panose="02040503050406030204" pitchFamily="18" charset="0"/>
                        </a:rPr>
                        <m:t>Coin</m:t>
                      </m:r>
                      <m:r>
                        <m:rPr>
                          <m:nor/>
                        </m:rPr>
                        <a:rPr lang="en-US" b="0" i="1">
                          <a:latin typeface="Cambria Math" panose="02040503050406030204" pitchFamily="18" charset="0"/>
                        </a:rPr>
                        <m:t> </m:t>
                      </m:r>
                      <m:r>
                        <m:rPr>
                          <m:nor/>
                        </m:rPr>
                        <a:rPr lang="en-US" b="0" i="1">
                          <a:latin typeface="Cambria Math" panose="02040503050406030204" pitchFamily="18" charset="0"/>
                        </a:rPr>
                        <m:t>is</m:t>
                      </m:r>
                      <m:r>
                        <m:rPr>
                          <m:nor/>
                        </m:rPr>
                        <a:rPr lang="en-US" b="0" i="1">
                          <a:latin typeface="Cambria Math" panose="02040503050406030204" pitchFamily="18" charset="0"/>
                        </a:rPr>
                        <m:t> </m:t>
                      </m:r>
                      <m:r>
                        <m:rPr>
                          <m:nor/>
                        </m:rPr>
                        <a:rPr lang="en-US" b="0" i="1">
                          <a:latin typeface="Cambria Math" panose="02040503050406030204" pitchFamily="18" charset="0"/>
                        </a:rPr>
                        <m:t>fair</m:t>
                      </m:r>
                    </m:oMath>
                  </m:oMathPara>
                </a14:m>
                <a:endParaRPr lang="en-US" b="0" dirty="0"/>
              </a:p>
              <a:p>
                <a:pPr>
                  <a:buNone/>
                </a:pPr>
                <a:r>
                  <a:rPr lang="en-US" dirty="0"/>
                  <a:t>Alternative hypothesis</a:t>
                </a:r>
              </a:p>
              <a:p>
                <a:pPr>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𝐻</m:t>
                          </m:r>
                        </m:e>
                        <m:sub>
                          <m:r>
                            <a:rPr lang="ar-AE" i="0">
                              <a:latin typeface="Cambria Math" panose="02040503050406030204" pitchFamily="18" charset="0"/>
                            </a:rPr>
                            <m:t>1</m:t>
                          </m:r>
                        </m:sub>
                      </m:sSub>
                      <m:r>
                        <a:rPr lang="ar-AE" i="0">
                          <a:latin typeface="Cambria Math" panose="02040503050406030204" pitchFamily="18" charset="0"/>
                        </a:rPr>
                        <m:t>:</m:t>
                      </m:r>
                      <m:r>
                        <m:rPr>
                          <m:nor/>
                        </m:rPr>
                        <a:rPr lang="en-US" b="0" i="1">
                          <a:latin typeface="Cambria Math" panose="02040503050406030204" pitchFamily="18" charset="0"/>
                        </a:rPr>
                        <m:t>Coin</m:t>
                      </m:r>
                      <m:r>
                        <m:rPr>
                          <m:nor/>
                        </m:rPr>
                        <a:rPr lang="en-US" b="0" i="1">
                          <a:latin typeface="Cambria Math" panose="02040503050406030204" pitchFamily="18" charset="0"/>
                        </a:rPr>
                        <m:t> </m:t>
                      </m:r>
                      <m:r>
                        <m:rPr>
                          <m:nor/>
                        </m:rPr>
                        <a:rPr lang="en-US" b="0" i="1">
                          <a:latin typeface="Cambria Math" panose="02040503050406030204" pitchFamily="18" charset="0"/>
                        </a:rPr>
                        <m:t>is</m:t>
                      </m:r>
                      <m:r>
                        <m:rPr>
                          <m:nor/>
                        </m:rPr>
                        <a:rPr lang="en-US" b="0" i="1">
                          <a:latin typeface="Cambria Math" panose="02040503050406030204" pitchFamily="18" charset="0"/>
                        </a:rPr>
                        <m:t> </m:t>
                      </m:r>
                      <m:r>
                        <m:rPr>
                          <m:nor/>
                        </m:rPr>
                        <a:rPr lang="en-US" b="0" i="1">
                          <a:latin typeface="Cambria Math" panose="02040503050406030204" pitchFamily="18" charset="0"/>
                        </a:rPr>
                        <m:t>biased</m:t>
                      </m:r>
                    </m:oMath>
                  </m:oMathPara>
                </a14:m>
                <a:endParaRPr lang="en-US" b="0" dirty="0"/>
              </a:p>
            </p:txBody>
          </p:sp>
        </mc:Choice>
        <mc:Fallback xmlns="">
          <p:sp>
            <p:nvSpPr>
              <p:cNvPr id="9" name="TextBox 8">
                <a:extLst>
                  <a:ext uri="{FF2B5EF4-FFF2-40B4-BE49-F238E27FC236}">
                    <a16:creationId xmlns:a16="http://schemas.microsoft.com/office/drawing/2014/main" id="{8475FD4A-6F2E-AE12-3196-1DE93DC0AAE5}"/>
                  </a:ext>
                </a:extLst>
              </p:cNvPr>
              <p:cNvSpPr txBox="1">
                <a:spLocks noRot="1" noChangeAspect="1" noMove="1" noResize="1" noEditPoints="1" noAdjustHandles="1" noChangeArrowheads="1" noChangeShapeType="1" noTextEdit="1"/>
              </p:cNvSpPr>
              <p:nvPr/>
            </p:nvSpPr>
            <p:spPr>
              <a:xfrm>
                <a:off x="508254" y="4378174"/>
                <a:ext cx="4667250" cy="1477328"/>
              </a:xfrm>
              <a:prstGeom prst="rect">
                <a:avLst/>
              </a:prstGeom>
              <a:blipFill>
                <a:blip r:embed="rId3"/>
                <a:stretch>
                  <a:fillRect l="-1044" t="-16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E678EF0-102E-FB10-0119-104C025B2BB9}"/>
                  </a:ext>
                </a:extLst>
              </p:cNvPr>
              <p:cNvSpPr txBox="1"/>
              <p:nvPr/>
            </p:nvSpPr>
            <p:spPr>
              <a:xfrm>
                <a:off x="4684014" y="4364383"/>
                <a:ext cx="3728466" cy="1200329"/>
              </a:xfrm>
              <a:prstGeom prst="rect">
                <a:avLst/>
              </a:prstGeom>
              <a:noFill/>
            </p:spPr>
            <p:txBody>
              <a:bodyPr wrap="square">
                <a:spAutoFit/>
              </a:bodyPr>
              <a:lstStyle/>
              <a:p>
                <a:pPr>
                  <a:buNone/>
                </a:pPr>
                <a:r>
                  <a:rPr lang="en-US" b="1" dirty="0"/>
                  <a:t>Step 2: Expected Frequencies</a:t>
                </a:r>
              </a:p>
              <a:p>
                <a:pPr>
                  <a:buNone/>
                </a:pPr>
                <a:r>
                  <a:rPr lang="en-US" dirty="0"/>
                  <a:t>If coin is fair:</a:t>
                </a:r>
              </a:p>
              <a:p>
                <a:pP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𝐻</m:t>
                          </m:r>
                        </m:e>
                      </m:d>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5</m:t>
                      </m:r>
                    </m:oMath>
                  </m:oMathPara>
                </a14:m>
                <a:endParaRPr lang="ar-AE" dirty="0"/>
              </a:p>
              <a:p>
                <a:pPr>
                  <a:buNone/>
                </a:pPr>
                <a14:m>
                  <m:oMathPara xmlns:m="http://schemas.openxmlformats.org/officeDocument/2006/math">
                    <m:oMathParaPr>
                      <m:jc m:val="centerGroup"/>
                    </m:oMathParaPr>
                    <m:oMath xmlns:m="http://schemas.openxmlformats.org/officeDocument/2006/math">
                      <m:r>
                        <a:rPr lang="ar-AE"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𝑇</m:t>
                          </m:r>
                        </m:e>
                      </m:d>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5</m:t>
                      </m:r>
                    </m:oMath>
                  </m:oMathPara>
                </a14:m>
                <a:endParaRPr lang="ar-AE" dirty="0"/>
              </a:p>
            </p:txBody>
          </p:sp>
        </mc:Choice>
        <mc:Fallback xmlns="">
          <p:sp>
            <p:nvSpPr>
              <p:cNvPr id="11" name="TextBox 10">
                <a:extLst>
                  <a:ext uri="{FF2B5EF4-FFF2-40B4-BE49-F238E27FC236}">
                    <a16:creationId xmlns:a16="http://schemas.microsoft.com/office/drawing/2014/main" id="{CE678EF0-102E-FB10-0119-104C025B2BB9}"/>
                  </a:ext>
                </a:extLst>
              </p:cNvPr>
              <p:cNvSpPr txBox="1">
                <a:spLocks noRot="1" noChangeAspect="1" noMove="1" noResize="1" noEditPoints="1" noAdjustHandles="1" noChangeArrowheads="1" noChangeShapeType="1" noTextEdit="1"/>
              </p:cNvSpPr>
              <p:nvPr/>
            </p:nvSpPr>
            <p:spPr>
              <a:xfrm>
                <a:off x="4684014" y="4364383"/>
                <a:ext cx="3728466" cy="1200329"/>
              </a:xfrm>
              <a:prstGeom prst="rect">
                <a:avLst/>
              </a:prstGeom>
              <a:blipFill>
                <a:blip r:embed="rId4"/>
                <a:stretch>
                  <a:fillRect l="-1307" t="-2538"/>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45749D9E-98D7-389F-680B-1447EDD65B12}"/>
              </a:ext>
            </a:extLst>
          </p:cNvPr>
          <p:cNvGraphicFramePr>
            <a:graphicFrameLocks noGrp="1"/>
          </p:cNvGraphicFramePr>
          <p:nvPr>
            <p:extLst>
              <p:ext uri="{D42A27DB-BD31-4B8C-83A1-F6EECF244321}">
                <p14:modId xmlns:p14="http://schemas.microsoft.com/office/powerpoint/2010/main" val="2400657897"/>
              </p:ext>
            </p:extLst>
          </p:nvPr>
        </p:nvGraphicFramePr>
        <p:xfrm>
          <a:off x="4728974" y="5668371"/>
          <a:ext cx="3317746" cy="1097280"/>
        </p:xfrm>
        <a:graphic>
          <a:graphicData uri="http://schemas.openxmlformats.org/drawingml/2006/table">
            <a:tbl>
              <a:tblPr/>
              <a:tblGrid>
                <a:gridCol w="1658873">
                  <a:extLst>
                    <a:ext uri="{9D8B030D-6E8A-4147-A177-3AD203B41FA5}">
                      <a16:colId xmlns:a16="http://schemas.microsoft.com/office/drawing/2014/main" val="1059930942"/>
                    </a:ext>
                  </a:extLst>
                </a:gridCol>
                <a:gridCol w="1658873">
                  <a:extLst>
                    <a:ext uri="{9D8B030D-6E8A-4147-A177-3AD203B41FA5}">
                      <a16:colId xmlns:a16="http://schemas.microsoft.com/office/drawing/2014/main" val="3725846957"/>
                    </a:ext>
                  </a:extLst>
                </a:gridCol>
              </a:tblGrid>
              <a:tr h="0">
                <a:tc>
                  <a:txBody>
                    <a:bodyPr/>
                    <a:lstStyle/>
                    <a:p>
                      <a:pPr>
                        <a:buNone/>
                      </a:pPr>
                      <a:r>
                        <a:rPr lang="en-US" b="1"/>
                        <a:t>Outcome</a:t>
                      </a:r>
                    </a:p>
                  </a:txBody>
                  <a:tcPr anchor="ctr">
                    <a:lnL>
                      <a:noFill/>
                    </a:lnL>
                    <a:lnR>
                      <a:noFill/>
                    </a:lnR>
                    <a:lnT>
                      <a:noFill/>
                    </a:lnT>
                    <a:lnB>
                      <a:noFill/>
                    </a:lnB>
                    <a:noFill/>
                  </a:tcPr>
                </a:tc>
                <a:tc>
                  <a:txBody>
                    <a:bodyPr/>
                    <a:lstStyle/>
                    <a:p>
                      <a:pPr>
                        <a:buNone/>
                      </a:pPr>
                      <a:r>
                        <a:rPr lang="en-US" b="1" dirty="0"/>
                        <a:t>Expected</a:t>
                      </a:r>
                    </a:p>
                  </a:txBody>
                  <a:tcPr anchor="ctr">
                    <a:lnL>
                      <a:noFill/>
                    </a:lnL>
                    <a:lnR>
                      <a:noFill/>
                    </a:lnR>
                    <a:lnT>
                      <a:noFill/>
                    </a:lnT>
                    <a:lnB>
                      <a:noFill/>
                    </a:lnB>
                    <a:noFill/>
                  </a:tcPr>
                </a:tc>
                <a:extLst>
                  <a:ext uri="{0D108BD9-81ED-4DB2-BD59-A6C34878D82A}">
                    <a16:rowId xmlns:a16="http://schemas.microsoft.com/office/drawing/2014/main" val="2124192492"/>
                  </a:ext>
                </a:extLst>
              </a:tr>
              <a:tr h="0">
                <a:tc>
                  <a:txBody>
                    <a:bodyPr/>
                    <a:lstStyle/>
                    <a:p>
                      <a:pPr>
                        <a:buNone/>
                      </a:pPr>
                      <a:r>
                        <a:rPr lang="en-US"/>
                        <a:t>Heads</a:t>
                      </a:r>
                    </a:p>
                  </a:txBody>
                  <a:tcPr anchor="ctr">
                    <a:lnL>
                      <a:noFill/>
                    </a:lnL>
                    <a:lnR>
                      <a:noFill/>
                    </a:lnR>
                    <a:lnT>
                      <a:noFill/>
                    </a:lnT>
                    <a:lnB>
                      <a:noFill/>
                    </a:lnB>
                    <a:noFill/>
                  </a:tcPr>
                </a:tc>
                <a:tc>
                  <a:txBody>
                    <a:bodyPr/>
                    <a:lstStyle/>
                    <a:p>
                      <a:pPr>
                        <a:buNone/>
                      </a:pPr>
                      <a:r>
                        <a:rPr lang="en-US"/>
                        <a:t>50</a:t>
                      </a:r>
                    </a:p>
                  </a:txBody>
                  <a:tcPr anchor="ctr">
                    <a:lnL>
                      <a:noFill/>
                    </a:lnL>
                    <a:lnR>
                      <a:noFill/>
                    </a:lnR>
                    <a:lnT>
                      <a:noFill/>
                    </a:lnT>
                    <a:lnB>
                      <a:noFill/>
                    </a:lnB>
                    <a:noFill/>
                  </a:tcPr>
                </a:tc>
                <a:extLst>
                  <a:ext uri="{0D108BD9-81ED-4DB2-BD59-A6C34878D82A}">
                    <a16:rowId xmlns:a16="http://schemas.microsoft.com/office/drawing/2014/main" val="1725618805"/>
                  </a:ext>
                </a:extLst>
              </a:tr>
              <a:tr h="0">
                <a:tc>
                  <a:txBody>
                    <a:bodyPr/>
                    <a:lstStyle/>
                    <a:p>
                      <a:pPr>
                        <a:buNone/>
                      </a:pPr>
                      <a:r>
                        <a:rPr lang="en-US"/>
                        <a:t>Tails</a:t>
                      </a:r>
                    </a:p>
                  </a:txBody>
                  <a:tcPr anchor="ctr">
                    <a:lnL>
                      <a:noFill/>
                    </a:lnL>
                    <a:lnR>
                      <a:noFill/>
                    </a:lnR>
                    <a:lnT>
                      <a:noFill/>
                    </a:lnT>
                    <a:lnB>
                      <a:noFill/>
                    </a:lnB>
                    <a:noFill/>
                  </a:tcPr>
                </a:tc>
                <a:tc>
                  <a:txBody>
                    <a:bodyPr/>
                    <a:lstStyle/>
                    <a:p>
                      <a:pPr>
                        <a:buNone/>
                      </a:pPr>
                      <a:r>
                        <a:rPr lang="en-US" dirty="0"/>
                        <a:t>50</a:t>
                      </a:r>
                    </a:p>
                  </a:txBody>
                  <a:tcPr anchor="ctr">
                    <a:lnL>
                      <a:noFill/>
                    </a:lnL>
                    <a:lnR>
                      <a:noFill/>
                    </a:lnR>
                    <a:lnT>
                      <a:noFill/>
                    </a:lnT>
                    <a:lnB>
                      <a:noFill/>
                    </a:lnB>
                    <a:noFill/>
                  </a:tcPr>
                </a:tc>
                <a:extLst>
                  <a:ext uri="{0D108BD9-81ED-4DB2-BD59-A6C34878D82A}">
                    <a16:rowId xmlns:a16="http://schemas.microsoft.com/office/drawing/2014/main" val="4185220128"/>
                  </a:ext>
                </a:extLst>
              </a:tr>
            </a:tbl>
          </a:graphicData>
        </a:graphic>
      </p:graphicFrame>
    </p:spTree>
    <p:extLst>
      <p:ext uri="{BB962C8B-B14F-4D97-AF65-F5344CB8AC3E}">
        <p14:creationId xmlns:p14="http://schemas.microsoft.com/office/powerpoint/2010/main" val="33813717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6F58B2E8-6C76-F8F1-D651-1EFB277A2EA3}"/>
              </a:ext>
            </a:extLst>
          </p:cNvPr>
          <p:cNvGraphicFramePr>
            <a:graphicFrameLocks noGrp="1"/>
          </p:cNvGraphicFramePr>
          <p:nvPr>
            <p:ph idx="1"/>
            <p:extLst>
              <p:ext uri="{D42A27DB-BD31-4B8C-83A1-F6EECF244321}">
                <p14:modId xmlns:p14="http://schemas.microsoft.com/office/powerpoint/2010/main" val="455785273"/>
              </p:ext>
            </p:extLst>
          </p:nvPr>
        </p:nvGraphicFramePr>
        <p:xfrm>
          <a:off x="434163" y="509226"/>
          <a:ext cx="10515600" cy="1097280"/>
        </p:xfrm>
        <a:graphic>
          <a:graphicData uri="http://schemas.openxmlformats.org/drawingml/2006/table">
            <a:tbl>
              <a:tblPr/>
              <a:tblGrid>
                <a:gridCol w="2628900">
                  <a:extLst>
                    <a:ext uri="{9D8B030D-6E8A-4147-A177-3AD203B41FA5}">
                      <a16:colId xmlns:a16="http://schemas.microsoft.com/office/drawing/2014/main" val="579176685"/>
                    </a:ext>
                  </a:extLst>
                </a:gridCol>
                <a:gridCol w="2628900">
                  <a:extLst>
                    <a:ext uri="{9D8B030D-6E8A-4147-A177-3AD203B41FA5}">
                      <a16:colId xmlns:a16="http://schemas.microsoft.com/office/drawing/2014/main" val="2316985400"/>
                    </a:ext>
                  </a:extLst>
                </a:gridCol>
                <a:gridCol w="2628900">
                  <a:extLst>
                    <a:ext uri="{9D8B030D-6E8A-4147-A177-3AD203B41FA5}">
                      <a16:colId xmlns:a16="http://schemas.microsoft.com/office/drawing/2014/main" val="1342070987"/>
                    </a:ext>
                  </a:extLst>
                </a:gridCol>
                <a:gridCol w="2628900">
                  <a:extLst>
                    <a:ext uri="{9D8B030D-6E8A-4147-A177-3AD203B41FA5}">
                      <a16:colId xmlns:a16="http://schemas.microsoft.com/office/drawing/2014/main" val="1667077225"/>
                    </a:ext>
                  </a:extLst>
                </a:gridCol>
              </a:tblGrid>
              <a:tr h="0">
                <a:tc>
                  <a:txBody>
                    <a:bodyPr/>
                    <a:lstStyle/>
                    <a:p>
                      <a:pPr>
                        <a:buNone/>
                      </a:pPr>
                      <a:r>
                        <a:rPr lang="en-US" b="1"/>
                        <a:t>Outcome</a:t>
                      </a:r>
                    </a:p>
                  </a:txBody>
                  <a:tcPr anchor="ctr">
                    <a:lnL>
                      <a:noFill/>
                    </a:lnL>
                    <a:lnR>
                      <a:noFill/>
                    </a:lnR>
                    <a:lnT>
                      <a:noFill/>
                    </a:lnT>
                    <a:lnB>
                      <a:noFill/>
                    </a:lnB>
                    <a:noFill/>
                  </a:tcPr>
                </a:tc>
                <a:tc>
                  <a:txBody>
                    <a:bodyPr/>
                    <a:lstStyle/>
                    <a:p>
                      <a:pPr>
                        <a:buNone/>
                      </a:pPr>
                      <a:r>
                        <a:rPr lang="en-US" b="1"/>
                        <a:t>O</a:t>
                      </a:r>
                    </a:p>
                  </a:txBody>
                  <a:tcPr anchor="ctr">
                    <a:lnL>
                      <a:noFill/>
                    </a:lnL>
                    <a:lnR>
                      <a:noFill/>
                    </a:lnR>
                    <a:lnT>
                      <a:noFill/>
                    </a:lnT>
                    <a:lnB>
                      <a:noFill/>
                    </a:lnB>
                    <a:noFill/>
                  </a:tcPr>
                </a:tc>
                <a:tc>
                  <a:txBody>
                    <a:bodyPr/>
                    <a:lstStyle/>
                    <a:p>
                      <a:pPr>
                        <a:buNone/>
                      </a:pPr>
                      <a:r>
                        <a:rPr lang="en-US" b="1"/>
                        <a:t>E</a:t>
                      </a:r>
                    </a:p>
                  </a:txBody>
                  <a:tcPr anchor="ctr">
                    <a:lnL>
                      <a:noFill/>
                    </a:lnL>
                    <a:lnR>
                      <a:noFill/>
                    </a:lnR>
                    <a:lnT>
                      <a:noFill/>
                    </a:lnT>
                    <a:lnB>
                      <a:noFill/>
                    </a:lnB>
                    <a:noFill/>
                  </a:tcPr>
                </a:tc>
                <a:tc>
                  <a:txBody>
                    <a:bodyPr/>
                    <a:lstStyle/>
                    <a:p>
                      <a:pPr>
                        <a:buNone/>
                      </a:pPr>
                      <a:r>
                        <a:rPr lang="en-US" b="1" dirty="0"/>
                        <a:t>(O−E)²/E</a:t>
                      </a:r>
                    </a:p>
                  </a:txBody>
                  <a:tcPr anchor="ctr">
                    <a:lnL>
                      <a:noFill/>
                    </a:lnL>
                    <a:lnR>
                      <a:noFill/>
                    </a:lnR>
                    <a:lnT>
                      <a:noFill/>
                    </a:lnT>
                    <a:lnB>
                      <a:noFill/>
                    </a:lnB>
                    <a:noFill/>
                  </a:tcPr>
                </a:tc>
                <a:extLst>
                  <a:ext uri="{0D108BD9-81ED-4DB2-BD59-A6C34878D82A}">
                    <a16:rowId xmlns:a16="http://schemas.microsoft.com/office/drawing/2014/main" val="3396617252"/>
                  </a:ext>
                </a:extLst>
              </a:tr>
              <a:tr h="0">
                <a:tc>
                  <a:txBody>
                    <a:bodyPr/>
                    <a:lstStyle/>
                    <a:p>
                      <a:pPr>
                        <a:buNone/>
                      </a:pPr>
                      <a:r>
                        <a:rPr lang="en-US"/>
                        <a:t>Heads</a:t>
                      </a:r>
                    </a:p>
                  </a:txBody>
                  <a:tcPr anchor="ctr">
                    <a:lnL>
                      <a:noFill/>
                    </a:lnL>
                    <a:lnR>
                      <a:noFill/>
                    </a:lnR>
                    <a:lnT>
                      <a:noFill/>
                    </a:lnT>
                    <a:lnB>
                      <a:noFill/>
                    </a:lnB>
                    <a:noFill/>
                  </a:tcPr>
                </a:tc>
                <a:tc>
                  <a:txBody>
                    <a:bodyPr/>
                    <a:lstStyle/>
                    <a:p>
                      <a:pPr>
                        <a:buNone/>
                      </a:pPr>
                      <a:r>
                        <a:rPr lang="en-US"/>
                        <a:t>65</a:t>
                      </a:r>
                    </a:p>
                  </a:txBody>
                  <a:tcPr anchor="ctr">
                    <a:lnL>
                      <a:noFill/>
                    </a:lnL>
                    <a:lnR>
                      <a:noFill/>
                    </a:lnR>
                    <a:lnT>
                      <a:noFill/>
                    </a:lnT>
                    <a:lnB>
                      <a:noFill/>
                    </a:lnB>
                    <a:noFill/>
                  </a:tcPr>
                </a:tc>
                <a:tc>
                  <a:txBody>
                    <a:bodyPr/>
                    <a:lstStyle/>
                    <a:p>
                      <a:pPr>
                        <a:buNone/>
                      </a:pPr>
                      <a:r>
                        <a:rPr lang="en-US"/>
                        <a:t>50</a:t>
                      </a:r>
                    </a:p>
                  </a:txBody>
                  <a:tcPr anchor="ctr">
                    <a:lnL>
                      <a:noFill/>
                    </a:lnL>
                    <a:lnR>
                      <a:noFill/>
                    </a:lnR>
                    <a:lnT>
                      <a:noFill/>
                    </a:lnT>
                    <a:lnB>
                      <a:noFill/>
                    </a:lnB>
                    <a:noFill/>
                  </a:tcPr>
                </a:tc>
                <a:tc>
                  <a:txBody>
                    <a:bodyPr/>
                    <a:lstStyle/>
                    <a:p>
                      <a:pPr>
                        <a:buNone/>
                      </a:pPr>
                      <a:r>
                        <a:rPr lang="en-US"/>
                        <a:t>(15²)/50 = 4.5</a:t>
                      </a:r>
                    </a:p>
                  </a:txBody>
                  <a:tcPr anchor="ctr">
                    <a:lnL>
                      <a:noFill/>
                    </a:lnL>
                    <a:lnR>
                      <a:noFill/>
                    </a:lnR>
                    <a:lnT>
                      <a:noFill/>
                    </a:lnT>
                    <a:lnB>
                      <a:noFill/>
                    </a:lnB>
                    <a:noFill/>
                  </a:tcPr>
                </a:tc>
                <a:extLst>
                  <a:ext uri="{0D108BD9-81ED-4DB2-BD59-A6C34878D82A}">
                    <a16:rowId xmlns:a16="http://schemas.microsoft.com/office/drawing/2014/main" val="2822185485"/>
                  </a:ext>
                </a:extLst>
              </a:tr>
              <a:tr h="0">
                <a:tc>
                  <a:txBody>
                    <a:bodyPr/>
                    <a:lstStyle/>
                    <a:p>
                      <a:pPr>
                        <a:buNone/>
                      </a:pPr>
                      <a:r>
                        <a:rPr lang="en-US" dirty="0"/>
                        <a:t>Tails</a:t>
                      </a:r>
                    </a:p>
                  </a:txBody>
                  <a:tcPr anchor="ctr">
                    <a:lnL>
                      <a:noFill/>
                    </a:lnL>
                    <a:lnR>
                      <a:noFill/>
                    </a:lnR>
                    <a:lnT>
                      <a:noFill/>
                    </a:lnT>
                    <a:lnB>
                      <a:noFill/>
                    </a:lnB>
                    <a:noFill/>
                  </a:tcPr>
                </a:tc>
                <a:tc>
                  <a:txBody>
                    <a:bodyPr/>
                    <a:lstStyle/>
                    <a:p>
                      <a:pPr>
                        <a:buNone/>
                      </a:pPr>
                      <a:r>
                        <a:rPr lang="en-US"/>
                        <a:t>35</a:t>
                      </a:r>
                    </a:p>
                  </a:txBody>
                  <a:tcPr anchor="ctr">
                    <a:lnL>
                      <a:noFill/>
                    </a:lnL>
                    <a:lnR>
                      <a:noFill/>
                    </a:lnR>
                    <a:lnT>
                      <a:noFill/>
                    </a:lnT>
                    <a:lnB>
                      <a:noFill/>
                    </a:lnB>
                    <a:noFill/>
                  </a:tcPr>
                </a:tc>
                <a:tc>
                  <a:txBody>
                    <a:bodyPr/>
                    <a:lstStyle/>
                    <a:p>
                      <a:pPr>
                        <a:buNone/>
                      </a:pPr>
                      <a:r>
                        <a:rPr lang="en-US"/>
                        <a:t>50</a:t>
                      </a:r>
                    </a:p>
                  </a:txBody>
                  <a:tcPr anchor="ctr">
                    <a:lnL>
                      <a:noFill/>
                    </a:lnL>
                    <a:lnR>
                      <a:noFill/>
                    </a:lnR>
                    <a:lnT>
                      <a:noFill/>
                    </a:lnT>
                    <a:lnB>
                      <a:noFill/>
                    </a:lnB>
                    <a:noFill/>
                  </a:tcPr>
                </a:tc>
                <a:tc>
                  <a:txBody>
                    <a:bodyPr/>
                    <a:lstStyle/>
                    <a:p>
                      <a:pPr>
                        <a:buNone/>
                      </a:pPr>
                      <a:r>
                        <a:rPr lang="en-US" dirty="0"/>
                        <a:t>(−15²)/50 = 4.5</a:t>
                      </a:r>
                    </a:p>
                  </a:txBody>
                  <a:tcPr anchor="ctr">
                    <a:lnL>
                      <a:noFill/>
                    </a:lnL>
                    <a:lnR>
                      <a:noFill/>
                    </a:lnR>
                    <a:lnT>
                      <a:noFill/>
                    </a:lnT>
                    <a:lnB>
                      <a:noFill/>
                    </a:lnB>
                    <a:noFill/>
                  </a:tcPr>
                </a:tc>
                <a:extLst>
                  <a:ext uri="{0D108BD9-81ED-4DB2-BD59-A6C34878D82A}">
                    <a16:rowId xmlns:a16="http://schemas.microsoft.com/office/drawing/2014/main" val="4288290355"/>
                  </a:ext>
                </a:extLst>
              </a:tr>
            </a:tbl>
          </a:graphicData>
        </a:graphic>
      </p:graphicFrame>
      <p:sp>
        <p:nvSpPr>
          <p:cNvPr id="6" name="TextBox 5">
            <a:extLst>
              <a:ext uri="{FF2B5EF4-FFF2-40B4-BE49-F238E27FC236}">
                <a16:creationId xmlns:a16="http://schemas.microsoft.com/office/drawing/2014/main" id="{9A7FE472-E809-606B-124E-247E86B5199D}"/>
              </a:ext>
            </a:extLst>
          </p:cNvPr>
          <p:cNvSpPr txBox="1"/>
          <p:nvPr/>
        </p:nvSpPr>
        <p:spPr>
          <a:xfrm>
            <a:off x="104518" y="139894"/>
            <a:ext cx="6097772"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Step 3: Compute </a:t>
            </a:r>
            <a:r>
              <a:rPr lang="el-GR" b="1" dirty="0">
                <a:latin typeface="Times New Roman" panose="02020603050405020304" pitchFamily="18" charset="0"/>
                <a:cs typeface="Times New Roman" panose="02020603050405020304" pitchFamily="18" charset="0"/>
              </a:rPr>
              <a:t>χ²</a:t>
            </a:r>
            <a:endParaRPr lang="en-US"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134669F-A95E-67DB-588D-0480E24D2FE7}"/>
                  </a:ext>
                </a:extLst>
              </p:cNvPr>
              <p:cNvSpPr txBox="1"/>
              <p:nvPr/>
            </p:nvSpPr>
            <p:spPr>
              <a:xfrm>
                <a:off x="434163" y="2043791"/>
                <a:ext cx="3207258" cy="1015663"/>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Total:</a:t>
                </a:r>
              </a:p>
              <a:p>
                <a:pPr>
                  <a:buNone/>
                </a:pPr>
                <a14:m>
                  <m:oMathPara xmlns:m="http://schemas.openxmlformats.org/officeDocument/2006/math">
                    <m:oMathParaPr>
                      <m:jc m:val="centerGroup"/>
                    </m:oMathParaPr>
                    <m:oMath xmlns:m="http://schemas.openxmlformats.org/officeDocument/2006/math">
                      <m:sSup>
                        <m:sSupPr>
                          <m:ctrlPr>
                            <a:rPr lang="ar-AE" sz="2000" i="1">
                              <a:latin typeface="Cambria Math" panose="02040503050406030204" pitchFamily="18" charset="0"/>
                            </a:rPr>
                          </m:ctrlPr>
                        </m:sSupPr>
                        <m:e>
                          <m:r>
                            <a:rPr lang="ar-AE" sz="2000" i="1">
                              <a:latin typeface="Cambria Math" panose="02040503050406030204" pitchFamily="18" charset="0"/>
                            </a:rPr>
                            <m:t>𝜒</m:t>
                          </m:r>
                        </m:e>
                        <m:sup>
                          <m:r>
                            <a:rPr lang="ar-AE" sz="2000" i="0">
                              <a:latin typeface="Cambria Math" panose="02040503050406030204" pitchFamily="18" charset="0"/>
                            </a:rPr>
                            <m:t>2</m:t>
                          </m:r>
                        </m:sup>
                      </m:sSup>
                      <m:r>
                        <a:rPr lang="ar-AE" sz="2000" i="0">
                          <a:latin typeface="Cambria Math" panose="02040503050406030204" pitchFamily="18" charset="0"/>
                        </a:rPr>
                        <m:t>=</m:t>
                      </m:r>
                      <m:r>
                        <a:rPr lang="ar-AE" sz="2000" i="0">
                          <a:latin typeface="Cambria Math" panose="02040503050406030204" pitchFamily="18" charset="0"/>
                        </a:rPr>
                        <m:t>4</m:t>
                      </m:r>
                      <m:r>
                        <a:rPr lang="ar-AE" sz="2000" i="0">
                          <a:latin typeface="Cambria Math" panose="02040503050406030204" pitchFamily="18" charset="0"/>
                        </a:rPr>
                        <m:t>.</m:t>
                      </m:r>
                      <m:r>
                        <a:rPr lang="ar-AE" sz="2000" i="0">
                          <a:latin typeface="Cambria Math" panose="02040503050406030204" pitchFamily="18" charset="0"/>
                        </a:rPr>
                        <m:t>5</m:t>
                      </m:r>
                      <m:r>
                        <a:rPr lang="ar-AE" sz="2000" i="0">
                          <a:latin typeface="Cambria Math" panose="02040503050406030204" pitchFamily="18" charset="0"/>
                        </a:rPr>
                        <m:t>+</m:t>
                      </m:r>
                      <m:r>
                        <a:rPr lang="ar-AE" sz="2000" i="0">
                          <a:latin typeface="Cambria Math" panose="02040503050406030204" pitchFamily="18" charset="0"/>
                        </a:rPr>
                        <m:t>4</m:t>
                      </m:r>
                      <m:r>
                        <a:rPr lang="ar-AE" sz="2000" i="0">
                          <a:latin typeface="Cambria Math" panose="02040503050406030204" pitchFamily="18" charset="0"/>
                        </a:rPr>
                        <m:t>.</m:t>
                      </m:r>
                      <m:r>
                        <a:rPr lang="ar-AE" sz="2000" i="0">
                          <a:latin typeface="Cambria Math" panose="02040503050406030204" pitchFamily="18" charset="0"/>
                        </a:rPr>
                        <m:t>5</m:t>
                      </m:r>
                    </m:oMath>
                  </m:oMathPara>
                </a14:m>
                <a:endParaRPr lang="ar-AE" sz="2000" dirty="0">
                  <a:latin typeface="Times New Roman" panose="02020603050405020304" pitchFamily="18" charset="0"/>
                  <a:cs typeface="Times New Roman" panose="02020603050405020304" pitchFamily="18" charset="0"/>
                </a:endParaRPr>
              </a:p>
              <a:p>
                <a:pPr>
                  <a:buNone/>
                </a:pPr>
                <a14:m>
                  <m:oMathPara xmlns:m="http://schemas.openxmlformats.org/officeDocument/2006/math">
                    <m:oMathParaPr>
                      <m:jc m:val="centerGroup"/>
                    </m:oMathParaPr>
                    <m:oMath xmlns:m="http://schemas.openxmlformats.org/officeDocument/2006/math">
                      <m:sSup>
                        <m:sSupPr>
                          <m:ctrlPr>
                            <a:rPr lang="ar-AE" sz="2000" i="1">
                              <a:latin typeface="Cambria Math" panose="02040503050406030204" pitchFamily="18" charset="0"/>
                            </a:rPr>
                          </m:ctrlPr>
                        </m:sSupPr>
                        <m:e>
                          <m:r>
                            <a:rPr lang="ar-AE" sz="2000" i="1">
                              <a:latin typeface="Cambria Math" panose="02040503050406030204" pitchFamily="18" charset="0"/>
                            </a:rPr>
                            <m:t>𝜒</m:t>
                          </m:r>
                        </m:e>
                        <m:sup>
                          <m:r>
                            <a:rPr lang="ar-AE" sz="2000" i="0">
                              <a:latin typeface="Cambria Math" panose="02040503050406030204" pitchFamily="18" charset="0"/>
                            </a:rPr>
                            <m:t>2</m:t>
                          </m:r>
                        </m:sup>
                      </m:sSup>
                      <m:r>
                        <a:rPr lang="ar-AE" sz="2000" i="0">
                          <a:latin typeface="Cambria Math" panose="02040503050406030204" pitchFamily="18" charset="0"/>
                        </a:rPr>
                        <m:t>=</m:t>
                      </m:r>
                      <m:r>
                        <a:rPr lang="ar-AE" sz="2000" i="0">
                          <a:latin typeface="Cambria Math" panose="02040503050406030204" pitchFamily="18" charset="0"/>
                        </a:rPr>
                        <m:t>9</m:t>
                      </m:r>
                    </m:oMath>
                  </m:oMathPara>
                </a14:m>
                <a:endParaRPr lang="ar-AE" sz="2000" dirty="0">
                  <a:latin typeface="Times New Roman" panose="02020603050405020304" pitchFamily="18" charset="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0134669F-A95E-67DB-588D-0480E24D2FE7}"/>
                  </a:ext>
                </a:extLst>
              </p:cNvPr>
              <p:cNvSpPr txBox="1">
                <a:spLocks noRot="1" noChangeAspect="1" noMove="1" noResize="1" noEditPoints="1" noAdjustHandles="1" noChangeArrowheads="1" noChangeShapeType="1" noTextEdit="1"/>
              </p:cNvSpPr>
              <p:nvPr/>
            </p:nvSpPr>
            <p:spPr>
              <a:xfrm>
                <a:off x="434163" y="2043791"/>
                <a:ext cx="3207258" cy="1015663"/>
              </a:xfrm>
              <a:prstGeom prst="rect">
                <a:avLst/>
              </a:prstGeom>
              <a:blipFill>
                <a:blip r:embed="rId2"/>
                <a:stretch>
                  <a:fillRect l="-1901" t="-2994" b="-17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B8C75B4-A430-C0EE-ED23-27285016B786}"/>
                  </a:ext>
                </a:extLst>
              </p:cNvPr>
              <p:cNvSpPr txBox="1"/>
              <p:nvPr/>
            </p:nvSpPr>
            <p:spPr>
              <a:xfrm>
                <a:off x="331470" y="3496739"/>
                <a:ext cx="6094476" cy="1477328"/>
              </a:xfrm>
              <a:prstGeom prst="rect">
                <a:avLst/>
              </a:prstGeom>
              <a:noFill/>
            </p:spPr>
            <p:txBody>
              <a:bodyPr wrap="square">
                <a:spAutoFit/>
              </a:bodyPr>
              <a:lstStyle/>
              <a:p>
                <a:pPr>
                  <a:buNone/>
                </a:pPr>
                <a:r>
                  <a:rPr lang="en-US" b="1" dirty="0"/>
                  <a:t>Step 4: Degrees of Freedom</a:t>
                </a:r>
              </a:p>
              <a:p>
                <a:pP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𝑑𝑓</m:t>
                      </m:r>
                      <m:r>
                        <a:rPr lang="en-US" b="0" i="0" smtClean="0">
                          <a:latin typeface="Cambria Math" panose="02040503050406030204" pitchFamily="18" charset="0"/>
                        </a:rPr>
                        <m:t>=</m:t>
                      </m:r>
                      <m:r>
                        <a:rPr lang="en-US" b="0" i="1" smtClean="0">
                          <a:latin typeface="Cambria Math" panose="02040503050406030204" pitchFamily="18" charset="0"/>
                        </a:rPr>
                        <m:t>𝑘</m:t>
                      </m:r>
                      <m:r>
                        <a:rPr lang="en-US" b="0" i="0" smtClean="0">
                          <a:latin typeface="Cambria Math" panose="02040503050406030204" pitchFamily="18" charset="0"/>
                        </a:rPr>
                        <m:t>−</m:t>
                      </m:r>
                      <m:r>
                        <a:rPr lang="en-US" b="0" i="0" smtClean="0">
                          <a:latin typeface="Cambria Math" panose="02040503050406030204" pitchFamily="18" charset="0"/>
                        </a:rPr>
                        <m:t>1</m:t>
                      </m:r>
                    </m:oMath>
                  </m:oMathPara>
                </a14:m>
                <a:endParaRPr lang="en-US" dirty="0"/>
              </a:p>
              <a:p>
                <a:pPr>
                  <a:buNone/>
                </a:pPr>
                <a:r>
                  <a:rPr lang="en-US" dirty="0"/>
                  <a:t>where k = number of categories</a:t>
                </a:r>
              </a:p>
              <a:p>
                <a:pPr>
                  <a:buNone/>
                </a:pPr>
                <a:r>
                  <a:rPr lang="en-US" dirty="0"/>
                  <a:t>Here:</a:t>
                </a:r>
              </a:p>
              <a:p>
                <a:pP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𝑑𝑓</m:t>
                      </m:r>
                      <m:r>
                        <a:rPr lang="en-US" b="0" i="0" smtClean="0">
                          <a:latin typeface="Cambria Math" panose="02040503050406030204" pitchFamily="18" charset="0"/>
                        </a:rPr>
                        <m:t>=</m:t>
                      </m:r>
                      <m:r>
                        <a:rPr lang="en-US" b="0" i="0" smtClean="0">
                          <a:latin typeface="Cambria Math" panose="02040503050406030204" pitchFamily="18" charset="0"/>
                        </a:rPr>
                        <m:t>2</m:t>
                      </m:r>
                      <m:r>
                        <a:rPr lang="en-US" b="0" i="0" smtClean="0">
                          <a:latin typeface="Cambria Math" panose="02040503050406030204" pitchFamily="18" charset="0"/>
                        </a:rPr>
                        <m:t>−</m:t>
                      </m:r>
                      <m:r>
                        <a:rPr lang="en-US" b="0" i="0" smtClean="0">
                          <a:latin typeface="Cambria Math" panose="02040503050406030204" pitchFamily="18" charset="0"/>
                        </a:rPr>
                        <m:t>1</m:t>
                      </m:r>
                      <m:r>
                        <a:rPr lang="en-US" b="0" i="0" smtClean="0">
                          <a:latin typeface="Cambria Math" panose="02040503050406030204" pitchFamily="18" charset="0"/>
                        </a:rPr>
                        <m:t>=</m:t>
                      </m:r>
                      <m:r>
                        <a:rPr lang="en-US" b="0" i="0" smtClean="0">
                          <a:latin typeface="Cambria Math" panose="02040503050406030204" pitchFamily="18" charset="0"/>
                        </a:rPr>
                        <m:t>1</m:t>
                      </m:r>
                    </m:oMath>
                  </m:oMathPara>
                </a14:m>
                <a:endParaRPr lang="en-US" dirty="0"/>
              </a:p>
            </p:txBody>
          </p:sp>
        </mc:Choice>
        <mc:Fallback xmlns="">
          <p:sp>
            <p:nvSpPr>
              <p:cNvPr id="12" name="TextBox 11">
                <a:extLst>
                  <a:ext uri="{FF2B5EF4-FFF2-40B4-BE49-F238E27FC236}">
                    <a16:creationId xmlns:a16="http://schemas.microsoft.com/office/drawing/2014/main" id="{EB8C75B4-A430-C0EE-ED23-27285016B786}"/>
                  </a:ext>
                </a:extLst>
              </p:cNvPr>
              <p:cNvSpPr txBox="1">
                <a:spLocks noRot="1" noChangeAspect="1" noMove="1" noResize="1" noEditPoints="1" noAdjustHandles="1" noChangeArrowheads="1" noChangeShapeType="1" noTextEdit="1"/>
              </p:cNvSpPr>
              <p:nvPr/>
            </p:nvSpPr>
            <p:spPr>
              <a:xfrm>
                <a:off x="331470" y="3496739"/>
                <a:ext cx="6094476" cy="1477328"/>
              </a:xfrm>
              <a:prstGeom prst="rect">
                <a:avLst/>
              </a:prstGeom>
              <a:blipFill>
                <a:blip r:embed="rId3"/>
                <a:stretch>
                  <a:fillRect l="-800" t="-2066" b="-24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47A34B6-0DD1-0B86-103D-B96B16DAC72C}"/>
                  </a:ext>
                </a:extLst>
              </p:cNvPr>
              <p:cNvSpPr txBox="1"/>
              <p:nvPr/>
            </p:nvSpPr>
            <p:spPr>
              <a:xfrm>
                <a:off x="8549640" y="2813723"/>
                <a:ext cx="3310890" cy="1780296"/>
              </a:xfrm>
              <a:prstGeom prst="rect">
                <a:avLst/>
              </a:prstGeom>
              <a:noFill/>
            </p:spPr>
            <p:txBody>
              <a:bodyPr wrap="square">
                <a:spAutoFit/>
              </a:bodyPr>
              <a:lstStyle/>
              <a:p>
                <a:pPr>
                  <a:buNone/>
                </a:pPr>
                <a:r>
                  <a:rPr lang="en-US" b="1" dirty="0"/>
                  <a:t>Step 6: Decision</a:t>
                </a:r>
              </a:p>
              <a:p>
                <a:pPr>
                  <a:buNone/>
                </a:pPr>
                <a14:m>
                  <m:oMathPara xmlns:m="http://schemas.openxmlformats.org/officeDocument/2006/math">
                    <m:oMathParaPr>
                      <m:jc m:val="centerGroup"/>
                    </m:oMathParaPr>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𝜒</m:t>
                          </m:r>
                        </m:e>
                        <m:sub>
                          <m:r>
                            <a:rPr lang="ar-AE" i="1">
                              <a:latin typeface="Cambria Math" panose="02040503050406030204" pitchFamily="18" charset="0"/>
                            </a:rPr>
                            <m:t>𝑐𝑎𝑙𝑐𝑢𝑙𝑎𝑡𝑒𝑑</m:t>
                          </m:r>
                        </m:sub>
                        <m:sup>
                          <m:r>
                            <a:rPr lang="ar-AE" i="0">
                              <a:latin typeface="Cambria Math" panose="02040503050406030204" pitchFamily="18" charset="0"/>
                            </a:rPr>
                            <m:t>2</m:t>
                          </m:r>
                        </m:sup>
                      </m:sSubSup>
                      <m:r>
                        <a:rPr lang="ar-AE" i="0">
                          <a:latin typeface="Cambria Math" panose="02040503050406030204" pitchFamily="18" charset="0"/>
                        </a:rPr>
                        <m:t>=</m:t>
                      </m:r>
                      <m:r>
                        <a:rPr lang="ar-AE" i="0">
                          <a:latin typeface="Cambria Math" panose="02040503050406030204" pitchFamily="18" charset="0"/>
                        </a:rPr>
                        <m:t>9</m:t>
                      </m:r>
                    </m:oMath>
                  </m:oMathPara>
                </a14:m>
                <a:endParaRPr lang="ar-AE" dirty="0"/>
              </a:p>
              <a:p>
                <a:pPr>
                  <a:buNone/>
                </a:pPr>
                <a14:m>
                  <m:oMathPara xmlns:m="http://schemas.openxmlformats.org/officeDocument/2006/math">
                    <m:oMathParaPr>
                      <m:jc m:val="centerGroup"/>
                    </m:oMathParaPr>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𝜒</m:t>
                          </m:r>
                        </m:e>
                        <m:sub>
                          <m:r>
                            <a:rPr lang="ar-AE" i="1">
                              <a:latin typeface="Cambria Math" panose="02040503050406030204" pitchFamily="18" charset="0"/>
                            </a:rPr>
                            <m:t>𝑐𝑟𝑖𝑡𝑖𝑐𝑎𝑙</m:t>
                          </m:r>
                        </m:sub>
                        <m:sup>
                          <m:r>
                            <a:rPr lang="ar-AE" i="0">
                              <a:latin typeface="Cambria Math" panose="02040503050406030204" pitchFamily="18" charset="0"/>
                            </a:rPr>
                            <m:t>2</m:t>
                          </m:r>
                        </m:sup>
                      </m:sSubSup>
                      <m:r>
                        <a:rPr lang="ar-AE" i="0">
                          <a:latin typeface="Cambria Math" panose="02040503050406030204" pitchFamily="18" charset="0"/>
                        </a:rPr>
                        <m:t>=</m:t>
                      </m:r>
                      <m:r>
                        <a:rPr lang="ar-AE" i="0">
                          <a:latin typeface="Cambria Math" panose="02040503050406030204" pitchFamily="18" charset="0"/>
                        </a:rPr>
                        <m:t>3</m:t>
                      </m:r>
                      <m:r>
                        <a:rPr lang="ar-AE" i="0">
                          <a:latin typeface="Cambria Math" panose="02040503050406030204" pitchFamily="18" charset="0"/>
                        </a:rPr>
                        <m:t>.</m:t>
                      </m:r>
                      <m:r>
                        <a:rPr lang="ar-AE" i="0">
                          <a:latin typeface="Cambria Math" panose="02040503050406030204" pitchFamily="18" charset="0"/>
                        </a:rPr>
                        <m:t>84</m:t>
                      </m:r>
                    </m:oMath>
                  </m:oMathPara>
                </a14:m>
                <a:endParaRPr lang="ar-AE" dirty="0"/>
              </a:p>
              <a:p>
                <a:pPr>
                  <a:buNone/>
                </a:pPr>
                <a:r>
                  <a:rPr lang="en-US" dirty="0"/>
                  <a:t>Since</a:t>
                </a:r>
              </a:p>
              <a:p>
                <a:pPr>
                  <a:buNone/>
                </a:pPr>
                <a14:m>
                  <m:oMathPara xmlns:m="http://schemas.openxmlformats.org/officeDocument/2006/math">
                    <m:oMathParaPr>
                      <m:jc m:val="centerGroup"/>
                    </m:oMathParaPr>
                    <m:oMath xmlns:m="http://schemas.openxmlformats.org/officeDocument/2006/math">
                      <m:r>
                        <a:rPr lang="en-US">
                          <a:latin typeface="Cambria Math" panose="02040503050406030204" pitchFamily="18" charset="0"/>
                        </a:rPr>
                        <m:t>9</m:t>
                      </m:r>
                      <m:r>
                        <a:rPr lang="en-US" i="0">
                          <a:latin typeface="Cambria Math" panose="02040503050406030204" pitchFamily="18" charset="0"/>
                        </a:rPr>
                        <m:t>&gt;</m:t>
                      </m:r>
                      <m:r>
                        <a:rPr lang="en-US" i="0">
                          <a:latin typeface="Cambria Math" panose="02040503050406030204" pitchFamily="18" charset="0"/>
                        </a:rPr>
                        <m:t>3</m:t>
                      </m:r>
                      <m:r>
                        <a:rPr lang="en-US" i="0">
                          <a:latin typeface="Cambria Math" panose="02040503050406030204" pitchFamily="18" charset="0"/>
                        </a:rPr>
                        <m:t>.</m:t>
                      </m:r>
                      <m:r>
                        <a:rPr lang="en-US" i="0">
                          <a:latin typeface="Cambria Math" panose="02040503050406030204" pitchFamily="18" charset="0"/>
                        </a:rPr>
                        <m:t>84</m:t>
                      </m:r>
                    </m:oMath>
                  </m:oMathPara>
                </a14:m>
                <a:endParaRPr lang="en-US" dirty="0"/>
              </a:p>
              <a:p>
                <a:pPr>
                  <a:buNone/>
                </a:pPr>
                <a:r>
                  <a:rPr lang="en-US" dirty="0">
                    <a:highlight>
                      <a:srgbClr val="FFFF00"/>
                    </a:highlight>
                  </a:rPr>
                  <a:t>Reject </a:t>
                </a:r>
                <a14:m>
                  <m:oMath xmlns:m="http://schemas.openxmlformats.org/officeDocument/2006/math">
                    <m:sSub>
                      <m:sSubPr>
                        <m:ctrlPr>
                          <a:rPr lang="ar-AE" i="1">
                            <a:highlight>
                              <a:srgbClr val="FFFF00"/>
                            </a:highlight>
                            <a:latin typeface="Cambria Math" panose="02040503050406030204" pitchFamily="18" charset="0"/>
                          </a:rPr>
                        </m:ctrlPr>
                      </m:sSubPr>
                      <m:e>
                        <m:r>
                          <a:rPr lang="ar-AE" i="1">
                            <a:highlight>
                              <a:srgbClr val="FFFF00"/>
                            </a:highlight>
                            <a:latin typeface="Cambria Math" panose="02040503050406030204" pitchFamily="18" charset="0"/>
                          </a:rPr>
                          <m:t>𝐻</m:t>
                        </m:r>
                      </m:e>
                      <m:sub>
                        <m:r>
                          <a:rPr lang="ar-AE" i="0">
                            <a:highlight>
                              <a:srgbClr val="FFFF00"/>
                            </a:highlight>
                            <a:latin typeface="Cambria Math" panose="02040503050406030204" pitchFamily="18" charset="0"/>
                          </a:rPr>
                          <m:t>0</m:t>
                        </m:r>
                      </m:sub>
                    </m:sSub>
                  </m:oMath>
                </a14:m>
                <a:endParaRPr lang="ar-AE" dirty="0">
                  <a:highlight>
                    <a:srgbClr val="FFFF00"/>
                  </a:highlight>
                </a:endParaRPr>
              </a:p>
            </p:txBody>
          </p:sp>
        </mc:Choice>
        <mc:Fallback xmlns="">
          <p:sp>
            <p:nvSpPr>
              <p:cNvPr id="14" name="TextBox 13">
                <a:extLst>
                  <a:ext uri="{FF2B5EF4-FFF2-40B4-BE49-F238E27FC236}">
                    <a16:creationId xmlns:a16="http://schemas.microsoft.com/office/drawing/2014/main" id="{E47A34B6-0DD1-0B86-103D-B96B16DAC72C}"/>
                  </a:ext>
                </a:extLst>
              </p:cNvPr>
              <p:cNvSpPr txBox="1">
                <a:spLocks noRot="1" noChangeAspect="1" noMove="1" noResize="1" noEditPoints="1" noAdjustHandles="1" noChangeArrowheads="1" noChangeShapeType="1" noTextEdit="1"/>
              </p:cNvSpPr>
              <p:nvPr/>
            </p:nvSpPr>
            <p:spPr>
              <a:xfrm>
                <a:off x="8549640" y="2813723"/>
                <a:ext cx="3310890" cy="1780296"/>
              </a:xfrm>
              <a:prstGeom prst="rect">
                <a:avLst/>
              </a:prstGeom>
              <a:blipFill>
                <a:blip r:embed="rId4"/>
                <a:stretch>
                  <a:fillRect l="-1657" t="-1712" b="-4795"/>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FB8D50E9-BFFC-B2C5-8A38-19ADAC4FFEE1}"/>
              </a:ext>
            </a:extLst>
          </p:cNvPr>
          <p:cNvSpPr txBox="1"/>
          <p:nvPr/>
        </p:nvSpPr>
        <p:spPr>
          <a:xfrm>
            <a:off x="1227582" y="5657083"/>
            <a:ext cx="9589770" cy="369332"/>
          </a:xfrm>
          <a:prstGeom prst="rect">
            <a:avLst/>
          </a:prstGeom>
          <a:noFill/>
        </p:spPr>
        <p:txBody>
          <a:bodyPr wrap="square">
            <a:spAutoFit/>
          </a:bodyPr>
          <a:lstStyle/>
          <a:p>
            <a:pPr>
              <a:buNone/>
            </a:pPr>
            <a:r>
              <a:rPr lang="en-US" dirty="0"/>
              <a:t>There is significant evidence that the coin is biased. The difference is not due to random chance.</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0A3B080-E0EC-E7BA-E73B-0B85FE00B9F2}"/>
                  </a:ext>
                </a:extLst>
              </p:cNvPr>
              <p:cNvSpPr txBox="1"/>
              <p:nvPr/>
            </p:nvSpPr>
            <p:spPr>
              <a:xfrm>
                <a:off x="4681728" y="3120309"/>
                <a:ext cx="3044951" cy="1230658"/>
              </a:xfrm>
              <a:prstGeom prst="rect">
                <a:avLst/>
              </a:prstGeom>
              <a:noFill/>
            </p:spPr>
            <p:txBody>
              <a:bodyPr wrap="square">
                <a:spAutoFit/>
              </a:bodyPr>
              <a:lstStyle/>
              <a:p>
                <a:pPr>
                  <a:buNone/>
                </a:pPr>
                <a:r>
                  <a:rPr lang="en-US" b="1" dirty="0"/>
                  <a:t>Step 5: Critical Value</a:t>
                </a:r>
              </a:p>
              <a:p>
                <a:pPr>
                  <a:buNone/>
                </a:pPr>
                <a:r>
                  <a:rPr lang="en-US" dirty="0"/>
                  <a:t>At </a:t>
                </a:r>
                <a:r>
                  <a:rPr lang="el-GR" b="1" dirty="0"/>
                  <a:t>α = 0.05</a:t>
                </a:r>
                <a:endParaRPr lang="el-GR" dirty="0"/>
              </a:p>
              <a:p>
                <a:pPr>
                  <a:buNone/>
                </a:pPr>
                <a:r>
                  <a:rPr lang="en-US" dirty="0"/>
                  <a:t>From </a:t>
                </a:r>
                <a:r>
                  <a:rPr lang="el-GR" dirty="0"/>
                  <a:t>χ² </a:t>
                </a:r>
                <a:r>
                  <a:rPr lang="en-US" dirty="0"/>
                  <a:t>table:</a:t>
                </a:r>
              </a:p>
              <a:p>
                <a:pPr>
                  <a:buNone/>
                </a:pPr>
                <a14:m>
                  <m:oMathPara xmlns:m="http://schemas.openxmlformats.org/officeDocument/2006/math">
                    <m:oMathParaPr>
                      <m:jc m:val="centerGroup"/>
                    </m:oMathParaPr>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𝜒</m:t>
                          </m:r>
                        </m:e>
                        <m:sub>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05</m:t>
                          </m:r>
                          <m:r>
                            <a:rPr lang="ar-AE" i="0">
                              <a:latin typeface="Cambria Math" panose="02040503050406030204" pitchFamily="18" charset="0"/>
                            </a:rPr>
                            <m:t>,</m:t>
                          </m:r>
                          <m:r>
                            <a:rPr lang="ar-AE" i="0">
                              <a:latin typeface="Cambria Math" panose="02040503050406030204" pitchFamily="18" charset="0"/>
                            </a:rPr>
                            <m:t>1</m:t>
                          </m:r>
                        </m:sub>
                        <m:sup>
                          <m:r>
                            <a:rPr lang="ar-AE" i="0">
                              <a:latin typeface="Cambria Math" panose="02040503050406030204" pitchFamily="18" charset="0"/>
                            </a:rPr>
                            <m:t>2</m:t>
                          </m:r>
                        </m:sup>
                      </m:sSubSup>
                      <m:r>
                        <a:rPr lang="ar-AE" i="0">
                          <a:latin typeface="Cambria Math" panose="02040503050406030204" pitchFamily="18" charset="0"/>
                        </a:rPr>
                        <m:t>=</m:t>
                      </m:r>
                      <m:r>
                        <a:rPr lang="ar-AE" i="0">
                          <a:latin typeface="Cambria Math" panose="02040503050406030204" pitchFamily="18" charset="0"/>
                        </a:rPr>
                        <m:t>3</m:t>
                      </m:r>
                      <m:r>
                        <a:rPr lang="ar-AE" i="0">
                          <a:latin typeface="Cambria Math" panose="02040503050406030204" pitchFamily="18" charset="0"/>
                        </a:rPr>
                        <m:t>.</m:t>
                      </m:r>
                      <m:r>
                        <a:rPr lang="ar-AE" i="0">
                          <a:latin typeface="Cambria Math" panose="02040503050406030204" pitchFamily="18" charset="0"/>
                        </a:rPr>
                        <m:t>84</m:t>
                      </m:r>
                    </m:oMath>
                  </m:oMathPara>
                </a14:m>
                <a:endParaRPr lang="ar-AE" dirty="0"/>
              </a:p>
            </p:txBody>
          </p:sp>
        </mc:Choice>
        <mc:Fallback xmlns="">
          <p:sp>
            <p:nvSpPr>
              <p:cNvPr id="18" name="TextBox 17">
                <a:extLst>
                  <a:ext uri="{FF2B5EF4-FFF2-40B4-BE49-F238E27FC236}">
                    <a16:creationId xmlns:a16="http://schemas.microsoft.com/office/drawing/2014/main" id="{90A3B080-E0EC-E7BA-E73B-0B85FE00B9F2}"/>
                  </a:ext>
                </a:extLst>
              </p:cNvPr>
              <p:cNvSpPr txBox="1">
                <a:spLocks noRot="1" noChangeAspect="1" noMove="1" noResize="1" noEditPoints="1" noAdjustHandles="1" noChangeArrowheads="1" noChangeShapeType="1" noTextEdit="1"/>
              </p:cNvSpPr>
              <p:nvPr/>
            </p:nvSpPr>
            <p:spPr>
              <a:xfrm>
                <a:off x="4681728" y="3120309"/>
                <a:ext cx="3044951" cy="1230658"/>
              </a:xfrm>
              <a:prstGeom prst="rect">
                <a:avLst/>
              </a:prstGeom>
              <a:blipFill>
                <a:blip r:embed="rId5"/>
                <a:stretch>
                  <a:fillRect l="-1603" t="-2475"/>
                </a:stretch>
              </a:blipFill>
            </p:spPr>
            <p:txBody>
              <a:bodyPr/>
              <a:lstStyle/>
              <a:p>
                <a:r>
                  <a:rPr lang="en-US">
                    <a:noFill/>
                  </a:rPr>
                  <a:t> </a:t>
                </a:r>
              </a:p>
            </p:txBody>
          </p:sp>
        </mc:Fallback>
      </mc:AlternateContent>
    </p:spTree>
    <p:extLst>
      <p:ext uri="{BB962C8B-B14F-4D97-AF65-F5344CB8AC3E}">
        <p14:creationId xmlns:p14="http://schemas.microsoft.com/office/powerpoint/2010/main" val="35736709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C638A0-ACA0-E527-BD8F-BE3B401B8945}"/>
              </a:ext>
            </a:extLst>
          </p:cNvPr>
          <p:cNvSpPr>
            <a:spLocks noGrp="1"/>
          </p:cNvSpPr>
          <p:nvPr>
            <p:ph idx="1"/>
          </p:nvPr>
        </p:nvSpPr>
        <p:spPr>
          <a:xfrm>
            <a:off x="329184" y="192024"/>
            <a:ext cx="11548872" cy="6364224"/>
          </a:xfrm>
        </p:spPr>
        <p:txBody>
          <a:bodyPr/>
          <a:lstStyle/>
          <a:p>
            <a:pPr marL="0" indent="0">
              <a:buNone/>
            </a:pPr>
            <a:r>
              <a:rPr lang="en-US" b="1" dirty="0"/>
              <a:t>Example 2 (Chi-Square Test of Independence)</a:t>
            </a:r>
          </a:p>
          <a:p>
            <a:pPr marL="0" indent="0">
              <a:buNone/>
            </a:pPr>
            <a:r>
              <a:rPr lang="en-US" sz="2000" dirty="0">
                <a:latin typeface="Times New Roman" panose="02020603050405020304" pitchFamily="18" charset="0"/>
                <a:cs typeface="Times New Roman" panose="02020603050405020304" pitchFamily="18" charset="0"/>
              </a:rPr>
              <a:t>The Chi-Square Test for Independence is used to determine whether two categorical variables are related (dependent) or not related (independent)</a:t>
            </a:r>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r>
              <a:rPr lang="en-US" b="1" dirty="0"/>
              <a:t>Sol:</a:t>
            </a:r>
          </a:p>
        </p:txBody>
      </p:sp>
      <p:graphicFrame>
        <p:nvGraphicFramePr>
          <p:cNvPr id="4" name="Table 3">
            <a:extLst>
              <a:ext uri="{FF2B5EF4-FFF2-40B4-BE49-F238E27FC236}">
                <a16:creationId xmlns:a16="http://schemas.microsoft.com/office/drawing/2014/main" id="{80F0824B-6C18-7C49-4822-F1FEF6B38858}"/>
              </a:ext>
            </a:extLst>
          </p:cNvPr>
          <p:cNvGraphicFramePr>
            <a:graphicFrameLocks noGrp="1"/>
          </p:cNvGraphicFramePr>
          <p:nvPr>
            <p:extLst>
              <p:ext uri="{D42A27DB-BD31-4B8C-83A1-F6EECF244321}">
                <p14:modId xmlns:p14="http://schemas.microsoft.com/office/powerpoint/2010/main" val="1509980467"/>
              </p:ext>
            </p:extLst>
          </p:nvPr>
        </p:nvGraphicFramePr>
        <p:xfrm>
          <a:off x="329184" y="2501252"/>
          <a:ext cx="9040368" cy="1097280"/>
        </p:xfrm>
        <a:graphic>
          <a:graphicData uri="http://schemas.openxmlformats.org/drawingml/2006/table">
            <a:tbl>
              <a:tblPr/>
              <a:tblGrid>
                <a:gridCol w="3013456">
                  <a:extLst>
                    <a:ext uri="{9D8B030D-6E8A-4147-A177-3AD203B41FA5}">
                      <a16:colId xmlns:a16="http://schemas.microsoft.com/office/drawing/2014/main" val="846682331"/>
                    </a:ext>
                  </a:extLst>
                </a:gridCol>
                <a:gridCol w="3013456">
                  <a:extLst>
                    <a:ext uri="{9D8B030D-6E8A-4147-A177-3AD203B41FA5}">
                      <a16:colId xmlns:a16="http://schemas.microsoft.com/office/drawing/2014/main" val="566199554"/>
                    </a:ext>
                  </a:extLst>
                </a:gridCol>
                <a:gridCol w="3013456">
                  <a:extLst>
                    <a:ext uri="{9D8B030D-6E8A-4147-A177-3AD203B41FA5}">
                      <a16:colId xmlns:a16="http://schemas.microsoft.com/office/drawing/2014/main" val="2609227330"/>
                    </a:ext>
                  </a:extLst>
                </a:gridCol>
              </a:tblGrid>
              <a:tr h="0">
                <a:tc>
                  <a:txBody>
                    <a:bodyPr/>
                    <a:lstStyle/>
                    <a:p>
                      <a:pPr>
                        <a:buNone/>
                      </a:pPr>
                      <a:r>
                        <a:rPr lang="en-US" dirty="0"/>
                        <a:t>Gender</a:t>
                      </a:r>
                    </a:p>
                  </a:txBody>
                  <a:tcPr anchor="ctr">
                    <a:lnL>
                      <a:noFill/>
                    </a:lnL>
                    <a:lnR>
                      <a:noFill/>
                    </a:lnR>
                    <a:lnT>
                      <a:noFill/>
                    </a:lnT>
                    <a:lnB>
                      <a:noFill/>
                    </a:lnB>
                    <a:noFill/>
                  </a:tcPr>
                </a:tc>
                <a:tc>
                  <a:txBody>
                    <a:bodyPr/>
                    <a:lstStyle/>
                    <a:p>
                      <a:pPr>
                        <a:buNone/>
                      </a:pPr>
                      <a:r>
                        <a:rPr lang="en-US"/>
                        <a:t>Tea</a:t>
                      </a:r>
                    </a:p>
                  </a:txBody>
                  <a:tcPr anchor="ctr">
                    <a:lnL>
                      <a:noFill/>
                    </a:lnL>
                    <a:lnR>
                      <a:noFill/>
                    </a:lnR>
                    <a:lnT>
                      <a:noFill/>
                    </a:lnT>
                    <a:lnB>
                      <a:noFill/>
                    </a:lnB>
                    <a:noFill/>
                  </a:tcPr>
                </a:tc>
                <a:tc>
                  <a:txBody>
                    <a:bodyPr/>
                    <a:lstStyle/>
                    <a:p>
                      <a:pPr>
                        <a:buNone/>
                      </a:pPr>
                      <a:r>
                        <a:rPr lang="en-US"/>
                        <a:t>Coffee</a:t>
                      </a:r>
                    </a:p>
                  </a:txBody>
                  <a:tcPr anchor="ctr">
                    <a:lnL>
                      <a:noFill/>
                    </a:lnL>
                    <a:lnR>
                      <a:noFill/>
                    </a:lnR>
                    <a:lnT>
                      <a:noFill/>
                    </a:lnT>
                    <a:lnB>
                      <a:noFill/>
                    </a:lnB>
                    <a:noFill/>
                  </a:tcPr>
                </a:tc>
                <a:extLst>
                  <a:ext uri="{0D108BD9-81ED-4DB2-BD59-A6C34878D82A}">
                    <a16:rowId xmlns:a16="http://schemas.microsoft.com/office/drawing/2014/main" val="1679425428"/>
                  </a:ext>
                </a:extLst>
              </a:tr>
              <a:tr h="0">
                <a:tc>
                  <a:txBody>
                    <a:bodyPr/>
                    <a:lstStyle/>
                    <a:p>
                      <a:pPr>
                        <a:buNone/>
                      </a:pPr>
                      <a:r>
                        <a:rPr lang="en-US"/>
                        <a:t>Male</a:t>
                      </a:r>
                    </a:p>
                  </a:txBody>
                  <a:tcPr anchor="ctr">
                    <a:lnL>
                      <a:noFill/>
                    </a:lnL>
                    <a:lnR>
                      <a:noFill/>
                    </a:lnR>
                    <a:lnT>
                      <a:noFill/>
                    </a:lnT>
                    <a:lnB>
                      <a:noFill/>
                    </a:lnB>
                    <a:noFill/>
                  </a:tcPr>
                </a:tc>
                <a:tc>
                  <a:txBody>
                    <a:bodyPr/>
                    <a:lstStyle/>
                    <a:p>
                      <a:pPr>
                        <a:buNone/>
                      </a:pPr>
                      <a:r>
                        <a:rPr lang="en-US" dirty="0"/>
                        <a:t>30</a:t>
                      </a:r>
                    </a:p>
                  </a:txBody>
                  <a:tcPr anchor="ctr">
                    <a:lnL>
                      <a:noFill/>
                    </a:lnL>
                    <a:lnR>
                      <a:noFill/>
                    </a:lnR>
                    <a:lnT>
                      <a:noFill/>
                    </a:lnT>
                    <a:lnB>
                      <a:noFill/>
                    </a:lnB>
                    <a:noFill/>
                  </a:tcPr>
                </a:tc>
                <a:tc>
                  <a:txBody>
                    <a:bodyPr/>
                    <a:lstStyle/>
                    <a:p>
                      <a:pPr>
                        <a:buNone/>
                      </a:pPr>
                      <a:r>
                        <a:rPr lang="en-US"/>
                        <a:t>20</a:t>
                      </a:r>
                    </a:p>
                  </a:txBody>
                  <a:tcPr anchor="ctr">
                    <a:lnL>
                      <a:noFill/>
                    </a:lnL>
                    <a:lnR>
                      <a:noFill/>
                    </a:lnR>
                    <a:lnT>
                      <a:noFill/>
                    </a:lnT>
                    <a:lnB>
                      <a:noFill/>
                    </a:lnB>
                    <a:noFill/>
                  </a:tcPr>
                </a:tc>
                <a:extLst>
                  <a:ext uri="{0D108BD9-81ED-4DB2-BD59-A6C34878D82A}">
                    <a16:rowId xmlns:a16="http://schemas.microsoft.com/office/drawing/2014/main" val="26786488"/>
                  </a:ext>
                </a:extLst>
              </a:tr>
              <a:tr h="0">
                <a:tc>
                  <a:txBody>
                    <a:bodyPr/>
                    <a:lstStyle/>
                    <a:p>
                      <a:pPr>
                        <a:buNone/>
                      </a:pPr>
                      <a:r>
                        <a:rPr lang="en-US"/>
                        <a:t>Female</a:t>
                      </a:r>
                    </a:p>
                  </a:txBody>
                  <a:tcPr anchor="ctr">
                    <a:lnL>
                      <a:noFill/>
                    </a:lnL>
                    <a:lnR>
                      <a:noFill/>
                    </a:lnR>
                    <a:lnT>
                      <a:noFill/>
                    </a:lnT>
                    <a:lnB>
                      <a:noFill/>
                    </a:lnB>
                    <a:noFill/>
                  </a:tcPr>
                </a:tc>
                <a:tc>
                  <a:txBody>
                    <a:bodyPr/>
                    <a:lstStyle/>
                    <a:p>
                      <a:pPr>
                        <a:buNone/>
                      </a:pPr>
                      <a:r>
                        <a:rPr lang="en-US"/>
                        <a:t>10</a:t>
                      </a:r>
                    </a:p>
                  </a:txBody>
                  <a:tcPr anchor="ctr">
                    <a:lnL>
                      <a:noFill/>
                    </a:lnL>
                    <a:lnR>
                      <a:noFill/>
                    </a:lnR>
                    <a:lnT>
                      <a:noFill/>
                    </a:lnT>
                    <a:lnB>
                      <a:noFill/>
                    </a:lnB>
                    <a:noFill/>
                  </a:tcPr>
                </a:tc>
                <a:tc>
                  <a:txBody>
                    <a:bodyPr/>
                    <a:lstStyle/>
                    <a:p>
                      <a:pPr>
                        <a:buNone/>
                      </a:pPr>
                      <a:r>
                        <a:rPr lang="en-US" dirty="0"/>
                        <a:t>40</a:t>
                      </a:r>
                    </a:p>
                  </a:txBody>
                  <a:tcPr anchor="ctr">
                    <a:lnL>
                      <a:noFill/>
                    </a:lnL>
                    <a:lnR>
                      <a:noFill/>
                    </a:lnR>
                    <a:lnT>
                      <a:noFill/>
                    </a:lnT>
                    <a:lnB>
                      <a:noFill/>
                    </a:lnB>
                    <a:noFill/>
                  </a:tcPr>
                </a:tc>
                <a:extLst>
                  <a:ext uri="{0D108BD9-81ED-4DB2-BD59-A6C34878D82A}">
                    <a16:rowId xmlns:a16="http://schemas.microsoft.com/office/drawing/2014/main" val="1254898333"/>
                  </a:ext>
                </a:extLst>
              </a:tr>
            </a:tbl>
          </a:graphicData>
        </a:graphic>
      </p:graphicFrame>
      <p:sp>
        <p:nvSpPr>
          <p:cNvPr id="6" name="TextBox 5">
            <a:extLst>
              <a:ext uri="{FF2B5EF4-FFF2-40B4-BE49-F238E27FC236}">
                <a16:creationId xmlns:a16="http://schemas.microsoft.com/office/drawing/2014/main" id="{6496BF8B-3939-3F91-E479-703A171A41DF}"/>
              </a:ext>
            </a:extLst>
          </p:cNvPr>
          <p:cNvSpPr txBox="1"/>
          <p:nvPr/>
        </p:nvSpPr>
        <p:spPr>
          <a:xfrm>
            <a:off x="329184" y="1715947"/>
            <a:ext cx="6097772" cy="646331"/>
          </a:xfrm>
          <a:prstGeom prst="rect">
            <a:avLst/>
          </a:prstGeom>
          <a:noFill/>
        </p:spPr>
        <p:txBody>
          <a:bodyPr wrap="square">
            <a:spAutoFit/>
          </a:bodyPr>
          <a:lstStyle/>
          <a:p>
            <a:pPr>
              <a:buNone/>
            </a:pPr>
            <a:r>
              <a:rPr lang="en-US" b="1" dirty="0"/>
              <a:t>Example</a:t>
            </a:r>
          </a:p>
          <a:p>
            <a:pPr>
              <a:buNone/>
            </a:pPr>
            <a:r>
              <a:rPr lang="en-US" dirty="0"/>
              <a:t>A survey of </a:t>
            </a:r>
            <a:r>
              <a:rPr lang="en-US" b="1" dirty="0"/>
              <a:t>100 people</a:t>
            </a:r>
            <a:r>
              <a:rPr lang="en-US" dirty="0"/>
              <a:t>:</a:t>
            </a:r>
          </a:p>
        </p:txBody>
      </p:sp>
      <p:sp>
        <p:nvSpPr>
          <p:cNvPr id="8" name="TextBox 7">
            <a:extLst>
              <a:ext uri="{FF2B5EF4-FFF2-40B4-BE49-F238E27FC236}">
                <a16:creationId xmlns:a16="http://schemas.microsoft.com/office/drawing/2014/main" id="{06AA7C0D-E544-B18F-7077-F9A9C9629B39}"/>
              </a:ext>
            </a:extLst>
          </p:cNvPr>
          <p:cNvSpPr txBox="1"/>
          <p:nvPr/>
        </p:nvSpPr>
        <p:spPr>
          <a:xfrm>
            <a:off x="8886063" y="2588227"/>
            <a:ext cx="2704338" cy="923330"/>
          </a:xfrm>
          <a:prstGeom prst="rect">
            <a:avLst/>
          </a:prstGeom>
          <a:noFill/>
        </p:spPr>
        <p:txBody>
          <a:bodyPr wrap="square">
            <a:spAutoFit/>
          </a:bodyPr>
          <a:lstStyle/>
          <a:p>
            <a:r>
              <a:rPr lang="en-US" dirty="0"/>
              <a:t>Test whether </a:t>
            </a:r>
            <a:r>
              <a:rPr lang="en-US" b="1" dirty="0"/>
              <a:t>drink preference depends on gender</a:t>
            </a:r>
            <a:r>
              <a:rPr lang="en-US" dirty="0"/>
              <a:t>.</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E347FEB-BB20-3FB9-940D-9C155241DE5E}"/>
                  </a:ext>
                </a:extLst>
              </p:cNvPr>
              <p:cNvSpPr txBox="1"/>
              <p:nvPr/>
            </p:nvSpPr>
            <p:spPr>
              <a:xfrm>
                <a:off x="405632" y="4996829"/>
                <a:ext cx="6094476" cy="1477328"/>
              </a:xfrm>
              <a:prstGeom prst="rect">
                <a:avLst/>
              </a:prstGeom>
              <a:noFill/>
            </p:spPr>
            <p:txBody>
              <a:bodyPr wrap="square">
                <a:spAutoFit/>
              </a:bodyPr>
              <a:lstStyle/>
              <a:p>
                <a:pPr>
                  <a:buNone/>
                </a:pPr>
                <a:r>
                  <a:rPr lang="en-US" b="1" dirty="0"/>
                  <a:t>Hypotheses</a:t>
                </a:r>
              </a:p>
              <a:p>
                <a:pPr>
                  <a:buNone/>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𝐻</m:t>
                        </m:r>
                      </m:e>
                      <m:sub>
                        <m:r>
                          <a:rPr lang="ar-AE" i="0">
                            <a:latin typeface="Cambria Math" panose="02040503050406030204" pitchFamily="18" charset="0"/>
                          </a:rPr>
                          <m:t>0</m:t>
                        </m:r>
                      </m:sub>
                    </m:sSub>
                    <m:r>
                      <a:rPr lang="ar-AE" i="0">
                        <a:latin typeface="Cambria Math" panose="02040503050406030204" pitchFamily="18" charset="0"/>
                      </a:rPr>
                      <m:t>:</m:t>
                    </m:r>
                    <m:r>
                      <m:rPr>
                        <m:nor/>
                      </m:rPr>
                      <a:rPr lang="en-US" b="0" i="1">
                        <a:latin typeface="Cambria Math" panose="02040503050406030204" pitchFamily="18" charset="0"/>
                      </a:rPr>
                      <m:t>Drink</m:t>
                    </m:r>
                    <m:r>
                      <m:rPr>
                        <m:nor/>
                      </m:rPr>
                      <a:rPr lang="en-US" b="0" i="1">
                        <a:latin typeface="Cambria Math" panose="02040503050406030204" pitchFamily="18" charset="0"/>
                      </a:rPr>
                      <m:t> </m:t>
                    </m:r>
                    <m:r>
                      <m:rPr>
                        <m:nor/>
                      </m:rPr>
                      <a:rPr lang="en-US" b="0" i="1">
                        <a:latin typeface="Cambria Math" panose="02040503050406030204" pitchFamily="18" charset="0"/>
                      </a:rPr>
                      <m:t>preference</m:t>
                    </m:r>
                    <m:r>
                      <m:rPr>
                        <m:nor/>
                      </m:rPr>
                      <a:rPr lang="en-US" b="0" i="1">
                        <a:latin typeface="Cambria Math" panose="02040503050406030204" pitchFamily="18" charset="0"/>
                      </a:rPr>
                      <m:t> </m:t>
                    </m:r>
                    <m:r>
                      <m:rPr>
                        <m:nor/>
                      </m:rPr>
                      <a:rPr lang="en-US" b="0" i="1">
                        <a:latin typeface="Cambria Math" panose="02040503050406030204" pitchFamily="18" charset="0"/>
                      </a:rPr>
                      <m:t>is</m:t>
                    </m:r>
                    <m:r>
                      <m:rPr>
                        <m:nor/>
                      </m:rPr>
                      <a:rPr lang="en-US" b="0" i="1">
                        <a:latin typeface="Cambria Math" panose="02040503050406030204" pitchFamily="18" charset="0"/>
                      </a:rPr>
                      <m:t> </m:t>
                    </m:r>
                    <m:r>
                      <m:rPr>
                        <m:nor/>
                      </m:rPr>
                      <a:rPr lang="en-US" b="0" i="1">
                        <a:latin typeface="Cambria Math" panose="02040503050406030204" pitchFamily="18" charset="0"/>
                      </a:rPr>
                      <m:t>independent</m:t>
                    </m:r>
                    <m:r>
                      <m:rPr>
                        <m:nor/>
                      </m:rPr>
                      <a:rPr lang="en-US" b="0" i="1">
                        <a:latin typeface="Cambria Math" panose="02040503050406030204" pitchFamily="18" charset="0"/>
                      </a:rPr>
                      <m:t> </m:t>
                    </m:r>
                    <m:r>
                      <m:rPr>
                        <m:nor/>
                      </m:rPr>
                      <a:rPr lang="en-US" b="0" i="1">
                        <a:latin typeface="Cambria Math" panose="02040503050406030204" pitchFamily="18" charset="0"/>
                      </a:rPr>
                      <m:t>of</m:t>
                    </m:r>
                    <m:r>
                      <m:rPr>
                        <m:nor/>
                      </m:rPr>
                      <a:rPr lang="en-US" b="0" i="1">
                        <a:latin typeface="Cambria Math" panose="02040503050406030204" pitchFamily="18" charset="0"/>
                      </a:rPr>
                      <m:t> </m:t>
                    </m:r>
                    <m:r>
                      <m:rPr>
                        <m:nor/>
                      </m:rPr>
                      <a:rPr lang="en-US" b="0" i="1">
                        <a:latin typeface="Cambria Math" panose="02040503050406030204" pitchFamily="18" charset="0"/>
                      </a:rPr>
                      <m:t>gender</m:t>
                    </m:r>
                  </m:oMath>
                </a14:m>
                <a:r>
                  <a:rPr lang="en-US" b="0" dirty="0"/>
                  <a:t>  (No relationship)</a:t>
                </a:r>
              </a:p>
              <a:p>
                <a:pPr>
                  <a:buNone/>
                </a:pPr>
                <a:r>
                  <a:rPr lang="en-US" dirty="0"/>
                  <a: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𝐻</m:t>
                        </m:r>
                      </m:e>
                      <m:sub>
                        <m:r>
                          <a:rPr lang="ar-AE" i="0">
                            <a:latin typeface="Cambria Math" panose="02040503050406030204" pitchFamily="18" charset="0"/>
                          </a:rPr>
                          <m:t>1</m:t>
                        </m:r>
                      </m:sub>
                    </m:sSub>
                    <m:r>
                      <a:rPr lang="ar-AE" i="0">
                        <a:latin typeface="Cambria Math" panose="02040503050406030204" pitchFamily="18" charset="0"/>
                      </a:rPr>
                      <m:t>:</m:t>
                    </m:r>
                    <m:r>
                      <m:rPr>
                        <m:nor/>
                      </m:rPr>
                      <a:rPr lang="en-US" b="0" i="1">
                        <a:latin typeface="Cambria Math" panose="02040503050406030204" pitchFamily="18" charset="0"/>
                      </a:rPr>
                      <m:t>Drink</m:t>
                    </m:r>
                    <m:r>
                      <m:rPr>
                        <m:nor/>
                      </m:rPr>
                      <a:rPr lang="en-US" b="0" i="1">
                        <a:latin typeface="Cambria Math" panose="02040503050406030204" pitchFamily="18" charset="0"/>
                      </a:rPr>
                      <m:t> </m:t>
                    </m:r>
                    <m:r>
                      <m:rPr>
                        <m:nor/>
                      </m:rPr>
                      <a:rPr lang="en-US" b="0" i="1">
                        <a:latin typeface="Cambria Math" panose="02040503050406030204" pitchFamily="18" charset="0"/>
                      </a:rPr>
                      <m:t>preference</m:t>
                    </m:r>
                    <m:r>
                      <m:rPr>
                        <m:nor/>
                      </m:rPr>
                      <a:rPr lang="en-US" b="0" i="1">
                        <a:latin typeface="Cambria Math" panose="02040503050406030204" pitchFamily="18" charset="0"/>
                      </a:rPr>
                      <m:t> </m:t>
                    </m:r>
                    <m:r>
                      <m:rPr>
                        <m:nor/>
                      </m:rPr>
                      <a:rPr lang="en-US" b="0" i="1">
                        <a:latin typeface="Cambria Math" panose="02040503050406030204" pitchFamily="18" charset="0"/>
                      </a:rPr>
                      <m:t>depends</m:t>
                    </m:r>
                    <m:r>
                      <m:rPr>
                        <m:nor/>
                      </m:rPr>
                      <a:rPr lang="en-US" b="0" i="1">
                        <a:latin typeface="Cambria Math" panose="02040503050406030204" pitchFamily="18" charset="0"/>
                      </a:rPr>
                      <m:t> </m:t>
                    </m:r>
                    <m:r>
                      <m:rPr>
                        <m:nor/>
                      </m:rPr>
                      <a:rPr lang="en-US" b="0" i="1">
                        <a:latin typeface="Cambria Math" panose="02040503050406030204" pitchFamily="18" charset="0"/>
                      </a:rPr>
                      <m:t>on</m:t>
                    </m:r>
                    <m:r>
                      <m:rPr>
                        <m:nor/>
                      </m:rPr>
                      <a:rPr lang="en-US" b="0" i="1">
                        <a:latin typeface="Cambria Math" panose="02040503050406030204" pitchFamily="18" charset="0"/>
                      </a:rPr>
                      <m:t> </m:t>
                    </m:r>
                    <m:r>
                      <m:rPr>
                        <m:nor/>
                      </m:rPr>
                      <a:rPr lang="en-US" b="0" i="1">
                        <a:latin typeface="Cambria Math" panose="02040503050406030204" pitchFamily="18" charset="0"/>
                      </a:rPr>
                      <m:t>gender</m:t>
                    </m:r>
                  </m:oMath>
                </a14:m>
                <a:r>
                  <a:rPr lang="en-US" b="0" dirty="0"/>
                  <a:t> (A relationship exists)</a:t>
                </a:r>
              </a:p>
            </p:txBody>
          </p:sp>
        </mc:Choice>
        <mc:Fallback xmlns="">
          <p:sp>
            <p:nvSpPr>
              <p:cNvPr id="10" name="TextBox 9">
                <a:extLst>
                  <a:ext uri="{FF2B5EF4-FFF2-40B4-BE49-F238E27FC236}">
                    <a16:creationId xmlns:a16="http://schemas.microsoft.com/office/drawing/2014/main" id="{EE347FEB-BB20-3FB9-940D-9C155241DE5E}"/>
                  </a:ext>
                </a:extLst>
              </p:cNvPr>
              <p:cNvSpPr txBox="1">
                <a:spLocks noRot="1" noChangeAspect="1" noMove="1" noResize="1" noEditPoints="1" noAdjustHandles="1" noChangeArrowheads="1" noChangeShapeType="1" noTextEdit="1"/>
              </p:cNvSpPr>
              <p:nvPr/>
            </p:nvSpPr>
            <p:spPr>
              <a:xfrm>
                <a:off x="405632" y="4996829"/>
                <a:ext cx="6094476" cy="1477328"/>
              </a:xfrm>
              <a:prstGeom prst="rect">
                <a:avLst/>
              </a:prstGeom>
              <a:blipFill>
                <a:blip r:embed="rId2"/>
                <a:stretch>
                  <a:fillRect l="-901" t="-2066" b="-6198"/>
                </a:stretch>
              </a:blipFill>
            </p:spPr>
            <p:txBody>
              <a:bodyPr/>
              <a:lstStyle/>
              <a:p>
                <a:r>
                  <a:rPr lang="en-US">
                    <a:noFill/>
                  </a:rPr>
                  <a:t> </a:t>
                </a:r>
              </a:p>
            </p:txBody>
          </p:sp>
        </mc:Fallback>
      </mc:AlternateContent>
    </p:spTree>
    <p:extLst>
      <p:ext uri="{BB962C8B-B14F-4D97-AF65-F5344CB8AC3E}">
        <p14:creationId xmlns:p14="http://schemas.microsoft.com/office/powerpoint/2010/main" val="32020328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648331-5E59-46A5-A183-047E7DFF2787}"/>
              </a:ext>
            </a:extLst>
          </p:cNvPr>
          <p:cNvSpPr>
            <a:spLocks noGrp="1"/>
          </p:cNvSpPr>
          <p:nvPr>
            <p:ph idx="1"/>
          </p:nvPr>
        </p:nvSpPr>
        <p:spPr>
          <a:xfrm>
            <a:off x="499872" y="591185"/>
            <a:ext cx="10515600" cy="1137031"/>
          </a:xfrm>
        </p:spPr>
        <p:txBody>
          <a:bodyPr>
            <a:normAutofit fontScale="85000" lnSpcReduction="20000"/>
          </a:bodyPr>
          <a:lstStyle/>
          <a:p>
            <a:pPr marL="0" indent="0">
              <a:buNone/>
            </a:pPr>
            <a:r>
              <a:rPr lang="en-US" b="1" dirty="0"/>
              <a:t>Purpose of the Test</a:t>
            </a:r>
          </a:p>
          <a:p>
            <a:pPr marL="0" indent="0">
              <a:buNone/>
            </a:pPr>
            <a:r>
              <a:rPr lang="en-US" dirty="0"/>
              <a:t>   Is there a relationship between two categorical variables?</a:t>
            </a:r>
          </a:p>
          <a:p>
            <a:pPr marL="0" indent="0">
              <a:buNone/>
            </a:pPr>
            <a:r>
              <a:rPr lang="en-US" dirty="0"/>
              <a:t>   Example: </a:t>
            </a:r>
            <a:r>
              <a:rPr lang="en-US" b="1" dirty="0"/>
              <a:t>Gender vs Product Preference</a:t>
            </a:r>
          </a:p>
        </p:txBody>
      </p:sp>
      <p:sp>
        <p:nvSpPr>
          <p:cNvPr id="5" name="TextBox 4">
            <a:extLst>
              <a:ext uri="{FF2B5EF4-FFF2-40B4-BE49-F238E27FC236}">
                <a16:creationId xmlns:a16="http://schemas.microsoft.com/office/drawing/2014/main" id="{1424447F-3CC4-1D07-7459-0578C2758214}"/>
              </a:ext>
            </a:extLst>
          </p:cNvPr>
          <p:cNvSpPr txBox="1"/>
          <p:nvPr/>
        </p:nvSpPr>
        <p:spPr>
          <a:xfrm>
            <a:off x="834390" y="2099995"/>
            <a:ext cx="6094476" cy="646331"/>
          </a:xfrm>
          <a:prstGeom prst="rect">
            <a:avLst/>
          </a:prstGeom>
          <a:noFill/>
        </p:spPr>
        <p:txBody>
          <a:bodyPr wrap="square">
            <a:spAutoFit/>
          </a:bodyPr>
          <a:lstStyle/>
          <a:p>
            <a:pPr>
              <a:buNone/>
            </a:pPr>
            <a:r>
              <a:rPr lang="en-US" dirty="0"/>
              <a:t>If the variables are independent, one variable does not affect the other.</a:t>
            </a:r>
          </a:p>
        </p:txBody>
      </p:sp>
      <p:graphicFrame>
        <p:nvGraphicFramePr>
          <p:cNvPr id="6" name="Table 5">
            <a:extLst>
              <a:ext uri="{FF2B5EF4-FFF2-40B4-BE49-F238E27FC236}">
                <a16:creationId xmlns:a16="http://schemas.microsoft.com/office/drawing/2014/main" id="{73C1835C-958B-D449-AD5E-8144C30755DA}"/>
              </a:ext>
            </a:extLst>
          </p:cNvPr>
          <p:cNvGraphicFramePr>
            <a:graphicFrameLocks noGrp="1"/>
          </p:cNvGraphicFramePr>
          <p:nvPr>
            <p:extLst>
              <p:ext uri="{D42A27DB-BD31-4B8C-83A1-F6EECF244321}">
                <p14:modId xmlns:p14="http://schemas.microsoft.com/office/powerpoint/2010/main" val="3124996508"/>
              </p:ext>
            </p:extLst>
          </p:nvPr>
        </p:nvGraphicFramePr>
        <p:xfrm>
          <a:off x="834390" y="3013742"/>
          <a:ext cx="10515600" cy="1463040"/>
        </p:xfrm>
        <a:graphic>
          <a:graphicData uri="http://schemas.openxmlformats.org/drawingml/2006/table">
            <a:tbl>
              <a:tblPr/>
              <a:tblGrid>
                <a:gridCol w="2628900">
                  <a:extLst>
                    <a:ext uri="{9D8B030D-6E8A-4147-A177-3AD203B41FA5}">
                      <a16:colId xmlns:a16="http://schemas.microsoft.com/office/drawing/2014/main" val="2679463738"/>
                    </a:ext>
                  </a:extLst>
                </a:gridCol>
                <a:gridCol w="2628900">
                  <a:extLst>
                    <a:ext uri="{9D8B030D-6E8A-4147-A177-3AD203B41FA5}">
                      <a16:colId xmlns:a16="http://schemas.microsoft.com/office/drawing/2014/main" val="1977114440"/>
                    </a:ext>
                  </a:extLst>
                </a:gridCol>
                <a:gridCol w="2628900">
                  <a:extLst>
                    <a:ext uri="{9D8B030D-6E8A-4147-A177-3AD203B41FA5}">
                      <a16:colId xmlns:a16="http://schemas.microsoft.com/office/drawing/2014/main" val="2682924229"/>
                    </a:ext>
                  </a:extLst>
                </a:gridCol>
                <a:gridCol w="2628900">
                  <a:extLst>
                    <a:ext uri="{9D8B030D-6E8A-4147-A177-3AD203B41FA5}">
                      <a16:colId xmlns:a16="http://schemas.microsoft.com/office/drawing/2014/main" val="747685090"/>
                    </a:ext>
                  </a:extLst>
                </a:gridCol>
              </a:tblGrid>
              <a:tr h="0">
                <a:tc>
                  <a:txBody>
                    <a:bodyPr/>
                    <a:lstStyle/>
                    <a:p>
                      <a:pPr>
                        <a:buNone/>
                      </a:pPr>
                      <a:endParaRPr lang="en-US"/>
                    </a:p>
                  </a:txBody>
                  <a:tcPr anchor="ctr">
                    <a:lnL>
                      <a:noFill/>
                    </a:lnL>
                    <a:lnR>
                      <a:noFill/>
                    </a:lnR>
                    <a:lnT>
                      <a:noFill/>
                    </a:lnT>
                    <a:lnB>
                      <a:noFill/>
                    </a:lnB>
                    <a:noFill/>
                  </a:tcPr>
                </a:tc>
                <a:tc>
                  <a:txBody>
                    <a:bodyPr/>
                    <a:lstStyle/>
                    <a:p>
                      <a:pPr>
                        <a:buNone/>
                      </a:pPr>
                      <a:r>
                        <a:rPr lang="en-US"/>
                        <a:t>Tea</a:t>
                      </a:r>
                    </a:p>
                  </a:txBody>
                  <a:tcPr anchor="ctr">
                    <a:lnL>
                      <a:noFill/>
                    </a:lnL>
                    <a:lnR>
                      <a:noFill/>
                    </a:lnR>
                    <a:lnT>
                      <a:noFill/>
                    </a:lnT>
                    <a:lnB>
                      <a:noFill/>
                    </a:lnB>
                    <a:noFill/>
                  </a:tcPr>
                </a:tc>
                <a:tc>
                  <a:txBody>
                    <a:bodyPr/>
                    <a:lstStyle/>
                    <a:p>
                      <a:pPr>
                        <a:buNone/>
                      </a:pPr>
                      <a:r>
                        <a:rPr lang="en-US"/>
                        <a:t>Coffee</a:t>
                      </a:r>
                    </a:p>
                  </a:txBody>
                  <a:tcPr anchor="ctr">
                    <a:lnL>
                      <a:noFill/>
                    </a:lnL>
                    <a:lnR>
                      <a:noFill/>
                    </a:lnR>
                    <a:lnT>
                      <a:noFill/>
                    </a:lnT>
                    <a:lnB>
                      <a:noFill/>
                    </a:lnB>
                    <a:noFill/>
                  </a:tcPr>
                </a:tc>
                <a:tc>
                  <a:txBody>
                    <a:bodyPr/>
                    <a:lstStyle/>
                    <a:p>
                      <a:pPr>
                        <a:buNone/>
                      </a:pPr>
                      <a:r>
                        <a:rPr lang="en-US"/>
                        <a:t>Total</a:t>
                      </a:r>
                    </a:p>
                  </a:txBody>
                  <a:tcPr anchor="ctr">
                    <a:lnL>
                      <a:noFill/>
                    </a:lnL>
                    <a:lnR>
                      <a:noFill/>
                    </a:lnR>
                    <a:lnT>
                      <a:noFill/>
                    </a:lnT>
                    <a:lnB>
                      <a:noFill/>
                    </a:lnB>
                    <a:noFill/>
                  </a:tcPr>
                </a:tc>
                <a:extLst>
                  <a:ext uri="{0D108BD9-81ED-4DB2-BD59-A6C34878D82A}">
                    <a16:rowId xmlns:a16="http://schemas.microsoft.com/office/drawing/2014/main" val="240826830"/>
                  </a:ext>
                </a:extLst>
              </a:tr>
              <a:tr h="0">
                <a:tc>
                  <a:txBody>
                    <a:bodyPr/>
                    <a:lstStyle/>
                    <a:p>
                      <a:pPr>
                        <a:buNone/>
                      </a:pPr>
                      <a:r>
                        <a:rPr lang="en-US"/>
                        <a:t>Male</a:t>
                      </a:r>
                    </a:p>
                  </a:txBody>
                  <a:tcPr anchor="ctr">
                    <a:lnL>
                      <a:noFill/>
                    </a:lnL>
                    <a:lnR>
                      <a:noFill/>
                    </a:lnR>
                    <a:lnT>
                      <a:noFill/>
                    </a:lnT>
                    <a:lnB>
                      <a:noFill/>
                    </a:lnB>
                    <a:noFill/>
                  </a:tcPr>
                </a:tc>
                <a:tc>
                  <a:txBody>
                    <a:bodyPr/>
                    <a:lstStyle/>
                    <a:p>
                      <a:pPr>
                        <a:buNone/>
                      </a:pPr>
                      <a:r>
                        <a:rPr lang="en-US"/>
                        <a:t>30</a:t>
                      </a:r>
                    </a:p>
                  </a:txBody>
                  <a:tcPr anchor="ctr">
                    <a:lnL>
                      <a:noFill/>
                    </a:lnL>
                    <a:lnR>
                      <a:noFill/>
                    </a:lnR>
                    <a:lnT>
                      <a:noFill/>
                    </a:lnT>
                    <a:lnB>
                      <a:noFill/>
                    </a:lnB>
                    <a:noFill/>
                  </a:tcPr>
                </a:tc>
                <a:tc>
                  <a:txBody>
                    <a:bodyPr/>
                    <a:lstStyle/>
                    <a:p>
                      <a:pPr>
                        <a:buNone/>
                      </a:pPr>
                      <a:r>
                        <a:rPr lang="en-US"/>
                        <a:t>20</a:t>
                      </a:r>
                    </a:p>
                  </a:txBody>
                  <a:tcPr anchor="ctr">
                    <a:lnL>
                      <a:noFill/>
                    </a:lnL>
                    <a:lnR>
                      <a:noFill/>
                    </a:lnR>
                    <a:lnT>
                      <a:noFill/>
                    </a:lnT>
                    <a:lnB>
                      <a:noFill/>
                    </a:lnB>
                    <a:noFill/>
                  </a:tcPr>
                </a:tc>
                <a:tc>
                  <a:txBody>
                    <a:bodyPr/>
                    <a:lstStyle/>
                    <a:p>
                      <a:pPr>
                        <a:buNone/>
                      </a:pPr>
                      <a:r>
                        <a:rPr lang="en-US"/>
                        <a:t>50</a:t>
                      </a:r>
                    </a:p>
                  </a:txBody>
                  <a:tcPr anchor="ctr">
                    <a:lnL>
                      <a:noFill/>
                    </a:lnL>
                    <a:lnR>
                      <a:noFill/>
                    </a:lnR>
                    <a:lnT>
                      <a:noFill/>
                    </a:lnT>
                    <a:lnB>
                      <a:noFill/>
                    </a:lnB>
                    <a:noFill/>
                  </a:tcPr>
                </a:tc>
                <a:extLst>
                  <a:ext uri="{0D108BD9-81ED-4DB2-BD59-A6C34878D82A}">
                    <a16:rowId xmlns:a16="http://schemas.microsoft.com/office/drawing/2014/main" val="2099125140"/>
                  </a:ext>
                </a:extLst>
              </a:tr>
              <a:tr h="0">
                <a:tc>
                  <a:txBody>
                    <a:bodyPr/>
                    <a:lstStyle/>
                    <a:p>
                      <a:pPr>
                        <a:buNone/>
                      </a:pPr>
                      <a:r>
                        <a:rPr lang="en-US"/>
                        <a:t>Female</a:t>
                      </a:r>
                    </a:p>
                  </a:txBody>
                  <a:tcPr anchor="ctr">
                    <a:lnL>
                      <a:noFill/>
                    </a:lnL>
                    <a:lnR>
                      <a:noFill/>
                    </a:lnR>
                    <a:lnT>
                      <a:noFill/>
                    </a:lnT>
                    <a:lnB>
                      <a:noFill/>
                    </a:lnB>
                    <a:noFill/>
                  </a:tcPr>
                </a:tc>
                <a:tc>
                  <a:txBody>
                    <a:bodyPr/>
                    <a:lstStyle/>
                    <a:p>
                      <a:pPr>
                        <a:buNone/>
                      </a:pPr>
                      <a:r>
                        <a:rPr lang="en-US"/>
                        <a:t>10</a:t>
                      </a:r>
                    </a:p>
                  </a:txBody>
                  <a:tcPr anchor="ctr">
                    <a:lnL>
                      <a:noFill/>
                    </a:lnL>
                    <a:lnR>
                      <a:noFill/>
                    </a:lnR>
                    <a:lnT>
                      <a:noFill/>
                    </a:lnT>
                    <a:lnB>
                      <a:noFill/>
                    </a:lnB>
                    <a:noFill/>
                  </a:tcPr>
                </a:tc>
                <a:tc>
                  <a:txBody>
                    <a:bodyPr/>
                    <a:lstStyle/>
                    <a:p>
                      <a:pPr>
                        <a:buNone/>
                      </a:pPr>
                      <a:r>
                        <a:rPr lang="en-US"/>
                        <a:t>40</a:t>
                      </a:r>
                    </a:p>
                  </a:txBody>
                  <a:tcPr anchor="ctr">
                    <a:lnL>
                      <a:noFill/>
                    </a:lnL>
                    <a:lnR>
                      <a:noFill/>
                    </a:lnR>
                    <a:lnT>
                      <a:noFill/>
                    </a:lnT>
                    <a:lnB>
                      <a:noFill/>
                    </a:lnB>
                    <a:noFill/>
                  </a:tcPr>
                </a:tc>
                <a:tc>
                  <a:txBody>
                    <a:bodyPr/>
                    <a:lstStyle/>
                    <a:p>
                      <a:pPr>
                        <a:buNone/>
                      </a:pPr>
                      <a:r>
                        <a:rPr lang="en-US"/>
                        <a:t>50</a:t>
                      </a:r>
                    </a:p>
                  </a:txBody>
                  <a:tcPr anchor="ctr">
                    <a:lnL>
                      <a:noFill/>
                    </a:lnL>
                    <a:lnR>
                      <a:noFill/>
                    </a:lnR>
                    <a:lnT>
                      <a:noFill/>
                    </a:lnT>
                    <a:lnB>
                      <a:noFill/>
                    </a:lnB>
                    <a:noFill/>
                  </a:tcPr>
                </a:tc>
                <a:extLst>
                  <a:ext uri="{0D108BD9-81ED-4DB2-BD59-A6C34878D82A}">
                    <a16:rowId xmlns:a16="http://schemas.microsoft.com/office/drawing/2014/main" val="14512774"/>
                  </a:ext>
                </a:extLst>
              </a:tr>
              <a:tr h="0">
                <a:tc>
                  <a:txBody>
                    <a:bodyPr/>
                    <a:lstStyle/>
                    <a:p>
                      <a:pPr>
                        <a:buNone/>
                      </a:pPr>
                      <a:r>
                        <a:rPr lang="en-US" b="1"/>
                        <a:t>Total</a:t>
                      </a:r>
                      <a:endParaRPr lang="en-US"/>
                    </a:p>
                  </a:txBody>
                  <a:tcPr anchor="ctr">
                    <a:lnL>
                      <a:noFill/>
                    </a:lnL>
                    <a:lnR>
                      <a:noFill/>
                    </a:lnR>
                    <a:lnT>
                      <a:noFill/>
                    </a:lnT>
                    <a:lnB>
                      <a:noFill/>
                    </a:lnB>
                    <a:noFill/>
                  </a:tcPr>
                </a:tc>
                <a:tc>
                  <a:txBody>
                    <a:bodyPr/>
                    <a:lstStyle/>
                    <a:p>
                      <a:pPr>
                        <a:buNone/>
                      </a:pPr>
                      <a:r>
                        <a:rPr lang="en-US"/>
                        <a:t>40</a:t>
                      </a:r>
                    </a:p>
                  </a:txBody>
                  <a:tcPr anchor="ctr">
                    <a:lnL>
                      <a:noFill/>
                    </a:lnL>
                    <a:lnR>
                      <a:noFill/>
                    </a:lnR>
                    <a:lnT>
                      <a:noFill/>
                    </a:lnT>
                    <a:lnB>
                      <a:noFill/>
                    </a:lnB>
                    <a:noFill/>
                  </a:tcPr>
                </a:tc>
                <a:tc>
                  <a:txBody>
                    <a:bodyPr/>
                    <a:lstStyle/>
                    <a:p>
                      <a:pPr>
                        <a:buNone/>
                      </a:pPr>
                      <a:r>
                        <a:rPr lang="en-US"/>
                        <a:t>60</a:t>
                      </a:r>
                    </a:p>
                  </a:txBody>
                  <a:tcPr anchor="ctr">
                    <a:lnL>
                      <a:noFill/>
                    </a:lnL>
                    <a:lnR>
                      <a:noFill/>
                    </a:lnR>
                    <a:lnT>
                      <a:noFill/>
                    </a:lnT>
                    <a:lnB>
                      <a:noFill/>
                    </a:lnB>
                    <a:noFill/>
                  </a:tcPr>
                </a:tc>
                <a:tc>
                  <a:txBody>
                    <a:bodyPr/>
                    <a:lstStyle/>
                    <a:p>
                      <a:pPr>
                        <a:buNone/>
                      </a:pPr>
                      <a:r>
                        <a:rPr lang="en-US" dirty="0"/>
                        <a:t>100</a:t>
                      </a:r>
                    </a:p>
                  </a:txBody>
                  <a:tcPr anchor="ctr">
                    <a:lnL>
                      <a:noFill/>
                    </a:lnL>
                    <a:lnR>
                      <a:noFill/>
                    </a:lnR>
                    <a:lnT>
                      <a:noFill/>
                    </a:lnT>
                    <a:lnB>
                      <a:noFill/>
                    </a:lnB>
                    <a:noFill/>
                  </a:tcPr>
                </a:tc>
                <a:extLst>
                  <a:ext uri="{0D108BD9-81ED-4DB2-BD59-A6C34878D82A}">
                    <a16:rowId xmlns:a16="http://schemas.microsoft.com/office/drawing/2014/main" val="1726627227"/>
                  </a:ext>
                </a:extLst>
              </a:tr>
            </a:tbl>
          </a:graphicData>
        </a:graphic>
      </p:graphicFrame>
      <p:sp>
        <p:nvSpPr>
          <p:cNvPr id="8" name="TextBox 7">
            <a:extLst>
              <a:ext uri="{FF2B5EF4-FFF2-40B4-BE49-F238E27FC236}">
                <a16:creationId xmlns:a16="http://schemas.microsoft.com/office/drawing/2014/main" id="{B1F48DE0-0DB0-45D8-A925-3AFFEA4F5674}"/>
              </a:ext>
            </a:extLst>
          </p:cNvPr>
          <p:cNvSpPr txBox="1"/>
          <p:nvPr/>
        </p:nvSpPr>
        <p:spPr>
          <a:xfrm>
            <a:off x="1145286" y="4744198"/>
            <a:ext cx="6094476" cy="646331"/>
          </a:xfrm>
          <a:prstGeom prst="rect">
            <a:avLst/>
          </a:prstGeom>
          <a:noFill/>
        </p:spPr>
        <p:txBody>
          <a:bodyPr wrap="square">
            <a:spAutoFit/>
          </a:bodyPr>
          <a:lstStyle/>
          <a:p>
            <a:pPr>
              <a:buNone/>
            </a:pPr>
            <a:r>
              <a:rPr lang="en-US" dirty="0"/>
              <a:t>We want to know:</a:t>
            </a:r>
          </a:p>
          <a:p>
            <a:pPr>
              <a:buNone/>
            </a:pPr>
            <a:r>
              <a:rPr lang="en-US" dirty="0">
                <a:highlight>
                  <a:srgbClr val="FFFF00"/>
                </a:highlight>
              </a:rPr>
              <a:t>Is beverage preference independent of gender?</a:t>
            </a:r>
          </a:p>
        </p:txBody>
      </p:sp>
    </p:spTree>
    <p:extLst>
      <p:ext uri="{BB962C8B-B14F-4D97-AF65-F5344CB8AC3E}">
        <p14:creationId xmlns:p14="http://schemas.microsoft.com/office/powerpoint/2010/main" val="5546545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048E35F-EA0F-31C8-C895-6F9B832C8EA7}"/>
                  </a:ext>
                </a:extLst>
              </p:cNvPr>
              <p:cNvSpPr>
                <a:spLocks noGrp="1"/>
              </p:cNvSpPr>
              <p:nvPr>
                <p:ph idx="1"/>
              </p:nvPr>
            </p:nvSpPr>
            <p:spPr>
              <a:xfrm>
                <a:off x="573024" y="344297"/>
                <a:ext cx="10515600" cy="4351338"/>
              </a:xfrm>
            </p:spPr>
            <p:txBody>
              <a:bodyPr>
                <a:normAutofit lnSpcReduction="10000"/>
              </a:bodyPr>
              <a:lstStyle/>
              <a:p>
                <a:pPr marL="0" indent="0">
                  <a:buNone/>
                </a:pPr>
                <a:r>
                  <a:rPr lang="en-US" dirty="0">
                    <a:highlight>
                      <a:srgbClr val="FFFF00"/>
                    </a:highlight>
                  </a:rPr>
                  <a:t>Expected Frequence (E)</a:t>
                </a:r>
              </a:p>
              <a:p>
                <a:pPr marL="0" indent="0">
                  <a:buNone/>
                </a:pPr>
                <a:r>
                  <a:rPr lang="en-US" dirty="0"/>
                  <a:t>Expected value:</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𝐸</m:t>
                        </m:r>
                      </m:e>
                      <m:sub>
                        <m:r>
                          <a:rPr lang="ar-AE" i="1">
                            <a:latin typeface="Cambria Math" panose="02040503050406030204" pitchFamily="18" charset="0"/>
                          </a:rPr>
                          <m:t>𝑖𝑗</m:t>
                        </m:r>
                      </m:sub>
                    </m:sSub>
                    <m:r>
                      <a:rPr lang="ar-AE">
                        <a:latin typeface="Cambria Math" panose="02040503050406030204" pitchFamily="18" charset="0"/>
                      </a:rPr>
                      <m:t>=</m:t>
                    </m:r>
                    <m:f>
                      <m:fPr>
                        <m:ctrlPr>
                          <a:rPr lang="ar-AE" i="1">
                            <a:latin typeface="Cambria Math" panose="02040503050406030204" pitchFamily="18" charset="0"/>
                          </a:rPr>
                        </m:ctrlPr>
                      </m:fPr>
                      <m:num>
                        <m:d>
                          <m:dPr>
                            <m:ctrlPr>
                              <a:rPr lang="ar-AE" i="1">
                                <a:latin typeface="Cambria Math" panose="02040503050406030204" pitchFamily="18" charset="0"/>
                              </a:rPr>
                            </m:ctrlPr>
                          </m:dPr>
                          <m:e>
                            <m:r>
                              <a:rPr lang="ar-AE" i="1">
                                <a:latin typeface="Cambria Math" panose="02040503050406030204" pitchFamily="18" charset="0"/>
                              </a:rPr>
                              <m:t>𝑅𝑜𝑤</m:t>
                            </m:r>
                            <m:r>
                              <m:rPr>
                                <m:nor/>
                              </m:rPr>
                              <a:rPr lang="ar-AE" i="1"/>
                              <m:t> </m:t>
                            </m:r>
                            <m:r>
                              <a:rPr lang="ar-AE" i="1">
                                <a:latin typeface="Cambria Math" panose="02040503050406030204" pitchFamily="18" charset="0"/>
                              </a:rPr>
                              <m:t>𝑇𝑜𝑡𝑎𝑙</m:t>
                            </m:r>
                          </m:e>
                        </m:d>
                        <m:d>
                          <m:dPr>
                            <m:ctrlPr>
                              <a:rPr lang="ar-AE" i="1">
                                <a:latin typeface="Cambria Math" panose="02040503050406030204" pitchFamily="18" charset="0"/>
                              </a:rPr>
                            </m:ctrlPr>
                          </m:dPr>
                          <m:e>
                            <m:r>
                              <a:rPr lang="ar-AE" i="1">
                                <a:latin typeface="Cambria Math" panose="02040503050406030204" pitchFamily="18" charset="0"/>
                              </a:rPr>
                              <m:t>𝐶𝑜𝑙𝑢𝑚𝑛</m:t>
                            </m:r>
                            <m:r>
                              <m:rPr>
                                <m:nor/>
                              </m:rPr>
                              <a:rPr lang="ar-AE" i="1"/>
                              <m:t> </m:t>
                            </m:r>
                            <m:r>
                              <a:rPr lang="ar-AE" i="1">
                                <a:latin typeface="Cambria Math" panose="02040503050406030204" pitchFamily="18" charset="0"/>
                              </a:rPr>
                              <m:t>𝑇𝑜𝑡𝑎𝑙</m:t>
                            </m:r>
                          </m:e>
                        </m:d>
                      </m:num>
                      <m:den>
                        <m:r>
                          <a:rPr lang="ar-AE" i="1">
                            <a:latin typeface="Cambria Math" panose="02040503050406030204" pitchFamily="18" charset="0"/>
                          </a:rPr>
                          <m:t>𝐺𝑟𝑎𝑛𝑑</m:t>
                        </m:r>
                        <m:r>
                          <m:rPr>
                            <m:nor/>
                          </m:rPr>
                          <a:rPr lang="ar-AE" i="1"/>
                          <m:t> </m:t>
                        </m:r>
                        <m:r>
                          <a:rPr lang="ar-AE" i="1">
                            <a:latin typeface="Cambria Math" panose="02040503050406030204" pitchFamily="18" charset="0"/>
                          </a:rPr>
                          <m:t>𝑇𝑜𝑡𝑎𝑙</m:t>
                        </m:r>
                      </m:den>
                    </m:f>
                  </m:oMath>
                </a14:m>
                <a:endParaRPr lang="ar-AE" b="0" dirty="0"/>
              </a:p>
              <a:p>
                <a:pPr marL="0" indent="0">
                  <a:buNone/>
                </a:pPr>
                <a:endParaRPr lang="en-US" dirty="0"/>
              </a:p>
              <a:p>
                <a:r>
                  <a:rPr lang="en-US" dirty="0"/>
                  <a:t>Expected value for Male–Tea, </a:t>
                </a:r>
                <a:r>
                  <a:rPr lang="en-US" dirty="0">
                    <a:highlight>
                      <a:srgbClr val="FFFF00"/>
                    </a:highlight>
                  </a:rPr>
                  <a:t>E Male coffee=?</a:t>
                </a:r>
              </a:p>
              <a:p>
                <a14:m>
                  <m:oMath xmlns:m="http://schemas.openxmlformats.org/officeDocument/2006/math">
                    <m:r>
                      <a:rPr lang="en-US" i="1">
                        <a:latin typeface="Cambria Math" panose="02040503050406030204" pitchFamily="18" charset="0"/>
                      </a:rPr>
                      <m:t>𝐸</m:t>
                    </m:r>
                    <m:r>
                      <a:rPr lang="en-US">
                        <a:latin typeface="Cambria Math" panose="02040503050406030204" pitchFamily="18" charset="0"/>
                      </a:rPr>
                      <m:t>=</m:t>
                    </m:r>
                    <m:f>
                      <m:fPr>
                        <m:ctrlPr>
                          <a:rPr lang="ar-AE" i="1">
                            <a:latin typeface="Cambria Math" panose="02040503050406030204" pitchFamily="18" charset="0"/>
                          </a:rPr>
                        </m:ctrlPr>
                      </m:fPr>
                      <m:num>
                        <m:d>
                          <m:dPr>
                            <m:ctrlPr>
                              <a:rPr lang="ar-AE" i="1">
                                <a:latin typeface="Cambria Math" panose="02040503050406030204" pitchFamily="18" charset="0"/>
                              </a:rPr>
                            </m:ctrlPr>
                          </m:dPr>
                          <m:e>
                            <m:r>
                              <a:rPr lang="ar-AE">
                                <a:latin typeface="Cambria Math" panose="02040503050406030204" pitchFamily="18" charset="0"/>
                              </a:rPr>
                              <m:t>50</m:t>
                            </m:r>
                          </m:e>
                        </m:d>
                        <m:d>
                          <m:dPr>
                            <m:ctrlPr>
                              <a:rPr lang="ar-AE" i="1">
                                <a:latin typeface="Cambria Math" panose="02040503050406030204" pitchFamily="18" charset="0"/>
                              </a:rPr>
                            </m:ctrlPr>
                          </m:dPr>
                          <m:e>
                            <m:r>
                              <a:rPr lang="ar-AE">
                                <a:latin typeface="Cambria Math" panose="02040503050406030204" pitchFamily="18" charset="0"/>
                              </a:rPr>
                              <m:t>40</m:t>
                            </m:r>
                          </m:e>
                        </m:d>
                      </m:num>
                      <m:den>
                        <m:r>
                          <a:rPr lang="ar-AE">
                            <a:latin typeface="Cambria Math" panose="02040503050406030204" pitchFamily="18" charset="0"/>
                          </a:rPr>
                          <m:t>100</m:t>
                        </m:r>
                      </m:den>
                    </m:f>
                    <m:r>
                      <a:rPr lang="ar-AE">
                        <a:latin typeface="Cambria Math" panose="02040503050406030204" pitchFamily="18" charset="0"/>
                      </a:rPr>
                      <m:t>=</m:t>
                    </m:r>
                    <m:r>
                      <a:rPr lang="ar-AE">
                        <a:latin typeface="Cambria Math" panose="02040503050406030204" pitchFamily="18" charset="0"/>
                      </a:rPr>
                      <m:t>20</m:t>
                    </m:r>
                  </m:oMath>
                </a14:m>
                <a:r>
                  <a:rPr lang="en-US" dirty="0"/>
                  <a:t>                           </a:t>
                </a:r>
                <a:r>
                  <a:rPr lang="en-US" dirty="0">
                    <a:highlight>
                      <a:srgbClr val="FFFF00"/>
                    </a:highlight>
                  </a:rPr>
                  <a:t>E Female Coffee</a:t>
                </a:r>
                <a:endParaRPr lang="ar-AE" dirty="0">
                  <a:highlight>
                    <a:srgbClr val="FFFF00"/>
                  </a:highlight>
                </a:endParaRPr>
              </a:p>
              <a:p>
                <a:pPr marL="0" indent="0">
                  <a:buNone/>
                </a:pPr>
                <a:r>
                  <a:rPr lang="en-US" dirty="0"/>
                  <a:t>Expected value for Male–Coffee</a:t>
                </a:r>
              </a:p>
              <a:p>
                <a:pPr marL="0" indent="0">
                  <a:buNone/>
                </a:pPr>
                <a:r>
                  <a:rPr lang="en-US" dirty="0"/>
                  <a:t>E=30</a:t>
                </a:r>
              </a:p>
            </p:txBody>
          </p:sp>
        </mc:Choice>
        <mc:Fallback xmlns="">
          <p:sp>
            <p:nvSpPr>
              <p:cNvPr id="3" name="Content Placeholder 2">
                <a:extLst>
                  <a:ext uri="{FF2B5EF4-FFF2-40B4-BE49-F238E27FC236}">
                    <a16:creationId xmlns:a16="http://schemas.microsoft.com/office/drawing/2014/main" id="{2048E35F-EA0F-31C8-C895-6F9B832C8EA7}"/>
                  </a:ext>
                </a:extLst>
              </p:cNvPr>
              <p:cNvSpPr>
                <a:spLocks noGrp="1" noRot="1" noChangeAspect="1" noMove="1" noResize="1" noEditPoints="1" noAdjustHandles="1" noChangeArrowheads="1" noChangeShapeType="1" noTextEdit="1"/>
              </p:cNvSpPr>
              <p:nvPr>
                <p:ph idx="1"/>
              </p:nvPr>
            </p:nvSpPr>
            <p:spPr>
              <a:xfrm>
                <a:off x="573024" y="344297"/>
                <a:ext cx="10515600" cy="4351338"/>
              </a:xfrm>
              <a:blipFill>
                <a:blip r:embed="rId2"/>
                <a:stretch>
                  <a:fillRect l="-1159" t="-3081"/>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E591FB62-635C-B7C0-558E-066379918A46}"/>
              </a:ext>
            </a:extLst>
          </p:cNvPr>
          <p:cNvGraphicFramePr>
            <a:graphicFrameLocks noGrp="1"/>
          </p:cNvGraphicFramePr>
          <p:nvPr>
            <p:extLst>
              <p:ext uri="{D42A27DB-BD31-4B8C-83A1-F6EECF244321}">
                <p14:modId xmlns:p14="http://schemas.microsoft.com/office/powerpoint/2010/main" val="793583209"/>
              </p:ext>
            </p:extLst>
          </p:nvPr>
        </p:nvGraphicFramePr>
        <p:xfrm>
          <a:off x="838200" y="5149610"/>
          <a:ext cx="8662416" cy="1097280"/>
        </p:xfrm>
        <a:graphic>
          <a:graphicData uri="http://schemas.openxmlformats.org/drawingml/2006/table">
            <a:tbl>
              <a:tblPr/>
              <a:tblGrid>
                <a:gridCol w="2887472">
                  <a:extLst>
                    <a:ext uri="{9D8B030D-6E8A-4147-A177-3AD203B41FA5}">
                      <a16:colId xmlns:a16="http://schemas.microsoft.com/office/drawing/2014/main" val="1630722814"/>
                    </a:ext>
                  </a:extLst>
                </a:gridCol>
                <a:gridCol w="2887472">
                  <a:extLst>
                    <a:ext uri="{9D8B030D-6E8A-4147-A177-3AD203B41FA5}">
                      <a16:colId xmlns:a16="http://schemas.microsoft.com/office/drawing/2014/main" val="955772300"/>
                    </a:ext>
                  </a:extLst>
                </a:gridCol>
                <a:gridCol w="2887472">
                  <a:extLst>
                    <a:ext uri="{9D8B030D-6E8A-4147-A177-3AD203B41FA5}">
                      <a16:colId xmlns:a16="http://schemas.microsoft.com/office/drawing/2014/main" val="2046704203"/>
                    </a:ext>
                  </a:extLst>
                </a:gridCol>
              </a:tblGrid>
              <a:tr h="0">
                <a:tc>
                  <a:txBody>
                    <a:bodyPr/>
                    <a:lstStyle/>
                    <a:p>
                      <a:pPr algn="ctr">
                        <a:buNone/>
                      </a:pPr>
                      <a:endParaRPr lang="en-US"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lgn="ctr">
                        <a:buNone/>
                      </a:pPr>
                      <a:r>
                        <a:rPr lang="en-US">
                          <a:latin typeface="Times New Roman" panose="02020603050405020304" pitchFamily="18" charset="0"/>
                          <a:cs typeface="Times New Roman" panose="02020603050405020304" pitchFamily="18" charset="0"/>
                        </a:rPr>
                        <a:t>Tea</a:t>
                      </a:r>
                    </a:p>
                  </a:txBody>
                  <a:tcPr anchor="ctr">
                    <a:lnL>
                      <a:noFill/>
                    </a:lnL>
                    <a:lnR>
                      <a:noFill/>
                    </a:lnR>
                    <a:lnT>
                      <a:noFill/>
                    </a:lnT>
                    <a:lnB>
                      <a:noFill/>
                    </a:lnB>
                    <a:noFill/>
                  </a:tcPr>
                </a:tc>
                <a:tc>
                  <a:txBody>
                    <a:bodyPr/>
                    <a:lstStyle/>
                    <a:p>
                      <a:pPr algn="ctr">
                        <a:buNone/>
                      </a:pPr>
                      <a:r>
                        <a:rPr lang="en-US">
                          <a:latin typeface="Times New Roman" panose="02020603050405020304" pitchFamily="18" charset="0"/>
                          <a:cs typeface="Times New Roman" panose="02020603050405020304" pitchFamily="18" charset="0"/>
                        </a:rPr>
                        <a:t>Coffee</a:t>
                      </a:r>
                    </a:p>
                  </a:txBody>
                  <a:tcPr anchor="ctr">
                    <a:lnL>
                      <a:noFill/>
                    </a:lnL>
                    <a:lnR>
                      <a:noFill/>
                    </a:lnR>
                    <a:lnT>
                      <a:noFill/>
                    </a:lnT>
                    <a:lnB>
                      <a:noFill/>
                    </a:lnB>
                    <a:noFill/>
                  </a:tcPr>
                </a:tc>
                <a:extLst>
                  <a:ext uri="{0D108BD9-81ED-4DB2-BD59-A6C34878D82A}">
                    <a16:rowId xmlns:a16="http://schemas.microsoft.com/office/drawing/2014/main" val="992895200"/>
                  </a:ext>
                </a:extLst>
              </a:tr>
              <a:tr h="0">
                <a:tc>
                  <a:txBody>
                    <a:bodyPr/>
                    <a:lstStyle/>
                    <a:p>
                      <a:pPr algn="ctr">
                        <a:buNone/>
                      </a:pPr>
                      <a:r>
                        <a:rPr lang="en-US" dirty="0">
                          <a:latin typeface="Times New Roman" panose="02020603050405020304" pitchFamily="18" charset="0"/>
                          <a:cs typeface="Times New Roman" panose="02020603050405020304" pitchFamily="18" charset="0"/>
                        </a:rPr>
                        <a:t>Male</a:t>
                      </a:r>
                    </a:p>
                  </a:txBody>
                  <a:tcPr anchor="ctr">
                    <a:lnL>
                      <a:noFill/>
                    </a:lnL>
                    <a:lnR>
                      <a:noFill/>
                    </a:lnR>
                    <a:lnT>
                      <a:noFill/>
                    </a:lnT>
                    <a:lnB>
                      <a:noFill/>
                    </a:lnB>
                    <a:noFill/>
                  </a:tcPr>
                </a:tc>
                <a:tc>
                  <a:txBody>
                    <a:bodyPr/>
                    <a:lstStyle/>
                    <a:p>
                      <a:pPr algn="ctr">
                        <a:buNone/>
                      </a:pPr>
                      <a:r>
                        <a:rPr lang="en-US">
                          <a:latin typeface="Times New Roman" panose="02020603050405020304" pitchFamily="18" charset="0"/>
                          <a:cs typeface="Times New Roman" panose="02020603050405020304" pitchFamily="18" charset="0"/>
                        </a:rPr>
                        <a:t>20</a:t>
                      </a:r>
                    </a:p>
                  </a:txBody>
                  <a:tcPr anchor="ctr">
                    <a:lnL>
                      <a:noFill/>
                    </a:lnL>
                    <a:lnR>
                      <a:noFill/>
                    </a:lnR>
                    <a:lnT>
                      <a:noFill/>
                    </a:lnT>
                    <a:lnB>
                      <a:noFill/>
                    </a:lnB>
                    <a:noFill/>
                  </a:tcPr>
                </a:tc>
                <a:tc>
                  <a:txBody>
                    <a:bodyPr/>
                    <a:lstStyle/>
                    <a:p>
                      <a:pPr algn="ctr">
                        <a:buNone/>
                      </a:pPr>
                      <a:r>
                        <a:rPr lang="en-US">
                          <a:latin typeface="Times New Roman" panose="02020603050405020304" pitchFamily="18" charset="0"/>
                          <a:cs typeface="Times New Roman" panose="02020603050405020304" pitchFamily="18" charset="0"/>
                        </a:rPr>
                        <a:t>30</a:t>
                      </a:r>
                    </a:p>
                  </a:txBody>
                  <a:tcPr anchor="ctr">
                    <a:lnL>
                      <a:noFill/>
                    </a:lnL>
                    <a:lnR>
                      <a:noFill/>
                    </a:lnR>
                    <a:lnT>
                      <a:noFill/>
                    </a:lnT>
                    <a:lnB>
                      <a:noFill/>
                    </a:lnB>
                    <a:noFill/>
                  </a:tcPr>
                </a:tc>
                <a:extLst>
                  <a:ext uri="{0D108BD9-81ED-4DB2-BD59-A6C34878D82A}">
                    <a16:rowId xmlns:a16="http://schemas.microsoft.com/office/drawing/2014/main" val="2199697206"/>
                  </a:ext>
                </a:extLst>
              </a:tr>
              <a:tr h="0">
                <a:tc>
                  <a:txBody>
                    <a:bodyPr/>
                    <a:lstStyle/>
                    <a:p>
                      <a:pPr algn="ctr">
                        <a:buNone/>
                      </a:pPr>
                      <a:r>
                        <a:rPr lang="en-US" dirty="0">
                          <a:latin typeface="Times New Roman" panose="02020603050405020304" pitchFamily="18" charset="0"/>
                          <a:cs typeface="Times New Roman" panose="02020603050405020304" pitchFamily="18" charset="0"/>
                        </a:rPr>
                        <a:t>Female</a:t>
                      </a:r>
                    </a:p>
                  </a:txBody>
                  <a:tcPr anchor="ctr">
                    <a:lnL>
                      <a:noFill/>
                    </a:lnL>
                    <a:lnR>
                      <a:noFill/>
                    </a:lnR>
                    <a:lnT>
                      <a:noFill/>
                    </a:lnT>
                    <a:lnB>
                      <a:noFill/>
                    </a:lnB>
                    <a:noFill/>
                  </a:tcPr>
                </a:tc>
                <a:tc>
                  <a:txBody>
                    <a:bodyPr/>
                    <a:lstStyle/>
                    <a:p>
                      <a:pPr algn="ctr">
                        <a:buNone/>
                      </a:pPr>
                      <a:r>
                        <a:rPr lang="en-US" dirty="0">
                          <a:latin typeface="Times New Roman" panose="02020603050405020304" pitchFamily="18" charset="0"/>
                          <a:cs typeface="Times New Roman" panose="02020603050405020304" pitchFamily="18" charset="0"/>
                        </a:rPr>
                        <a:t>20</a:t>
                      </a:r>
                    </a:p>
                  </a:txBody>
                  <a:tcPr anchor="ctr">
                    <a:lnL>
                      <a:noFill/>
                    </a:lnL>
                    <a:lnR>
                      <a:noFill/>
                    </a:lnR>
                    <a:lnT>
                      <a:noFill/>
                    </a:lnT>
                    <a:lnB>
                      <a:noFill/>
                    </a:lnB>
                    <a:noFill/>
                  </a:tcPr>
                </a:tc>
                <a:tc>
                  <a:txBody>
                    <a:bodyPr/>
                    <a:lstStyle/>
                    <a:p>
                      <a:pPr algn="ctr">
                        <a:buNone/>
                      </a:pPr>
                      <a:r>
                        <a:rPr lang="en-US" dirty="0">
                          <a:latin typeface="Times New Roman" panose="02020603050405020304" pitchFamily="18" charset="0"/>
                          <a:cs typeface="Times New Roman" panose="02020603050405020304" pitchFamily="18" charset="0"/>
                        </a:rPr>
                        <a:t>30</a:t>
                      </a:r>
                    </a:p>
                  </a:txBody>
                  <a:tcPr anchor="ctr">
                    <a:lnL>
                      <a:noFill/>
                    </a:lnL>
                    <a:lnR>
                      <a:noFill/>
                    </a:lnR>
                    <a:lnT>
                      <a:noFill/>
                    </a:lnT>
                    <a:lnB>
                      <a:noFill/>
                    </a:lnB>
                    <a:noFill/>
                  </a:tcPr>
                </a:tc>
                <a:extLst>
                  <a:ext uri="{0D108BD9-81ED-4DB2-BD59-A6C34878D82A}">
                    <a16:rowId xmlns:a16="http://schemas.microsoft.com/office/drawing/2014/main" val="2439578695"/>
                  </a:ext>
                </a:extLst>
              </a:tr>
            </a:tbl>
          </a:graphicData>
        </a:graphic>
      </p:graphicFrame>
      <p:sp>
        <p:nvSpPr>
          <p:cNvPr id="5" name="TextBox 4">
            <a:extLst>
              <a:ext uri="{FF2B5EF4-FFF2-40B4-BE49-F238E27FC236}">
                <a16:creationId xmlns:a16="http://schemas.microsoft.com/office/drawing/2014/main" id="{4F6133C4-E95E-DF6B-1E10-3D2BD0E7977B}"/>
              </a:ext>
            </a:extLst>
          </p:cNvPr>
          <p:cNvSpPr txBox="1"/>
          <p:nvPr/>
        </p:nvSpPr>
        <p:spPr>
          <a:xfrm>
            <a:off x="1679448" y="4780278"/>
            <a:ext cx="2316480" cy="369332"/>
          </a:xfrm>
          <a:prstGeom prst="rect">
            <a:avLst/>
          </a:prstGeom>
          <a:noFill/>
        </p:spPr>
        <p:txBody>
          <a:bodyPr wrap="square" rtlCol="0">
            <a:spAutoFit/>
          </a:bodyPr>
          <a:lstStyle/>
          <a:p>
            <a:pPr algn="ctr"/>
            <a:r>
              <a:rPr lang="en-US" dirty="0">
                <a:highlight>
                  <a:srgbClr val="FFFF00"/>
                </a:highlight>
              </a:rPr>
              <a:t>Expected Freq. Table</a:t>
            </a:r>
          </a:p>
        </p:txBody>
      </p:sp>
    </p:spTree>
    <p:extLst>
      <p:ext uri="{BB962C8B-B14F-4D97-AF65-F5344CB8AC3E}">
        <p14:creationId xmlns:p14="http://schemas.microsoft.com/office/powerpoint/2010/main" val="15377548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709827F-094D-72B8-0C14-10A56CC61162}"/>
                  </a:ext>
                </a:extLst>
              </p:cNvPr>
              <p:cNvSpPr>
                <a:spLocks noGrp="1"/>
              </p:cNvSpPr>
              <p:nvPr>
                <p:ph idx="1"/>
              </p:nvPr>
            </p:nvSpPr>
            <p:spPr>
              <a:xfrm>
                <a:off x="838200" y="45720"/>
                <a:ext cx="10515600" cy="2267712"/>
              </a:xfrm>
            </p:spPr>
            <p:txBody>
              <a:bodyPr/>
              <a:lstStyle/>
              <a:p>
                <a:pPr marL="0" indent="0">
                  <a:buNone/>
                </a:pPr>
                <a14:m>
                  <m:oMathPara xmlns:m="http://schemas.openxmlformats.org/officeDocument/2006/math">
                    <m:oMathParaPr>
                      <m:jc m:val="centerGroup"/>
                    </m:oMathParaPr>
                    <m:oMath xmlns:m="http://schemas.openxmlformats.org/officeDocument/2006/math">
                      <m:r>
                        <m:rPr>
                          <m:nor/>
                        </m:rPr>
                        <a:rPr lang="el-GR" dirty="0">
                          <a:latin typeface="Times New Roman" panose="02020603050405020304" pitchFamily="18" charset="0"/>
                          <a:cs typeface="Times New Roman" panose="02020603050405020304" pitchFamily="18" charset="0"/>
                        </a:rPr>
                        <m:t>χ</m:t>
                      </m:r>
                      <m:r>
                        <m:rPr>
                          <m:nor/>
                        </m:rPr>
                        <a:rPr lang="el-GR" dirty="0">
                          <a:latin typeface="Times New Roman" panose="02020603050405020304" pitchFamily="18" charset="0"/>
                          <a:cs typeface="Times New Roman" panose="02020603050405020304" pitchFamily="18" charset="0"/>
                        </a:rPr>
                        <m:t>²</m:t>
                      </m:r>
                      <m:r>
                        <m:rPr>
                          <m:nor/>
                        </m:rPr>
                        <a:rPr lang="en-US" dirty="0">
                          <a:latin typeface="Times New Roman" panose="02020603050405020304" pitchFamily="18" charset="0"/>
                          <a:cs typeface="Times New Roman" panose="02020603050405020304" pitchFamily="18" charset="0"/>
                        </a:rPr>
                        <m:t>=</m:t>
                      </m:r>
                      <m:nary>
                        <m:naryPr>
                          <m:chr m:val="∑"/>
                          <m:subHide m:val="on"/>
                          <m:supHide m:val="on"/>
                          <m:ctrlPr>
                            <a:rPr lang="en-US" i="1">
                              <a:latin typeface="Cambria Math" panose="02040503050406030204" pitchFamily="18" charset="0"/>
                            </a:rPr>
                          </m:ctrlPr>
                        </m:naryPr>
                        <m:sub/>
                        <m:sup/>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m:t>
                                  </m:r>
                                  <m:r>
                                    <a:rPr lang="en-US" i="1">
                                      <a:latin typeface="Cambria Math" panose="02040503050406030204" pitchFamily="18" charset="0"/>
                                    </a:rPr>
                                    <m:t>𝑂</m:t>
                                  </m:r>
                                  <m:r>
                                    <a:rPr lang="en-US" i="1">
                                      <a:latin typeface="Cambria Math" panose="02040503050406030204" pitchFamily="18" charset="0"/>
                                    </a:rPr>
                                    <m:t>−</m:t>
                                  </m:r>
                                  <m:r>
                                    <a:rPr lang="en-US" i="1">
                                      <a:latin typeface="Cambria Math" panose="02040503050406030204" pitchFamily="18" charset="0"/>
                                    </a:rPr>
                                    <m:t>𝐸</m:t>
                                  </m:r>
                                  <m:r>
                                    <a:rPr lang="en-US" i="1">
                                      <a:latin typeface="Cambria Math" panose="02040503050406030204" pitchFamily="18" charset="0"/>
                                    </a:rPr>
                                    <m:t>)</m:t>
                                  </m:r>
                                </m:e>
                                <m:sup>
                                  <m:r>
                                    <a:rPr lang="en-US" i="1">
                                      <a:latin typeface="Cambria Math" panose="02040503050406030204" pitchFamily="18" charset="0"/>
                                    </a:rPr>
                                    <m:t>2</m:t>
                                  </m:r>
                                </m:sup>
                              </m:sSup>
                            </m:num>
                            <m:den>
                              <m:r>
                                <a:rPr lang="en-US" i="1">
                                  <a:latin typeface="Cambria Math" panose="02040503050406030204" pitchFamily="18" charset="0"/>
                                </a:rPr>
                                <m:t>𝐸</m:t>
                              </m:r>
                            </m:den>
                          </m:f>
                        </m:e>
                      </m:nary>
                    </m:oMath>
                  </m:oMathPara>
                </a14:m>
                <a:endParaRPr lang="en-US" dirty="0"/>
              </a:p>
              <a:p>
                <a:pPr marL="0" indent="0">
                  <a:buNone/>
                </a:pPr>
                <a:r>
                  <a:rPr lang="en-US" dirty="0"/>
                  <a:t>Where:</a:t>
                </a:r>
              </a:p>
              <a:p>
                <a:r>
                  <a:rPr lang="en-US" b="1" dirty="0"/>
                  <a:t>O</a:t>
                </a:r>
                <a:r>
                  <a:rPr lang="en-US" dirty="0"/>
                  <a:t> = Observed </a:t>
                </a:r>
                <a:r>
                  <a:rPr lang="en-US" dirty="0" err="1"/>
                  <a:t>frequency,</a:t>
                </a:r>
                <a:r>
                  <a:rPr lang="en-US" b="1" dirty="0" err="1"/>
                  <a:t>E</a:t>
                </a:r>
                <a:r>
                  <a:rPr lang="en-US" dirty="0"/>
                  <a:t> = Expected frequency</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6709827F-094D-72B8-0C14-10A56CC61162}"/>
                  </a:ext>
                </a:extLst>
              </p:cNvPr>
              <p:cNvSpPr>
                <a:spLocks noGrp="1" noRot="1" noChangeAspect="1" noMove="1" noResize="1" noEditPoints="1" noAdjustHandles="1" noChangeArrowheads="1" noChangeShapeType="1" noTextEdit="1"/>
              </p:cNvSpPr>
              <p:nvPr>
                <p:ph idx="1"/>
              </p:nvPr>
            </p:nvSpPr>
            <p:spPr>
              <a:xfrm>
                <a:off x="838200" y="45720"/>
                <a:ext cx="10515600" cy="2267712"/>
              </a:xfrm>
              <a:blipFill>
                <a:blip r:embed="rId2"/>
                <a:stretch>
                  <a:fillRect l="-1217"/>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B7491F0B-4487-B93C-6DB7-168E5718595D}"/>
              </a:ext>
            </a:extLst>
          </p:cNvPr>
          <p:cNvGraphicFramePr>
            <a:graphicFrameLocks noGrp="1"/>
          </p:cNvGraphicFramePr>
          <p:nvPr>
            <p:extLst>
              <p:ext uri="{D42A27DB-BD31-4B8C-83A1-F6EECF244321}">
                <p14:modId xmlns:p14="http://schemas.microsoft.com/office/powerpoint/2010/main" val="3599724971"/>
              </p:ext>
            </p:extLst>
          </p:nvPr>
        </p:nvGraphicFramePr>
        <p:xfrm>
          <a:off x="262128" y="2715769"/>
          <a:ext cx="10515600" cy="1828800"/>
        </p:xfrm>
        <a:graphic>
          <a:graphicData uri="http://schemas.openxmlformats.org/drawingml/2006/table">
            <a:tbl>
              <a:tblPr/>
              <a:tblGrid>
                <a:gridCol w="2628900">
                  <a:extLst>
                    <a:ext uri="{9D8B030D-6E8A-4147-A177-3AD203B41FA5}">
                      <a16:colId xmlns:a16="http://schemas.microsoft.com/office/drawing/2014/main" val="411599829"/>
                    </a:ext>
                  </a:extLst>
                </a:gridCol>
                <a:gridCol w="2628900">
                  <a:extLst>
                    <a:ext uri="{9D8B030D-6E8A-4147-A177-3AD203B41FA5}">
                      <a16:colId xmlns:a16="http://schemas.microsoft.com/office/drawing/2014/main" val="963668040"/>
                    </a:ext>
                  </a:extLst>
                </a:gridCol>
                <a:gridCol w="2628900">
                  <a:extLst>
                    <a:ext uri="{9D8B030D-6E8A-4147-A177-3AD203B41FA5}">
                      <a16:colId xmlns:a16="http://schemas.microsoft.com/office/drawing/2014/main" val="2589860123"/>
                    </a:ext>
                  </a:extLst>
                </a:gridCol>
                <a:gridCol w="2628900">
                  <a:extLst>
                    <a:ext uri="{9D8B030D-6E8A-4147-A177-3AD203B41FA5}">
                      <a16:colId xmlns:a16="http://schemas.microsoft.com/office/drawing/2014/main" val="1595848378"/>
                    </a:ext>
                  </a:extLst>
                </a:gridCol>
              </a:tblGrid>
              <a:tr h="0">
                <a:tc>
                  <a:txBody>
                    <a:bodyPr/>
                    <a:lstStyle/>
                    <a:p>
                      <a:pPr>
                        <a:buNone/>
                      </a:pPr>
                      <a:r>
                        <a:rPr lang="en-US" b="1" dirty="0"/>
                        <a:t>Col</a:t>
                      </a:r>
                    </a:p>
                  </a:txBody>
                  <a:tcPr anchor="ctr">
                    <a:lnL>
                      <a:noFill/>
                    </a:lnL>
                    <a:lnR>
                      <a:noFill/>
                    </a:lnR>
                    <a:lnT>
                      <a:noFill/>
                    </a:lnT>
                    <a:lnB>
                      <a:noFill/>
                    </a:lnB>
                    <a:noFill/>
                  </a:tcPr>
                </a:tc>
                <a:tc>
                  <a:txBody>
                    <a:bodyPr/>
                    <a:lstStyle/>
                    <a:p>
                      <a:pPr>
                        <a:buNone/>
                      </a:pPr>
                      <a:r>
                        <a:rPr lang="en-US" b="1"/>
                        <a:t>O</a:t>
                      </a:r>
                    </a:p>
                  </a:txBody>
                  <a:tcPr anchor="ctr">
                    <a:lnL>
                      <a:noFill/>
                    </a:lnL>
                    <a:lnR>
                      <a:noFill/>
                    </a:lnR>
                    <a:lnT>
                      <a:noFill/>
                    </a:lnT>
                    <a:lnB>
                      <a:noFill/>
                    </a:lnB>
                    <a:noFill/>
                  </a:tcPr>
                </a:tc>
                <a:tc>
                  <a:txBody>
                    <a:bodyPr/>
                    <a:lstStyle/>
                    <a:p>
                      <a:pPr>
                        <a:buNone/>
                      </a:pPr>
                      <a:r>
                        <a:rPr lang="en-US" b="1"/>
                        <a:t>E</a:t>
                      </a:r>
                    </a:p>
                  </a:txBody>
                  <a:tcPr anchor="ctr">
                    <a:lnL>
                      <a:noFill/>
                    </a:lnL>
                    <a:lnR>
                      <a:noFill/>
                    </a:lnR>
                    <a:lnT>
                      <a:noFill/>
                    </a:lnT>
                    <a:lnB>
                      <a:noFill/>
                    </a:lnB>
                    <a:noFill/>
                  </a:tcPr>
                </a:tc>
                <a:tc>
                  <a:txBody>
                    <a:bodyPr/>
                    <a:lstStyle/>
                    <a:p>
                      <a:pPr>
                        <a:buNone/>
                      </a:pPr>
                      <a:r>
                        <a:rPr lang="en-US" b="1" dirty="0"/>
                        <a:t>(O−E)²/E</a:t>
                      </a:r>
                    </a:p>
                  </a:txBody>
                  <a:tcPr anchor="ctr">
                    <a:lnL>
                      <a:noFill/>
                    </a:lnL>
                    <a:lnR>
                      <a:noFill/>
                    </a:lnR>
                    <a:lnT>
                      <a:noFill/>
                    </a:lnT>
                    <a:lnB>
                      <a:noFill/>
                    </a:lnB>
                    <a:noFill/>
                  </a:tcPr>
                </a:tc>
                <a:extLst>
                  <a:ext uri="{0D108BD9-81ED-4DB2-BD59-A6C34878D82A}">
                    <a16:rowId xmlns:a16="http://schemas.microsoft.com/office/drawing/2014/main" val="3383132125"/>
                  </a:ext>
                </a:extLst>
              </a:tr>
              <a:tr h="0">
                <a:tc>
                  <a:txBody>
                    <a:bodyPr/>
                    <a:lstStyle/>
                    <a:p>
                      <a:pPr>
                        <a:buNone/>
                      </a:pPr>
                      <a:r>
                        <a:rPr lang="en-US"/>
                        <a:t>Male-Tea</a:t>
                      </a:r>
                    </a:p>
                  </a:txBody>
                  <a:tcPr anchor="ctr">
                    <a:lnL>
                      <a:noFill/>
                    </a:lnL>
                    <a:lnR>
                      <a:noFill/>
                    </a:lnR>
                    <a:lnT>
                      <a:noFill/>
                    </a:lnT>
                    <a:lnB>
                      <a:noFill/>
                    </a:lnB>
                    <a:noFill/>
                  </a:tcPr>
                </a:tc>
                <a:tc>
                  <a:txBody>
                    <a:bodyPr/>
                    <a:lstStyle/>
                    <a:p>
                      <a:pPr>
                        <a:buNone/>
                      </a:pPr>
                      <a:r>
                        <a:rPr lang="en-US"/>
                        <a:t>30</a:t>
                      </a:r>
                    </a:p>
                  </a:txBody>
                  <a:tcPr anchor="ctr">
                    <a:lnL>
                      <a:noFill/>
                    </a:lnL>
                    <a:lnR>
                      <a:noFill/>
                    </a:lnR>
                    <a:lnT>
                      <a:noFill/>
                    </a:lnT>
                    <a:lnB>
                      <a:noFill/>
                    </a:lnB>
                    <a:noFill/>
                  </a:tcPr>
                </a:tc>
                <a:tc>
                  <a:txBody>
                    <a:bodyPr/>
                    <a:lstStyle/>
                    <a:p>
                      <a:pPr>
                        <a:buNone/>
                      </a:pPr>
                      <a:r>
                        <a:rPr lang="en-US"/>
                        <a:t>20</a:t>
                      </a:r>
                    </a:p>
                  </a:txBody>
                  <a:tcPr anchor="ctr">
                    <a:lnL>
                      <a:noFill/>
                    </a:lnL>
                    <a:lnR>
                      <a:noFill/>
                    </a:lnR>
                    <a:lnT>
                      <a:noFill/>
                    </a:lnT>
                    <a:lnB>
                      <a:noFill/>
                    </a:lnB>
                    <a:noFill/>
                  </a:tcPr>
                </a:tc>
                <a:tc>
                  <a:txBody>
                    <a:bodyPr/>
                    <a:lstStyle/>
                    <a:p>
                      <a:pPr>
                        <a:buNone/>
                      </a:pPr>
                      <a:r>
                        <a:rPr lang="en-US" dirty="0"/>
                        <a:t>5</a:t>
                      </a:r>
                    </a:p>
                  </a:txBody>
                  <a:tcPr anchor="ctr">
                    <a:lnL>
                      <a:noFill/>
                    </a:lnL>
                    <a:lnR>
                      <a:noFill/>
                    </a:lnR>
                    <a:lnT>
                      <a:noFill/>
                    </a:lnT>
                    <a:lnB>
                      <a:noFill/>
                    </a:lnB>
                    <a:noFill/>
                  </a:tcPr>
                </a:tc>
                <a:extLst>
                  <a:ext uri="{0D108BD9-81ED-4DB2-BD59-A6C34878D82A}">
                    <a16:rowId xmlns:a16="http://schemas.microsoft.com/office/drawing/2014/main" val="542785177"/>
                  </a:ext>
                </a:extLst>
              </a:tr>
              <a:tr h="0">
                <a:tc>
                  <a:txBody>
                    <a:bodyPr/>
                    <a:lstStyle/>
                    <a:p>
                      <a:pPr>
                        <a:buNone/>
                      </a:pPr>
                      <a:r>
                        <a:rPr lang="en-US"/>
                        <a:t>Male-Coffee</a:t>
                      </a:r>
                    </a:p>
                  </a:txBody>
                  <a:tcPr anchor="ctr">
                    <a:lnL>
                      <a:noFill/>
                    </a:lnL>
                    <a:lnR>
                      <a:noFill/>
                    </a:lnR>
                    <a:lnT>
                      <a:noFill/>
                    </a:lnT>
                    <a:lnB>
                      <a:noFill/>
                    </a:lnB>
                    <a:noFill/>
                  </a:tcPr>
                </a:tc>
                <a:tc>
                  <a:txBody>
                    <a:bodyPr/>
                    <a:lstStyle/>
                    <a:p>
                      <a:pPr>
                        <a:buNone/>
                      </a:pPr>
                      <a:r>
                        <a:rPr lang="en-US"/>
                        <a:t>20</a:t>
                      </a:r>
                    </a:p>
                  </a:txBody>
                  <a:tcPr anchor="ctr">
                    <a:lnL>
                      <a:noFill/>
                    </a:lnL>
                    <a:lnR>
                      <a:noFill/>
                    </a:lnR>
                    <a:lnT>
                      <a:noFill/>
                    </a:lnT>
                    <a:lnB>
                      <a:noFill/>
                    </a:lnB>
                    <a:noFill/>
                  </a:tcPr>
                </a:tc>
                <a:tc>
                  <a:txBody>
                    <a:bodyPr/>
                    <a:lstStyle/>
                    <a:p>
                      <a:pPr>
                        <a:buNone/>
                      </a:pPr>
                      <a:r>
                        <a:rPr lang="en-US"/>
                        <a:t>30</a:t>
                      </a:r>
                    </a:p>
                  </a:txBody>
                  <a:tcPr anchor="ctr">
                    <a:lnL>
                      <a:noFill/>
                    </a:lnL>
                    <a:lnR>
                      <a:noFill/>
                    </a:lnR>
                    <a:lnT>
                      <a:noFill/>
                    </a:lnT>
                    <a:lnB>
                      <a:noFill/>
                    </a:lnB>
                    <a:noFill/>
                  </a:tcPr>
                </a:tc>
                <a:tc>
                  <a:txBody>
                    <a:bodyPr/>
                    <a:lstStyle/>
                    <a:p>
                      <a:pPr>
                        <a:buNone/>
                      </a:pPr>
                      <a:r>
                        <a:rPr lang="en-US"/>
                        <a:t>3.33</a:t>
                      </a:r>
                    </a:p>
                  </a:txBody>
                  <a:tcPr anchor="ctr">
                    <a:lnL>
                      <a:noFill/>
                    </a:lnL>
                    <a:lnR>
                      <a:noFill/>
                    </a:lnR>
                    <a:lnT>
                      <a:noFill/>
                    </a:lnT>
                    <a:lnB>
                      <a:noFill/>
                    </a:lnB>
                    <a:noFill/>
                  </a:tcPr>
                </a:tc>
                <a:extLst>
                  <a:ext uri="{0D108BD9-81ED-4DB2-BD59-A6C34878D82A}">
                    <a16:rowId xmlns:a16="http://schemas.microsoft.com/office/drawing/2014/main" val="3235855470"/>
                  </a:ext>
                </a:extLst>
              </a:tr>
              <a:tr h="0">
                <a:tc>
                  <a:txBody>
                    <a:bodyPr/>
                    <a:lstStyle/>
                    <a:p>
                      <a:pPr>
                        <a:buNone/>
                      </a:pPr>
                      <a:r>
                        <a:rPr lang="en-US"/>
                        <a:t>Female-Tea</a:t>
                      </a:r>
                    </a:p>
                  </a:txBody>
                  <a:tcPr anchor="ctr">
                    <a:lnL>
                      <a:noFill/>
                    </a:lnL>
                    <a:lnR>
                      <a:noFill/>
                    </a:lnR>
                    <a:lnT>
                      <a:noFill/>
                    </a:lnT>
                    <a:lnB>
                      <a:noFill/>
                    </a:lnB>
                    <a:noFill/>
                  </a:tcPr>
                </a:tc>
                <a:tc>
                  <a:txBody>
                    <a:bodyPr/>
                    <a:lstStyle/>
                    <a:p>
                      <a:pPr>
                        <a:buNone/>
                      </a:pPr>
                      <a:r>
                        <a:rPr lang="en-US"/>
                        <a:t>10</a:t>
                      </a:r>
                    </a:p>
                  </a:txBody>
                  <a:tcPr anchor="ctr">
                    <a:lnL>
                      <a:noFill/>
                    </a:lnL>
                    <a:lnR>
                      <a:noFill/>
                    </a:lnR>
                    <a:lnT>
                      <a:noFill/>
                    </a:lnT>
                    <a:lnB>
                      <a:noFill/>
                    </a:lnB>
                    <a:noFill/>
                  </a:tcPr>
                </a:tc>
                <a:tc>
                  <a:txBody>
                    <a:bodyPr/>
                    <a:lstStyle/>
                    <a:p>
                      <a:pPr>
                        <a:buNone/>
                      </a:pPr>
                      <a:r>
                        <a:rPr lang="en-US"/>
                        <a:t>20</a:t>
                      </a:r>
                    </a:p>
                  </a:txBody>
                  <a:tcPr anchor="ctr">
                    <a:lnL>
                      <a:noFill/>
                    </a:lnL>
                    <a:lnR>
                      <a:noFill/>
                    </a:lnR>
                    <a:lnT>
                      <a:noFill/>
                    </a:lnT>
                    <a:lnB>
                      <a:noFill/>
                    </a:lnB>
                    <a:noFill/>
                  </a:tcPr>
                </a:tc>
                <a:tc>
                  <a:txBody>
                    <a:bodyPr/>
                    <a:lstStyle/>
                    <a:p>
                      <a:pPr>
                        <a:buNone/>
                      </a:pPr>
                      <a:r>
                        <a:rPr lang="en-US"/>
                        <a:t>5</a:t>
                      </a:r>
                    </a:p>
                  </a:txBody>
                  <a:tcPr anchor="ctr">
                    <a:lnL>
                      <a:noFill/>
                    </a:lnL>
                    <a:lnR>
                      <a:noFill/>
                    </a:lnR>
                    <a:lnT>
                      <a:noFill/>
                    </a:lnT>
                    <a:lnB>
                      <a:noFill/>
                    </a:lnB>
                    <a:noFill/>
                  </a:tcPr>
                </a:tc>
                <a:extLst>
                  <a:ext uri="{0D108BD9-81ED-4DB2-BD59-A6C34878D82A}">
                    <a16:rowId xmlns:a16="http://schemas.microsoft.com/office/drawing/2014/main" val="3717865983"/>
                  </a:ext>
                </a:extLst>
              </a:tr>
              <a:tr h="0">
                <a:tc>
                  <a:txBody>
                    <a:bodyPr/>
                    <a:lstStyle/>
                    <a:p>
                      <a:pPr>
                        <a:buNone/>
                      </a:pPr>
                      <a:r>
                        <a:rPr lang="en-US"/>
                        <a:t>Female-Coffee</a:t>
                      </a:r>
                    </a:p>
                  </a:txBody>
                  <a:tcPr anchor="ctr">
                    <a:lnL>
                      <a:noFill/>
                    </a:lnL>
                    <a:lnR>
                      <a:noFill/>
                    </a:lnR>
                    <a:lnT>
                      <a:noFill/>
                    </a:lnT>
                    <a:lnB>
                      <a:noFill/>
                    </a:lnB>
                    <a:noFill/>
                  </a:tcPr>
                </a:tc>
                <a:tc>
                  <a:txBody>
                    <a:bodyPr/>
                    <a:lstStyle/>
                    <a:p>
                      <a:pPr>
                        <a:buNone/>
                      </a:pPr>
                      <a:r>
                        <a:rPr lang="en-US"/>
                        <a:t>40</a:t>
                      </a:r>
                    </a:p>
                  </a:txBody>
                  <a:tcPr anchor="ctr">
                    <a:lnL>
                      <a:noFill/>
                    </a:lnL>
                    <a:lnR>
                      <a:noFill/>
                    </a:lnR>
                    <a:lnT>
                      <a:noFill/>
                    </a:lnT>
                    <a:lnB>
                      <a:noFill/>
                    </a:lnB>
                    <a:noFill/>
                  </a:tcPr>
                </a:tc>
                <a:tc>
                  <a:txBody>
                    <a:bodyPr/>
                    <a:lstStyle/>
                    <a:p>
                      <a:pPr>
                        <a:buNone/>
                      </a:pPr>
                      <a:r>
                        <a:rPr lang="en-US"/>
                        <a:t>30</a:t>
                      </a:r>
                    </a:p>
                  </a:txBody>
                  <a:tcPr anchor="ctr">
                    <a:lnL>
                      <a:noFill/>
                    </a:lnL>
                    <a:lnR>
                      <a:noFill/>
                    </a:lnR>
                    <a:lnT>
                      <a:noFill/>
                    </a:lnT>
                    <a:lnB>
                      <a:noFill/>
                    </a:lnB>
                    <a:noFill/>
                  </a:tcPr>
                </a:tc>
                <a:tc>
                  <a:txBody>
                    <a:bodyPr/>
                    <a:lstStyle/>
                    <a:p>
                      <a:pPr>
                        <a:buNone/>
                      </a:pPr>
                      <a:r>
                        <a:rPr lang="en-US" dirty="0"/>
                        <a:t>3.33</a:t>
                      </a:r>
                    </a:p>
                  </a:txBody>
                  <a:tcPr anchor="ctr">
                    <a:lnL>
                      <a:noFill/>
                    </a:lnL>
                    <a:lnR>
                      <a:noFill/>
                    </a:lnR>
                    <a:lnT>
                      <a:noFill/>
                    </a:lnT>
                    <a:lnB>
                      <a:noFill/>
                    </a:lnB>
                    <a:noFill/>
                  </a:tcPr>
                </a:tc>
                <a:extLst>
                  <a:ext uri="{0D108BD9-81ED-4DB2-BD59-A6C34878D82A}">
                    <a16:rowId xmlns:a16="http://schemas.microsoft.com/office/drawing/2014/main" val="262302703"/>
                  </a:ext>
                </a:extLst>
              </a:tr>
            </a:tbl>
          </a:graphicData>
        </a:graphic>
      </p:graphicFrame>
      <p:sp>
        <p:nvSpPr>
          <p:cNvPr id="7" name="TextBox 6">
            <a:extLst>
              <a:ext uri="{FF2B5EF4-FFF2-40B4-BE49-F238E27FC236}">
                <a16:creationId xmlns:a16="http://schemas.microsoft.com/office/drawing/2014/main" id="{BC605412-95CD-8E1A-3970-4A973DD42B99}"/>
              </a:ext>
            </a:extLst>
          </p:cNvPr>
          <p:cNvSpPr txBox="1"/>
          <p:nvPr/>
        </p:nvSpPr>
        <p:spPr>
          <a:xfrm>
            <a:off x="1666494" y="5210294"/>
            <a:ext cx="2109978" cy="646331"/>
          </a:xfrm>
          <a:prstGeom prst="rect">
            <a:avLst/>
          </a:prstGeom>
          <a:noFill/>
        </p:spPr>
        <p:txBody>
          <a:bodyPr wrap="square">
            <a:spAutoFit/>
          </a:bodyPr>
          <a:lstStyle/>
          <a:p>
            <a:r>
              <a:rPr lang="el-GR" dirty="0">
                <a:highlight>
                  <a:srgbClr val="FFFF00"/>
                </a:highlight>
              </a:rPr>
              <a:t>χ2=5+3.33+5+3.33</a:t>
            </a:r>
            <a:r>
              <a:rPr lang="en-US" dirty="0">
                <a:highlight>
                  <a:srgbClr val="FFFF00"/>
                </a:highlight>
              </a:rPr>
              <a:t>=16.66</a:t>
            </a:r>
          </a:p>
        </p:txBody>
      </p:sp>
    </p:spTree>
    <p:extLst>
      <p:ext uri="{BB962C8B-B14F-4D97-AF65-F5344CB8AC3E}">
        <p14:creationId xmlns:p14="http://schemas.microsoft.com/office/powerpoint/2010/main" val="41370493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B101C38-95FD-3FC6-5F0C-DA68490BE14F}"/>
                  </a:ext>
                </a:extLst>
              </p:cNvPr>
              <p:cNvSpPr>
                <a:spLocks noGrp="1"/>
              </p:cNvSpPr>
              <p:nvPr>
                <p:ph idx="1"/>
              </p:nvPr>
            </p:nvSpPr>
            <p:spPr>
              <a:xfrm>
                <a:off x="838200" y="256033"/>
                <a:ext cx="7135368" cy="3904488"/>
              </a:xfrm>
            </p:spPr>
            <p:txBody>
              <a:bodyPr/>
              <a:lstStyle/>
              <a:p>
                <a:r>
                  <a:rPr lang="en-US" b="1" dirty="0"/>
                  <a:t>Degrees of Freedom</a:t>
                </a:r>
              </a:p>
              <a:p>
                <a14:m>
                  <m:oMath xmlns:m="http://schemas.openxmlformats.org/officeDocument/2006/math">
                    <m:r>
                      <a:rPr lang="en-US" i="1">
                        <a:latin typeface="Cambria Math" panose="02040503050406030204" pitchFamily="18" charset="0"/>
                      </a:rPr>
                      <m:t>𝑑𝑓</m:t>
                    </m:r>
                    <m:r>
                      <a:rPr lang="en-US">
                        <a:latin typeface="Cambria Math" panose="02040503050406030204" pitchFamily="18" charset="0"/>
                      </a:rPr>
                      <m:t>=</m:t>
                    </m:r>
                    <m:d>
                      <m:dPr>
                        <m:ctrlPr>
                          <a:rPr lang="ar-AE" i="1">
                            <a:latin typeface="Cambria Math" panose="02040503050406030204" pitchFamily="18" charset="0"/>
                          </a:rPr>
                        </m:ctrlPr>
                      </m:dPr>
                      <m:e>
                        <m:r>
                          <a:rPr lang="ar-AE" i="1">
                            <a:latin typeface="Cambria Math" panose="02040503050406030204" pitchFamily="18" charset="0"/>
                          </a:rPr>
                          <m:t>𝑟</m:t>
                        </m:r>
                        <m:r>
                          <a:rPr lang="ar-AE">
                            <a:latin typeface="Cambria Math" panose="02040503050406030204" pitchFamily="18" charset="0"/>
                          </a:rPr>
                          <m:t>−</m:t>
                        </m:r>
                        <m:r>
                          <a:rPr lang="ar-AE">
                            <a:latin typeface="Cambria Math" panose="02040503050406030204" pitchFamily="18" charset="0"/>
                          </a:rPr>
                          <m:t>1</m:t>
                        </m:r>
                      </m:e>
                    </m:d>
                    <m:d>
                      <m:dPr>
                        <m:ctrlPr>
                          <a:rPr lang="ar-AE" i="1">
                            <a:latin typeface="Cambria Math" panose="02040503050406030204" pitchFamily="18" charset="0"/>
                          </a:rPr>
                        </m:ctrlPr>
                      </m:dPr>
                      <m:e>
                        <m:r>
                          <a:rPr lang="ar-AE" i="1">
                            <a:latin typeface="Cambria Math" panose="02040503050406030204" pitchFamily="18" charset="0"/>
                          </a:rPr>
                          <m:t>𝑐</m:t>
                        </m:r>
                        <m:r>
                          <a:rPr lang="ar-AE">
                            <a:latin typeface="Cambria Math" panose="02040503050406030204" pitchFamily="18" charset="0"/>
                          </a:rPr>
                          <m:t>−</m:t>
                        </m:r>
                        <m:r>
                          <a:rPr lang="ar-AE">
                            <a:latin typeface="Cambria Math" panose="02040503050406030204" pitchFamily="18" charset="0"/>
                          </a:rPr>
                          <m:t>1</m:t>
                        </m:r>
                      </m:e>
                    </m:d>
                  </m:oMath>
                </a14:m>
                <a:endParaRPr lang="ar-AE" dirty="0"/>
              </a:p>
              <a:p>
                <a:pPr marL="0" indent="0">
                  <a:buNone/>
                </a:pPr>
                <a:r>
                  <a:rPr lang="en-US" dirty="0"/>
                  <a:t>                     </a:t>
                </a:r>
                <a:r>
                  <a:rPr lang="en-US" dirty="0" err="1"/>
                  <a:t>df</a:t>
                </a:r>
                <a:r>
                  <a:rPr lang="en-US" dirty="0"/>
                  <a:t>=(2−1)(2−1)=1</a:t>
                </a:r>
              </a:p>
            </p:txBody>
          </p:sp>
        </mc:Choice>
        <mc:Fallback xmlns="">
          <p:sp>
            <p:nvSpPr>
              <p:cNvPr id="3" name="Content Placeholder 2">
                <a:extLst>
                  <a:ext uri="{FF2B5EF4-FFF2-40B4-BE49-F238E27FC236}">
                    <a16:creationId xmlns:a16="http://schemas.microsoft.com/office/drawing/2014/main" id="{6B101C38-95FD-3FC6-5F0C-DA68490BE14F}"/>
                  </a:ext>
                </a:extLst>
              </p:cNvPr>
              <p:cNvSpPr>
                <a:spLocks noGrp="1" noRot="1" noChangeAspect="1" noMove="1" noResize="1" noEditPoints="1" noAdjustHandles="1" noChangeArrowheads="1" noChangeShapeType="1" noTextEdit="1"/>
              </p:cNvSpPr>
              <p:nvPr>
                <p:ph idx="1"/>
              </p:nvPr>
            </p:nvSpPr>
            <p:spPr>
              <a:xfrm>
                <a:off x="838200" y="256033"/>
                <a:ext cx="7135368" cy="3904488"/>
              </a:xfrm>
              <a:blipFill>
                <a:blip r:embed="rId2"/>
                <a:stretch>
                  <a:fillRect l="-1795" t="-26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F6F83DC-6F79-9D85-B8EA-B365EC75F394}"/>
                  </a:ext>
                </a:extLst>
              </p:cNvPr>
              <p:cNvSpPr txBox="1"/>
              <p:nvPr/>
            </p:nvSpPr>
            <p:spPr>
              <a:xfrm>
                <a:off x="838200" y="2215151"/>
                <a:ext cx="4968240" cy="1769331"/>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Decision Rule</a:t>
                </a:r>
              </a:p>
              <a:p>
                <a:pPr>
                  <a:buNone/>
                </a:pPr>
                <a:r>
                  <a:rPr lang="en-US" dirty="0">
                    <a:latin typeface="Times New Roman" panose="02020603050405020304" pitchFamily="18" charset="0"/>
                    <a:cs typeface="Times New Roman" panose="02020603050405020304" pitchFamily="18" charset="0"/>
                  </a:rPr>
                  <a:t>From the </a:t>
                </a:r>
                <a:r>
                  <a:rPr lang="en-US" b="1" dirty="0">
                    <a:latin typeface="Times New Roman" panose="02020603050405020304" pitchFamily="18" charset="0"/>
                    <a:cs typeface="Times New Roman" panose="02020603050405020304" pitchFamily="18" charset="0"/>
                  </a:rPr>
                  <a:t>Chi-Square table</a:t>
                </a:r>
                <a:r>
                  <a:rPr lang="en-US" dirty="0">
                    <a:latin typeface="Times New Roman" panose="02020603050405020304" pitchFamily="18" charset="0"/>
                    <a:cs typeface="Times New Roman" panose="02020603050405020304" pitchFamily="18" charset="0"/>
                  </a:rPr>
                  <a:t> at:</a:t>
                </a:r>
              </a:p>
              <a:p>
                <a:pPr>
                  <a:buFont typeface="Arial" panose="020B0604020202020204" pitchFamily="34" charset="0"/>
                  <a:buChar char="•"/>
                </a:pPr>
                <a:r>
                  <a:rPr lang="el-GR" b="1" dirty="0">
                    <a:latin typeface="Times New Roman" panose="02020603050405020304" pitchFamily="18" charset="0"/>
                    <a:cs typeface="Times New Roman" panose="02020603050405020304" pitchFamily="18" charset="0"/>
                  </a:rPr>
                  <a:t>α = 0.05</a:t>
                </a:r>
                <a:endParaRPr lang="el-GR"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1" dirty="0" err="1">
                    <a:latin typeface="Times New Roman" panose="02020603050405020304" pitchFamily="18" charset="0"/>
                    <a:cs typeface="Times New Roman" panose="02020603050405020304" pitchFamily="18" charset="0"/>
                  </a:rPr>
                  <a:t>df</a:t>
                </a:r>
                <a:r>
                  <a:rPr lang="en-US" b="1" dirty="0">
                    <a:latin typeface="Times New Roman" panose="02020603050405020304" pitchFamily="18" charset="0"/>
                    <a:cs typeface="Times New Roman" panose="02020603050405020304" pitchFamily="18" charset="0"/>
                  </a:rPr>
                  <a:t> = 1</a:t>
                </a: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Critical value:</a:t>
                </a:r>
              </a:p>
              <a:p>
                <a:pPr>
                  <a:buNone/>
                </a:pPr>
                <a14:m>
                  <m:oMathPara xmlns:m="http://schemas.openxmlformats.org/officeDocument/2006/math">
                    <m:oMathParaPr>
                      <m:jc m:val="centerGroup"/>
                    </m:oMathParaPr>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𝜒</m:t>
                          </m:r>
                        </m:e>
                        <m:sub>
                          <m:r>
                            <a:rPr lang="ar-AE" i="1">
                              <a:latin typeface="Cambria Math" panose="02040503050406030204" pitchFamily="18" charset="0"/>
                            </a:rPr>
                            <m:t>𝑐𝑟𝑖𝑡𝑖𝑐𝑎𝑙</m:t>
                          </m:r>
                        </m:sub>
                        <m:sup>
                          <m:r>
                            <a:rPr lang="ar-AE" i="0">
                              <a:latin typeface="Cambria Math" panose="02040503050406030204" pitchFamily="18" charset="0"/>
                            </a:rPr>
                            <m:t>2</m:t>
                          </m:r>
                        </m:sup>
                      </m:sSubSup>
                      <m:r>
                        <a:rPr lang="ar-AE" i="0">
                          <a:latin typeface="Cambria Math" panose="02040503050406030204" pitchFamily="18" charset="0"/>
                        </a:rPr>
                        <m:t>=</m:t>
                      </m:r>
                      <m:r>
                        <a:rPr lang="ar-AE" i="0">
                          <a:latin typeface="Cambria Math" panose="02040503050406030204" pitchFamily="18" charset="0"/>
                        </a:rPr>
                        <m:t>3</m:t>
                      </m:r>
                      <m:r>
                        <a:rPr lang="ar-AE" i="0">
                          <a:latin typeface="Cambria Math" panose="02040503050406030204" pitchFamily="18" charset="0"/>
                        </a:rPr>
                        <m:t>.</m:t>
                      </m:r>
                      <m:r>
                        <a:rPr lang="ar-AE" i="0">
                          <a:latin typeface="Cambria Math" panose="02040503050406030204" pitchFamily="18" charset="0"/>
                        </a:rPr>
                        <m:t>84</m:t>
                      </m:r>
                    </m:oMath>
                  </m:oMathPara>
                </a14:m>
                <a:endParaRPr lang="ar-AE" dirty="0">
                  <a:latin typeface="Times New Roman" panose="020206030504050203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6F6F83DC-6F79-9D85-B8EA-B365EC75F394}"/>
                  </a:ext>
                </a:extLst>
              </p:cNvPr>
              <p:cNvSpPr txBox="1">
                <a:spLocks noRot="1" noChangeAspect="1" noMove="1" noResize="1" noEditPoints="1" noAdjustHandles="1" noChangeArrowheads="1" noChangeShapeType="1" noTextEdit="1"/>
              </p:cNvSpPr>
              <p:nvPr/>
            </p:nvSpPr>
            <p:spPr>
              <a:xfrm>
                <a:off x="838200" y="2215151"/>
                <a:ext cx="4968240" cy="1769331"/>
              </a:xfrm>
              <a:prstGeom prst="rect">
                <a:avLst/>
              </a:prstGeom>
              <a:blipFill>
                <a:blip r:embed="rId3"/>
                <a:stretch>
                  <a:fillRect l="-1104" t="-17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A9C0D51-A8E1-669A-4879-0D3A0F57FCE0}"/>
                  </a:ext>
                </a:extLst>
              </p:cNvPr>
              <p:cNvSpPr txBox="1"/>
              <p:nvPr/>
            </p:nvSpPr>
            <p:spPr>
              <a:xfrm>
                <a:off x="4604766" y="3237191"/>
                <a:ext cx="4570476" cy="923330"/>
              </a:xfrm>
              <a:prstGeom prst="rect">
                <a:avLst/>
              </a:prstGeom>
              <a:noFill/>
            </p:spPr>
            <p:txBody>
              <a:bodyPr wrap="square">
                <a:spAutoFit/>
              </a:bodyPr>
              <a:lstStyle/>
              <a:p>
                <a:pPr>
                  <a:buNone/>
                </a:pPr>
                <a:r>
                  <a:rPr lang="en-US" dirty="0">
                    <a:latin typeface="Times New Roman" panose="02020603050405020304" pitchFamily="18" charset="0"/>
                    <a:cs typeface="Times New Roman" panose="02020603050405020304" pitchFamily="18" charset="0"/>
                  </a:rPr>
                  <a:t>Since</a:t>
                </a:r>
              </a:p>
              <a:p>
                <a:pPr>
                  <a:buNone/>
                </a:pPr>
                <a14:m>
                  <m:oMathPara xmlns:m="http://schemas.openxmlformats.org/officeDocument/2006/math">
                    <m:oMathParaPr>
                      <m:jc m:val="centerGroup"/>
                    </m:oMathParaPr>
                    <m:oMath xmlns:m="http://schemas.openxmlformats.org/officeDocument/2006/math">
                      <m:r>
                        <a:rPr lang="en-US">
                          <a:latin typeface="Cambria Math" panose="02040503050406030204" pitchFamily="18" charset="0"/>
                        </a:rPr>
                        <m:t>16</m:t>
                      </m:r>
                      <m:r>
                        <a:rPr lang="en-US">
                          <a:latin typeface="Cambria Math" panose="02040503050406030204" pitchFamily="18" charset="0"/>
                        </a:rPr>
                        <m:t>.</m:t>
                      </m:r>
                      <m:r>
                        <a:rPr lang="en-US">
                          <a:latin typeface="Cambria Math" panose="02040503050406030204" pitchFamily="18" charset="0"/>
                        </a:rPr>
                        <m:t>66</m:t>
                      </m:r>
                      <m:r>
                        <a:rPr lang="en-US" i="0">
                          <a:latin typeface="Cambria Math" panose="02040503050406030204" pitchFamily="18" charset="0"/>
                        </a:rPr>
                        <m:t>&gt;</m:t>
                      </m:r>
                      <m:r>
                        <a:rPr lang="en-US" i="0">
                          <a:latin typeface="Cambria Math" panose="02040503050406030204" pitchFamily="18" charset="0"/>
                        </a:rPr>
                        <m:t>3</m:t>
                      </m:r>
                      <m:r>
                        <a:rPr lang="en-US" i="0">
                          <a:latin typeface="Cambria Math" panose="02040503050406030204" pitchFamily="18" charset="0"/>
                        </a:rPr>
                        <m:t>.</m:t>
                      </m:r>
                      <m:r>
                        <a:rPr lang="en-US" i="0">
                          <a:latin typeface="Cambria Math" panose="02040503050406030204" pitchFamily="18" charset="0"/>
                        </a:rPr>
                        <m:t>84</m:t>
                      </m:r>
                    </m:oMath>
                  </m:oMathPara>
                </a14:m>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We </a:t>
                </a:r>
                <a:r>
                  <a:rPr lang="en-US" b="1" dirty="0">
                    <a:latin typeface="Times New Roman" panose="02020603050405020304" pitchFamily="18" charset="0"/>
                    <a:cs typeface="Times New Roman" panose="02020603050405020304" pitchFamily="18" charset="0"/>
                  </a:rPr>
                  <a:t>reject H₀</a:t>
                </a:r>
                <a:r>
                  <a:rPr lang="en-US" dirty="0"/>
                  <a:t>.</a:t>
                </a:r>
              </a:p>
            </p:txBody>
          </p:sp>
        </mc:Choice>
        <mc:Fallback xmlns="">
          <p:sp>
            <p:nvSpPr>
              <p:cNvPr id="6" name="TextBox 5">
                <a:extLst>
                  <a:ext uri="{FF2B5EF4-FFF2-40B4-BE49-F238E27FC236}">
                    <a16:creationId xmlns:a16="http://schemas.microsoft.com/office/drawing/2014/main" id="{EA9C0D51-A8E1-669A-4879-0D3A0F57FCE0}"/>
                  </a:ext>
                </a:extLst>
              </p:cNvPr>
              <p:cNvSpPr txBox="1">
                <a:spLocks noRot="1" noChangeAspect="1" noMove="1" noResize="1" noEditPoints="1" noAdjustHandles="1" noChangeArrowheads="1" noChangeShapeType="1" noTextEdit="1"/>
              </p:cNvSpPr>
              <p:nvPr/>
            </p:nvSpPr>
            <p:spPr>
              <a:xfrm>
                <a:off x="4604766" y="3237191"/>
                <a:ext cx="4570476" cy="923330"/>
              </a:xfrm>
              <a:prstGeom prst="rect">
                <a:avLst/>
              </a:prstGeom>
              <a:blipFill>
                <a:blip r:embed="rId4"/>
                <a:stretch>
                  <a:fillRect l="-1067" t="-3289" b="-9868"/>
                </a:stretch>
              </a:blipFill>
            </p:spPr>
            <p:txBody>
              <a:bodyPr/>
              <a:lstStyle/>
              <a:p>
                <a:r>
                  <a:rPr lang="en-US">
                    <a:noFill/>
                  </a:rPr>
                  <a:t> </a:t>
                </a:r>
              </a:p>
            </p:txBody>
          </p:sp>
        </mc:Fallback>
      </mc:AlternateContent>
    </p:spTree>
    <p:extLst>
      <p:ext uri="{BB962C8B-B14F-4D97-AF65-F5344CB8AC3E}">
        <p14:creationId xmlns:p14="http://schemas.microsoft.com/office/powerpoint/2010/main" val="33125527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Chi-Square Distribution ($\chi^2$) | Basic Statistics and Data Analysis ...">
            <a:extLst>
              <a:ext uri="{FF2B5EF4-FFF2-40B4-BE49-F238E27FC236}">
                <a16:creationId xmlns:a16="http://schemas.microsoft.com/office/drawing/2014/main" id="{3DA76ACB-A12F-F074-2C47-C66BB35402C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07531" y="328613"/>
            <a:ext cx="5976937" cy="5848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88801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1E65C-0320-D674-B4F2-82BCF46878FA}"/>
              </a:ext>
            </a:extLst>
          </p:cNvPr>
          <p:cNvSpPr>
            <a:spLocks noGrp="1"/>
          </p:cNvSpPr>
          <p:nvPr>
            <p:ph type="title"/>
          </p:nvPr>
        </p:nvSpPr>
        <p:spPr>
          <a:xfrm>
            <a:off x="289560" y="12890"/>
            <a:ext cx="10515600" cy="668147"/>
          </a:xfrm>
        </p:spPr>
        <p:txBody>
          <a:bodyPr>
            <a:normAutofit fontScale="90000"/>
          </a:bodyPr>
          <a:lstStyle/>
          <a:p>
            <a:r>
              <a:rPr lang="en-US" b="1" dirty="0">
                <a:highlight>
                  <a:srgbClr val="FFFF00"/>
                </a:highlight>
              </a:rPr>
              <a:t>Understanding P-Values</a:t>
            </a:r>
          </a:p>
        </p:txBody>
      </p:sp>
      <p:sp>
        <p:nvSpPr>
          <p:cNvPr id="3" name="Content Placeholder 2">
            <a:extLst>
              <a:ext uri="{FF2B5EF4-FFF2-40B4-BE49-F238E27FC236}">
                <a16:creationId xmlns:a16="http://schemas.microsoft.com/office/drawing/2014/main" id="{8F0566F4-1064-8FFB-BDDA-E214E04E2AB6}"/>
              </a:ext>
            </a:extLst>
          </p:cNvPr>
          <p:cNvSpPr>
            <a:spLocks noGrp="1"/>
          </p:cNvSpPr>
          <p:nvPr>
            <p:ph idx="1"/>
          </p:nvPr>
        </p:nvSpPr>
        <p:spPr>
          <a:xfrm>
            <a:off x="426720" y="801497"/>
            <a:ext cx="10515600" cy="917575"/>
          </a:xfrm>
        </p:spPr>
        <p:txBody>
          <a:bodyPr/>
          <a:lstStyle/>
          <a:p>
            <a:pPr marL="0" indent="0">
              <a:buNone/>
            </a:pPr>
            <a:r>
              <a:rPr lang="en-US" dirty="0"/>
              <a:t>The p-value tells how strong the evidence is against the null hypothesis.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9FE8A3-B146-B933-1C6E-E765297F7A76}"/>
                  </a:ext>
                </a:extLst>
              </p:cNvPr>
              <p:cNvSpPr txBox="1"/>
              <p:nvPr/>
            </p:nvSpPr>
            <p:spPr>
              <a:xfrm>
                <a:off x="934974" y="1977890"/>
                <a:ext cx="5090922" cy="369332"/>
              </a:xfrm>
              <a:prstGeom prst="rect">
                <a:avLst/>
              </a:prstGeom>
              <a:noFill/>
            </p:spPr>
            <p:txBody>
              <a:bodyPr wrap="square">
                <a:spAutoFit/>
              </a:bodyPr>
              <a:lstStyle/>
              <a:p>
                <a:r>
                  <a:rPr lang="en-US" dirty="0"/>
                  <a:t>Small p-value  means strong evidence against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𝐻</m:t>
                        </m:r>
                      </m:e>
                      <m:sub>
                        <m:r>
                          <a:rPr lang="ar-AE" i="0">
                            <a:latin typeface="Cambria Math" panose="02040503050406030204" pitchFamily="18" charset="0"/>
                          </a:rPr>
                          <m:t>0</m:t>
                        </m:r>
                      </m:sub>
                    </m:sSub>
                  </m:oMath>
                </a14:m>
                <a:endParaRPr lang="en-US" dirty="0"/>
              </a:p>
            </p:txBody>
          </p:sp>
        </mc:Choice>
        <mc:Fallback xmlns="">
          <p:sp>
            <p:nvSpPr>
              <p:cNvPr id="6" name="TextBox 5">
                <a:extLst>
                  <a:ext uri="{FF2B5EF4-FFF2-40B4-BE49-F238E27FC236}">
                    <a16:creationId xmlns:a16="http://schemas.microsoft.com/office/drawing/2014/main" id="{7C9FE8A3-B146-B933-1C6E-E765297F7A76}"/>
                  </a:ext>
                </a:extLst>
              </p:cNvPr>
              <p:cNvSpPr txBox="1">
                <a:spLocks noRot="1" noChangeAspect="1" noMove="1" noResize="1" noEditPoints="1" noAdjustHandles="1" noChangeArrowheads="1" noChangeShapeType="1" noTextEdit="1"/>
              </p:cNvSpPr>
              <p:nvPr/>
            </p:nvSpPr>
            <p:spPr>
              <a:xfrm>
                <a:off x="934974" y="1977890"/>
                <a:ext cx="5090922" cy="369332"/>
              </a:xfrm>
              <a:prstGeom prst="rect">
                <a:avLst/>
              </a:prstGeom>
              <a:blipFill>
                <a:blip r:embed="rId2"/>
                <a:stretch>
                  <a:fillRect l="-957" t="-6557" b="-262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CDD2FA4-1455-66AA-67D9-8E6E494E64D0}"/>
                  </a:ext>
                </a:extLst>
              </p:cNvPr>
              <p:cNvSpPr txBox="1"/>
              <p:nvPr/>
            </p:nvSpPr>
            <p:spPr>
              <a:xfrm>
                <a:off x="998982" y="2347222"/>
                <a:ext cx="6094476" cy="369332"/>
              </a:xfrm>
              <a:prstGeom prst="rect">
                <a:avLst/>
              </a:prstGeom>
              <a:noFill/>
            </p:spPr>
            <p:txBody>
              <a:bodyPr wrap="square">
                <a:spAutoFit/>
              </a:bodyPr>
              <a:lstStyle/>
              <a:p>
                <a:r>
                  <a:rPr lang="en-US" dirty="0"/>
                  <a:t>Large p-value  means weak evidence against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𝐻</m:t>
                        </m:r>
                      </m:e>
                      <m:sub>
                        <m:r>
                          <a:rPr lang="ar-AE" i="0">
                            <a:latin typeface="Cambria Math" panose="02040503050406030204" pitchFamily="18" charset="0"/>
                          </a:rPr>
                          <m:t>0</m:t>
                        </m:r>
                      </m:sub>
                    </m:sSub>
                  </m:oMath>
                </a14:m>
                <a:endParaRPr lang="en-US" dirty="0"/>
              </a:p>
            </p:txBody>
          </p:sp>
        </mc:Choice>
        <mc:Fallback xmlns="">
          <p:sp>
            <p:nvSpPr>
              <p:cNvPr id="8" name="TextBox 7">
                <a:extLst>
                  <a:ext uri="{FF2B5EF4-FFF2-40B4-BE49-F238E27FC236}">
                    <a16:creationId xmlns:a16="http://schemas.microsoft.com/office/drawing/2014/main" id="{FCDD2FA4-1455-66AA-67D9-8E6E494E64D0}"/>
                  </a:ext>
                </a:extLst>
              </p:cNvPr>
              <p:cNvSpPr txBox="1">
                <a:spLocks noRot="1" noChangeAspect="1" noMove="1" noResize="1" noEditPoints="1" noAdjustHandles="1" noChangeArrowheads="1" noChangeShapeType="1" noTextEdit="1"/>
              </p:cNvSpPr>
              <p:nvPr/>
            </p:nvSpPr>
            <p:spPr>
              <a:xfrm>
                <a:off x="998982" y="2347222"/>
                <a:ext cx="6094476" cy="369332"/>
              </a:xfrm>
              <a:prstGeom prst="rect">
                <a:avLst/>
              </a:prstGeom>
              <a:blipFill>
                <a:blip r:embed="rId3"/>
                <a:stretch>
                  <a:fillRect l="-900" t="-6557" b="-262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DAFDFB1-34E8-E3D3-FF7E-A0383B0A8C15}"/>
                  </a:ext>
                </a:extLst>
              </p:cNvPr>
              <p:cNvSpPr txBox="1"/>
              <p:nvPr/>
            </p:nvSpPr>
            <p:spPr>
              <a:xfrm>
                <a:off x="1547622" y="3180460"/>
                <a:ext cx="6094476" cy="2810513"/>
              </a:xfrm>
              <a:prstGeom prst="rect">
                <a:avLst/>
              </a:prstGeom>
              <a:noFill/>
            </p:spPr>
            <p:txBody>
              <a:bodyPr wrap="square">
                <a:spAutoFit/>
              </a:bodyPr>
              <a:lstStyle/>
              <a:p>
                <a:pPr>
                  <a:buNone/>
                </a:pPr>
                <a:r>
                  <a:rPr lang="en-US" b="1" dirty="0"/>
                  <a:t>Calculate Test Statistic</a:t>
                </a:r>
              </a:p>
              <a:p>
                <a:pPr>
                  <a:buNone/>
                </a:pPr>
                <a:r>
                  <a:rPr lang="en-US" dirty="0"/>
                  <a:t>For large samples:</a:t>
                </a:r>
              </a:p>
              <a:p>
                <a:pP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𝑍</m:t>
                      </m:r>
                      <m:r>
                        <a:rPr lang="en-US" i="0">
                          <a:latin typeface="Cambria Math" panose="02040503050406030204" pitchFamily="18" charset="0"/>
                        </a:rPr>
                        <m:t>=</m:t>
                      </m:r>
                      <m:f>
                        <m:fPr>
                          <m:ctrlPr>
                            <a:rPr lang="ar-AE" i="1">
                              <a:latin typeface="Cambria Math" panose="02040503050406030204" pitchFamily="18" charset="0"/>
                            </a:rPr>
                          </m:ctrlPr>
                        </m:fPr>
                        <m:num>
                          <m:limUpp>
                            <m:limUppPr>
                              <m:ctrlPr>
                                <a:rPr lang="ar-AE" i="1">
                                  <a:latin typeface="Cambria Math" panose="02040503050406030204" pitchFamily="18" charset="0"/>
                                </a:rPr>
                              </m:ctrlPr>
                            </m:limUppPr>
                            <m:e>
                              <m:r>
                                <a:rPr lang="ar-AE" i="1">
                                  <a:latin typeface="Cambria Math" panose="02040503050406030204" pitchFamily="18" charset="0"/>
                                </a:rPr>
                                <m:t>𝑥</m:t>
                              </m:r>
                            </m:e>
                            <m:lim>
                              <m:r>
                                <a:rPr lang="ar-AE" i="0">
                                  <a:latin typeface="Cambria Math" panose="02040503050406030204" pitchFamily="18" charset="0"/>
                                </a:rPr>
                                <m:t>ˉ</m:t>
                              </m:r>
                            </m:lim>
                          </m:limUpp>
                          <m:r>
                            <a:rPr lang="ar-AE" i="0">
                              <a:latin typeface="Cambria Math" panose="02040503050406030204" pitchFamily="18" charset="0"/>
                            </a:rPr>
                            <m:t>−</m:t>
                          </m:r>
                          <m:r>
                            <a:rPr lang="ar-AE" i="1">
                              <a:latin typeface="Cambria Math" panose="02040503050406030204" pitchFamily="18" charset="0"/>
                            </a:rPr>
                            <m:t>𝜇</m:t>
                          </m:r>
                        </m:num>
                        <m:den>
                          <m:r>
                            <a:rPr lang="ar-AE" i="1">
                              <a:latin typeface="Cambria Math" panose="02040503050406030204" pitchFamily="18" charset="0"/>
                            </a:rPr>
                            <m:t>𝑠</m:t>
                          </m:r>
                          <m:r>
                            <a:rPr lang="ar-AE" i="0">
                              <a:latin typeface="Cambria Math" panose="02040503050406030204" pitchFamily="18" charset="0"/>
                            </a:rPr>
                            <m:t>/</m:t>
                          </m:r>
                          <m:rad>
                            <m:radPr>
                              <m:degHide m:val="on"/>
                              <m:ctrlPr>
                                <a:rPr lang="ar-AE" i="1">
                                  <a:latin typeface="Cambria Math" panose="02040503050406030204" pitchFamily="18" charset="0"/>
                                </a:rPr>
                              </m:ctrlPr>
                            </m:radPr>
                            <m:deg/>
                            <m:e>
                              <m:r>
                                <a:rPr lang="ar-AE" i="1">
                                  <a:latin typeface="Cambria Math" panose="02040503050406030204" pitchFamily="18" charset="0"/>
                                </a:rPr>
                                <m:t>𝑛</m:t>
                              </m:r>
                            </m:e>
                          </m:rad>
                        </m:den>
                      </m:f>
                    </m:oMath>
                  </m:oMathPara>
                </a14:m>
                <a:endParaRPr lang="ar-AE" dirty="0"/>
              </a:p>
              <a:p>
                <a:pPr>
                  <a:buNone/>
                </a:pPr>
                <a:r>
                  <a:rPr lang="en-US" dirty="0"/>
                  <a:t>where</a:t>
                </a:r>
              </a:p>
              <a:p>
                <a:pPr>
                  <a:buFont typeface="Arial" panose="020B0604020202020204" pitchFamily="34" charset="0"/>
                  <a:buChar char="•"/>
                </a:pPr>
                <a14:m>
                  <m:oMath xmlns:m="http://schemas.openxmlformats.org/officeDocument/2006/math">
                    <m:limUpp>
                      <m:limUppPr>
                        <m:ctrlPr>
                          <a:rPr lang="ar-AE" i="1">
                            <a:latin typeface="Cambria Math" panose="02040503050406030204" pitchFamily="18" charset="0"/>
                          </a:rPr>
                        </m:ctrlPr>
                      </m:limUppPr>
                      <m:e>
                        <m:r>
                          <a:rPr lang="ar-AE" i="1">
                            <a:latin typeface="Cambria Math" panose="02040503050406030204" pitchFamily="18" charset="0"/>
                          </a:rPr>
                          <m:t>𝑥</m:t>
                        </m:r>
                      </m:e>
                      <m:lim>
                        <m:r>
                          <a:rPr lang="ar-AE" i="0">
                            <a:latin typeface="Cambria Math" panose="02040503050406030204" pitchFamily="18" charset="0"/>
                          </a:rPr>
                          <m:t>ˉ</m:t>
                        </m:r>
                      </m:lim>
                    </m:limUpp>
                  </m:oMath>
                </a14:m>
                <a:r>
                  <a:rPr lang="ar-AE" dirty="0"/>
                  <a:t>= </a:t>
                </a:r>
                <a:r>
                  <a:rPr lang="en-US" dirty="0"/>
                  <a:t>sample mean</a:t>
                </a:r>
              </a:p>
              <a:p>
                <a:pPr>
                  <a:buFont typeface="Arial" panose="020B0604020202020204" pitchFamily="34" charset="0"/>
                  <a:buChar char="•"/>
                </a:pPr>
                <a14:m>
                  <m:oMath xmlns:m="http://schemas.openxmlformats.org/officeDocument/2006/math">
                    <m:r>
                      <a:rPr lang="en-US" i="1">
                        <a:latin typeface="Cambria Math" panose="02040503050406030204" pitchFamily="18" charset="0"/>
                      </a:rPr>
                      <m:t>𝜇</m:t>
                    </m:r>
                  </m:oMath>
                </a14:m>
                <a:r>
                  <a:rPr lang="en-US" dirty="0"/>
                  <a:t>= hypothesized mean</a:t>
                </a:r>
              </a:p>
              <a:p>
                <a:pPr>
                  <a:buFont typeface="Arial" panose="020B0604020202020204" pitchFamily="34" charset="0"/>
                  <a:buChar char="•"/>
                </a:pPr>
                <a14:m>
                  <m:oMath xmlns:m="http://schemas.openxmlformats.org/officeDocument/2006/math">
                    <m:r>
                      <a:rPr lang="en-US" i="1">
                        <a:latin typeface="Cambria Math" panose="02040503050406030204" pitchFamily="18" charset="0"/>
                      </a:rPr>
                      <m:t>𝑠</m:t>
                    </m:r>
                  </m:oMath>
                </a14:m>
                <a:r>
                  <a:rPr lang="en-US" dirty="0"/>
                  <a:t>= sample standard deviation</a:t>
                </a:r>
              </a:p>
              <a:p>
                <a:pPr>
                  <a:buFont typeface="Arial" panose="020B0604020202020204" pitchFamily="34" charset="0"/>
                  <a:buChar char="•"/>
                </a:pPr>
                <a14:m>
                  <m:oMath xmlns:m="http://schemas.openxmlformats.org/officeDocument/2006/math">
                    <m:r>
                      <a:rPr lang="en-US" i="1">
                        <a:latin typeface="Cambria Math" panose="02040503050406030204" pitchFamily="18" charset="0"/>
                      </a:rPr>
                      <m:t>𝑛</m:t>
                    </m:r>
                  </m:oMath>
                </a14:m>
                <a:r>
                  <a:rPr lang="en-US" dirty="0"/>
                  <a:t>= sample size</a:t>
                </a:r>
              </a:p>
            </p:txBody>
          </p:sp>
        </mc:Choice>
        <mc:Fallback xmlns="">
          <p:sp>
            <p:nvSpPr>
              <p:cNvPr id="10" name="TextBox 9">
                <a:extLst>
                  <a:ext uri="{FF2B5EF4-FFF2-40B4-BE49-F238E27FC236}">
                    <a16:creationId xmlns:a16="http://schemas.microsoft.com/office/drawing/2014/main" id="{4DAFDFB1-34E8-E3D3-FF7E-A0383B0A8C15}"/>
                  </a:ext>
                </a:extLst>
              </p:cNvPr>
              <p:cNvSpPr txBox="1">
                <a:spLocks noRot="1" noChangeAspect="1" noMove="1" noResize="1" noEditPoints="1" noAdjustHandles="1" noChangeArrowheads="1" noChangeShapeType="1" noTextEdit="1"/>
              </p:cNvSpPr>
              <p:nvPr/>
            </p:nvSpPr>
            <p:spPr>
              <a:xfrm>
                <a:off x="1547622" y="3180460"/>
                <a:ext cx="6094476" cy="2810513"/>
              </a:xfrm>
              <a:prstGeom prst="rect">
                <a:avLst/>
              </a:prstGeom>
              <a:blipFill>
                <a:blip r:embed="rId4"/>
                <a:stretch>
                  <a:fillRect l="-900" t="-1085" b="-2603"/>
                </a:stretch>
              </a:blipFill>
            </p:spPr>
            <p:txBody>
              <a:bodyPr/>
              <a:lstStyle/>
              <a:p>
                <a:r>
                  <a:rPr lang="en-US">
                    <a:noFill/>
                  </a:rPr>
                  <a:t> </a:t>
                </a:r>
              </a:p>
            </p:txBody>
          </p:sp>
        </mc:Fallback>
      </mc:AlternateContent>
    </p:spTree>
    <p:extLst>
      <p:ext uri="{BB962C8B-B14F-4D97-AF65-F5344CB8AC3E}">
        <p14:creationId xmlns:p14="http://schemas.microsoft.com/office/powerpoint/2010/main" val="38622215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B561E-9CFA-3D71-B0B4-138E7F675FDC}"/>
              </a:ext>
            </a:extLst>
          </p:cNvPr>
          <p:cNvSpPr>
            <a:spLocks noGrp="1"/>
          </p:cNvSpPr>
          <p:nvPr>
            <p:ph type="title"/>
          </p:nvPr>
        </p:nvSpPr>
        <p:spPr/>
        <p:txBody>
          <a:bodyPr>
            <a:normAutofit fontScale="90000"/>
          </a:bodyPr>
          <a:lstStyle/>
          <a:p>
            <a:r>
              <a:rPr lang="en-US" sz="2000" dirty="0">
                <a:latin typeface="Times New Roman" panose="02020603050405020304" pitchFamily="18" charset="0"/>
                <a:cs typeface="Times New Roman" panose="02020603050405020304" pitchFamily="18" charset="0"/>
              </a:rPr>
              <a:t>Example 1: A certain type of stainless steel powder is supposed to have a mean particle diameter of μ = 15 units. A random sample of 87 particles had a mean diameter of 15.2 units, with a standard deviation of 1.8 units. A test is made of H0 : μ = 15 versus H1 : μ ̸= 15.</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 Find the P-value.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(b) Do you believe it is plausible that the mean diameter is 15 units,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BBB5347-332A-BC1A-7BEE-EC67B598F4CC}"/>
                  </a:ext>
                </a:extLst>
              </p:cNvPr>
              <p:cNvSpPr>
                <a:spLocks noGrp="1"/>
              </p:cNvSpPr>
              <p:nvPr>
                <p:ph idx="1"/>
              </p:nvPr>
            </p:nvSpPr>
            <p:spPr>
              <a:xfrm>
                <a:off x="966899" y="1773642"/>
                <a:ext cx="5257800" cy="5084358"/>
              </a:xfrm>
            </p:spPr>
            <p:txBody>
              <a:bodyPr>
                <a:normAutofit lnSpcReduction="10000"/>
              </a:bodyPr>
              <a:lstStyle/>
              <a:p>
                <a:pPr marL="0" indent="0">
                  <a:buNone/>
                </a:pPr>
                <a:r>
                  <a:rPr lang="en-US" dirty="0"/>
                  <a:t>Sol:  </a:t>
                </a:r>
                <a:r>
                  <a:rPr lang="en-US" dirty="0">
                    <a:highlight>
                      <a:srgbClr val="00FF00"/>
                    </a:highlight>
                  </a:rPr>
                  <a:t>Step 1:State hypothesis</a:t>
                </a:r>
              </a:p>
              <a:p>
                <a:pPr marL="0" indent="0">
                  <a:buNone/>
                </a:pPr>
                <a:r>
                  <a:rPr lang="en-US" dirty="0"/>
                  <a:t>H</a:t>
                </a:r>
                <a:r>
                  <a:rPr lang="en-US" i="0" baseline="-25000" dirty="0">
                    <a:latin typeface="+mj-lt"/>
                  </a:rPr>
                  <a:t>0</a:t>
                </a:r>
                <a:r>
                  <a:rPr lang="en-US" dirty="0"/>
                  <a:t>​:</a:t>
                </a:r>
                <a:r>
                  <a:rPr lang="el-GR" dirty="0"/>
                  <a:t>μ=15</a:t>
                </a:r>
                <a:r>
                  <a:rPr lang="en-US" dirty="0"/>
                  <a:t> </a:t>
                </a:r>
              </a:p>
              <a:p>
                <a:pPr marL="0" indent="0">
                  <a:buNone/>
                </a:pPr>
                <a:r>
                  <a:rPr lang="en-US" dirty="0"/>
                  <a:t>H1​:</a:t>
                </a:r>
                <a:r>
                  <a:rPr lang="el-GR" dirty="0"/>
                  <a:t>μ</a:t>
                </a:r>
                <a:r>
                  <a:rPr lang="ar-AE" dirty="0"/>
                  <a:t> </a:t>
                </a:r>
                <a14:m>
                  <m:oMath xmlns:m="http://schemas.openxmlformats.org/officeDocument/2006/math">
                    <m:r>
                      <a:rPr lang="ar-AE">
                        <a:latin typeface="Cambria Math" panose="02040503050406030204" pitchFamily="18" charset="0"/>
                      </a:rPr>
                      <m:t>≠</m:t>
                    </m:r>
                    <m:r>
                      <a:rPr lang="ar-AE" i="1">
                        <a:latin typeface="Cambria Math" panose="02040503050406030204" pitchFamily="18" charset="0"/>
                      </a:rPr>
                      <m:t> </m:t>
                    </m:r>
                  </m:oMath>
                </a14:m>
                <a:r>
                  <a:rPr lang="el-GR" dirty="0"/>
                  <a:t>15</a:t>
                </a:r>
                <a:endParaRPr lang="en-US" dirty="0"/>
              </a:p>
              <a:p>
                <a:pPr marL="0" indent="0">
                  <a:buNone/>
                </a:pPr>
                <a:r>
                  <a:rPr lang="en-US" dirty="0">
                    <a:highlight>
                      <a:srgbClr val="00FF00"/>
                    </a:highlight>
                  </a:rPr>
                  <a:t>Step 2: Test Statistic Formula</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𝑍</m:t>
                      </m:r>
                      <m:r>
                        <a:rPr lang="en-US">
                          <a:latin typeface="Cambria Math" panose="02040503050406030204" pitchFamily="18" charset="0"/>
                        </a:rPr>
                        <m:t>=</m:t>
                      </m:r>
                      <m:f>
                        <m:fPr>
                          <m:ctrlPr>
                            <a:rPr lang="ar-AE" i="1">
                              <a:latin typeface="Cambria Math" panose="02040503050406030204" pitchFamily="18" charset="0"/>
                            </a:rPr>
                          </m:ctrlPr>
                        </m:fPr>
                        <m:num>
                          <m:limUpp>
                            <m:limUppPr>
                              <m:ctrlPr>
                                <a:rPr lang="ar-AE" i="1">
                                  <a:latin typeface="Cambria Math" panose="02040503050406030204" pitchFamily="18" charset="0"/>
                                </a:rPr>
                              </m:ctrlPr>
                            </m:limUppPr>
                            <m:e>
                              <m:r>
                                <a:rPr lang="ar-AE" i="1">
                                  <a:latin typeface="Cambria Math" panose="02040503050406030204" pitchFamily="18" charset="0"/>
                                </a:rPr>
                                <m:t>𝑥</m:t>
                              </m:r>
                            </m:e>
                            <m:lim>
                              <m:r>
                                <a:rPr lang="ar-AE">
                                  <a:latin typeface="Cambria Math" panose="02040503050406030204" pitchFamily="18" charset="0"/>
                                </a:rPr>
                                <m:t>ˉ</m:t>
                              </m:r>
                            </m:lim>
                          </m:limUpp>
                          <m:r>
                            <a:rPr lang="ar-AE">
                              <a:latin typeface="Cambria Math" panose="02040503050406030204" pitchFamily="18" charset="0"/>
                            </a:rPr>
                            <m:t>−</m:t>
                          </m:r>
                          <m:r>
                            <a:rPr lang="ar-AE" i="1">
                              <a:latin typeface="Cambria Math" panose="02040503050406030204" pitchFamily="18" charset="0"/>
                            </a:rPr>
                            <m:t>𝜇</m:t>
                          </m:r>
                        </m:num>
                        <m:den>
                          <m:r>
                            <a:rPr lang="ar-AE" i="1">
                              <a:latin typeface="Cambria Math" panose="02040503050406030204" pitchFamily="18" charset="0"/>
                            </a:rPr>
                            <m:t>𝑠</m:t>
                          </m:r>
                          <m:r>
                            <a:rPr lang="ar-AE">
                              <a:latin typeface="Cambria Math" panose="02040503050406030204" pitchFamily="18" charset="0"/>
                            </a:rPr>
                            <m:t>/</m:t>
                          </m:r>
                          <m:rad>
                            <m:radPr>
                              <m:degHide m:val="on"/>
                              <m:ctrlPr>
                                <a:rPr lang="ar-AE" i="1">
                                  <a:latin typeface="Cambria Math" panose="02040503050406030204" pitchFamily="18" charset="0"/>
                                </a:rPr>
                              </m:ctrlPr>
                            </m:radPr>
                            <m:deg/>
                            <m:e>
                              <m:r>
                                <a:rPr lang="ar-AE" i="1">
                                  <a:latin typeface="Cambria Math" panose="02040503050406030204" pitchFamily="18" charset="0"/>
                                </a:rPr>
                                <m:t>𝑛</m:t>
                              </m:r>
                            </m:e>
                          </m:rad>
                        </m:den>
                      </m:f>
                    </m:oMath>
                  </m:oMathPara>
                </a14:m>
                <a:endParaRPr lang="en-US" dirty="0"/>
              </a:p>
              <a:p>
                <a:pPr marL="0" indent="0">
                  <a:buNone/>
                </a:pPr>
                <a:r>
                  <a:rPr lang="en-US" sz="1900" dirty="0"/>
                  <a:t>Sample size   </a:t>
                </a:r>
                <a14:m>
                  <m:oMath xmlns:m="http://schemas.openxmlformats.org/officeDocument/2006/math">
                    <m:r>
                      <a:rPr lang="en-US" sz="1900" i="1">
                        <a:latin typeface="Cambria Math" panose="02040503050406030204" pitchFamily="18" charset="0"/>
                      </a:rPr>
                      <m:t>𝑛</m:t>
                    </m:r>
                    <m:r>
                      <a:rPr lang="en-US" sz="1900">
                        <a:latin typeface="Cambria Math" panose="02040503050406030204" pitchFamily="18" charset="0"/>
                      </a:rPr>
                      <m:t>=</m:t>
                    </m:r>
                    <m:r>
                      <a:rPr lang="en-US" sz="1900">
                        <a:latin typeface="Cambria Math" panose="02040503050406030204" pitchFamily="18" charset="0"/>
                      </a:rPr>
                      <m:t>87</m:t>
                    </m:r>
                  </m:oMath>
                </a14:m>
                <a:r>
                  <a:rPr lang="en-US" sz="1900" dirty="0"/>
                  <a:t>  </a:t>
                </a:r>
              </a:p>
              <a:p>
                <a:pPr marL="0" indent="0">
                  <a:buNone/>
                </a:pPr>
                <a:r>
                  <a:rPr lang="en-US" sz="1900" dirty="0"/>
                  <a:t>Sample mean </a:t>
                </a:r>
                <a14:m>
                  <m:oMath xmlns:m="http://schemas.openxmlformats.org/officeDocument/2006/math">
                    <m:limUpp>
                      <m:limUppPr>
                        <m:ctrlPr>
                          <a:rPr lang="ar-AE" sz="1900" i="1">
                            <a:latin typeface="Cambria Math" panose="02040503050406030204" pitchFamily="18" charset="0"/>
                          </a:rPr>
                        </m:ctrlPr>
                      </m:limUppPr>
                      <m:e>
                        <m:r>
                          <a:rPr lang="ar-AE" sz="1900" i="1">
                            <a:latin typeface="Cambria Math" panose="02040503050406030204" pitchFamily="18" charset="0"/>
                          </a:rPr>
                          <m:t>𝑥</m:t>
                        </m:r>
                      </m:e>
                      <m:lim>
                        <m:r>
                          <a:rPr lang="ar-AE" sz="1900">
                            <a:latin typeface="Cambria Math" panose="02040503050406030204" pitchFamily="18" charset="0"/>
                          </a:rPr>
                          <m:t>ˉ</m:t>
                        </m:r>
                      </m:lim>
                    </m:limUpp>
                    <m:r>
                      <a:rPr lang="ar-AE" sz="1900">
                        <a:latin typeface="Cambria Math" panose="02040503050406030204" pitchFamily="18" charset="0"/>
                      </a:rPr>
                      <m:t>=</m:t>
                    </m:r>
                    <m:r>
                      <a:rPr lang="ar-AE" sz="1900">
                        <a:latin typeface="Cambria Math" panose="02040503050406030204" pitchFamily="18" charset="0"/>
                      </a:rPr>
                      <m:t>15</m:t>
                    </m:r>
                    <m:r>
                      <a:rPr lang="ar-AE" sz="1900">
                        <a:latin typeface="Cambria Math" panose="02040503050406030204" pitchFamily="18" charset="0"/>
                      </a:rPr>
                      <m:t>.</m:t>
                    </m:r>
                    <m:r>
                      <a:rPr lang="ar-AE" sz="1900">
                        <a:latin typeface="Cambria Math" panose="02040503050406030204" pitchFamily="18" charset="0"/>
                      </a:rPr>
                      <m:t>2</m:t>
                    </m:r>
                  </m:oMath>
                </a14:m>
                <a:endParaRPr lang="ar-AE" sz="1900" dirty="0"/>
              </a:p>
              <a:p>
                <a:pPr marL="0" indent="0">
                  <a:buNone/>
                </a:pPr>
                <a:r>
                  <a:rPr lang="en-US" sz="1900" dirty="0"/>
                  <a:t>Population mean under </a:t>
                </a:r>
                <a14:m>
                  <m:oMath xmlns:m="http://schemas.openxmlformats.org/officeDocument/2006/math">
                    <m:sSub>
                      <m:sSubPr>
                        <m:ctrlPr>
                          <a:rPr lang="ar-AE" sz="1900" i="1">
                            <a:latin typeface="Cambria Math" panose="02040503050406030204" pitchFamily="18" charset="0"/>
                          </a:rPr>
                        </m:ctrlPr>
                      </m:sSubPr>
                      <m:e>
                        <m:r>
                          <a:rPr lang="ar-AE" sz="1900" i="1">
                            <a:latin typeface="Cambria Math" panose="02040503050406030204" pitchFamily="18" charset="0"/>
                          </a:rPr>
                          <m:t>𝐻</m:t>
                        </m:r>
                      </m:e>
                      <m:sub>
                        <m:r>
                          <a:rPr lang="ar-AE" sz="1900">
                            <a:latin typeface="Cambria Math" panose="02040503050406030204" pitchFamily="18" charset="0"/>
                          </a:rPr>
                          <m:t>0</m:t>
                        </m:r>
                      </m:sub>
                    </m:sSub>
                    <m:r>
                      <a:rPr lang="en-US" sz="1900" b="0" i="1" smtClean="0">
                        <a:latin typeface="Cambria Math" panose="02040503050406030204" pitchFamily="18" charset="0"/>
                      </a:rPr>
                      <m:t> </m:t>
                    </m:r>
                    <m:r>
                      <a:rPr lang="ar-AE" sz="1900" i="1">
                        <a:latin typeface="Cambria Math" panose="02040503050406030204" pitchFamily="18" charset="0"/>
                      </a:rPr>
                      <m:t>𝜇</m:t>
                    </m:r>
                    <m:r>
                      <a:rPr lang="ar-AE" sz="1900">
                        <a:latin typeface="Cambria Math" panose="02040503050406030204" pitchFamily="18" charset="0"/>
                      </a:rPr>
                      <m:t>=</m:t>
                    </m:r>
                    <m:r>
                      <a:rPr lang="ar-AE" sz="1900">
                        <a:latin typeface="Cambria Math" panose="02040503050406030204" pitchFamily="18" charset="0"/>
                      </a:rPr>
                      <m:t>15</m:t>
                    </m:r>
                  </m:oMath>
                </a14:m>
                <a:endParaRPr lang="ar-AE" sz="1900" dirty="0"/>
              </a:p>
              <a:p>
                <a:pPr marL="0" indent="0">
                  <a:buNone/>
                </a:pPr>
                <a:r>
                  <a:rPr lang="en-US" sz="1900" dirty="0"/>
                  <a:t>Sample standard deviation </a:t>
                </a:r>
                <a14:m>
                  <m:oMath xmlns:m="http://schemas.openxmlformats.org/officeDocument/2006/math">
                    <m:r>
                      <a:rPr lang="en-US" sz="1900" i="1">
                        <a:latin typeface="Cambria Math" panose="02040503050406030204" pitchFamily="18" charset="0"/>
                      </a:rPr>
                      <m:t>𝑠</m:t>
                    </m:r>
                    <m:r>
                      <a:rPr lang="en-US" sz="1900">
                        <a:latin typeface="Cambria Math" panose="02040503050406030204" pitchFamily="18" charset="0"/>
                      </a:rPr>
                      <m:t>=</m:t>
                    </m:r>
                    <m:r>
                      <a:rPr lang="en-US" sz="1900">
                        <a:latin typeface="Cambria Math" panose="02040503050406030204" pitchFamily="18" charset="0"/>
                      </a:rPr>
                      <m:t>1</m:t>
                    </m:r>
                    <m:r>
                      <a:rPr lang="en-US" sz="1900">
                        <a:latin typeface="Cambria Math" panose="02040503050406030204" pitchFamily="18" charset="0"/>
                      </a:rPr>
                      <m:t>.</m:t>
                    </m:r>
                    <m:r>
                      <a:rPr lang="en-US" sz="1900">
                        <a:latin typeface="Cambria Math" panose="02040503050406030204" pitchFamily="18" charset="0"/>
                      </a:rPr>
                      <m:t>8</m:t>
                    </m:r>
                  </m:oMath>
                </a14:m>
                <a:endParaRPr lang="en-US" sz="1900" dirty="0"/>
              </a:p>
              <a:p>
                <a:pPr marL="0" indent="0">
                  <a:buNone/>
                </a:pPr>
                <a:r>
                  <a:rPr lang="en-US" dirty="0">
                    <a:highlight>
                      <a:srgbClr val="00FF00"/>
                    </a:highlight>
                  </a:rPr>
                  <a:t>Z=1.04 (</a:t>
                </a:r>
                <a:r>
                  <a:rPr lang="en-US" dirty="0" err="1">
                    <a:highlight>
                      <a:srgbClr val="00FF00"/>
                    </a:highlight>
                  </a:rPr>
                  <a:t>approx</a:t>
                </a:r>
                <a:r>
                  <a:rPr lang="en-US" dirty="0">
                    <a:highlight>
                      <a:srgbClr val="00FF00"/>
                    </a:highlight>
                  </a:rPr>
                  <a:t>)</a:t>
                </a:r>
              </a:p>
            </p:txBody>
          </p:sp>
        </mc:Choice>
        <mc:Fallback xmlns="">
          <p:sp>
            <p:nvSpPr>
              <p:cNvPr id="3" name="Content Placeholder 2">
                <a:extLst>
                  <a:ext uri="{FF2B5EF4-FFF2-40B4-BE49-F238E27FC236}">
                    <a16:creationId xmlns:a16="http://schemas.microsoft.com/office/drawing/2014/main" id="{BBBB5347-332A-BC1A-7BEE-EC67B598F4CC}"/>
                  </a:ext>
                </a:extLst>
              </p:cNvPr>
              <p:cNvSpPr>
                <a:spLocks noGrp="1" noRot="1" noChangeAspect="1" noMove="1" noResize="1" noEditPoints="1" noAdjustHandles="1" noChangeArrowheads="1" noChangeShapeType="1" noTextEdit="1"/>
              </p:cNvSpPr>
              <p:nvPr>
                <p:ph idx="1"/>
              </p:nvPr>
            </p:nvSpPr>
            <p:spPr>
              <a:xfrm>
                <a:off x="966899" y="1773642"/>
                <a:ext cx="5257800" cy="5084358"/>
              </a:xfrm>
              <a:blipFill>
                <a:blip r:embed="rId2"/>
                <a:stretch>
                  <a:fillRect l="-2436" t="-2758"/>
                </a:stretch>
              </a:blipFill>
            </p:spPr>
            <p:txBody>
              <a:bodyPr/>
              <a:lstStyle/>
              <a:p>
                <a:r>
                  <a:rPr lang="en-US">
                    <a:noFill/>
                  </a:rPr>
                  <a:t> </a:t>
                </a:r>
              </a:p>
            </p:txBody>
          </p:sp>
        </mc:Fallback>
      </mc:AlternateContent>
      <p:pic>
        <p:nvPicPr>
          <p:cNvPr id="6146" name="Picture 2" descr="P-Value Explained in Normal Distribution">
            <a:extLst>
              <a:ext uri="{FF2B5EF4-FFF2-40B4-BE49-F238E27FC236}">
                <a16:creationId xmlns:a16="http://schemas.microsoft.com/office/drawing/2014/main" id="{38B48E87-6D9A-A8D2-B684-F38F0F4ABF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4699" y="2207173"/>
            <a:ext cx="5999988" cy="37979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08672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2E58BEE-01FC-6066-8C2A-4C71B2494159}"/>
                  </a:ext>
                </a:extLst>
              </p:cNvPr>
              <p:cNvSpPr>
                <a:spLocks noGrp="1"/>
              </p:cNvSpPr>
              <p:nvPr>
                <p:ph idx="1"/>
              </p:nvPr>
            </p:nvSpPr>
            <p:spPr>
              <a:xfrm>
                <a:off x="838200" y="292608"/>
                <a:ext cx="10515600" cy="5884355"/>
              </a:xfrm>
            </p:spPr>
            <p:txBody>
              <a:bodyPr/>
              <a:lstStyle/>
              <a:p>
                <a:pPr marL="0" indent="0">
                  <a:buNone/>
                </a:pPr>
                <a:r>
                  <a:rPr lang="en-US" dirty="0">
                    <a:highlight>
                      <a:srgbClr val="00FF00"/>
                    </a:highlight>
                  </a:rPr>
                  <a:t>Step 6: Find the P-value</a:t>
                </a:r>
              </a:p>
              <a:p>
                <a:pPr marL="0" indent="0">
                  <a:buNone/>
                </a:pPr>
                <a:r>
                  <a:rPr lang="en-US" dirty="0">
                    <a:latin typeface="Times New Roman" panose="02020603050405020304" pitchFamily="18" charset="0"/>
                    <a:cs typeface="Times New Roman" panose="02020603050405020304" pitchFamily="18" charset="0"/>
                  </a:rPr>
                  <a:t>P(Z&lt;1.04)=0.8508</a:t>
                </a:r>
              </a:p>
              <a:p>
                <a:pPr marL="0" indent="0">
                  <a:buNone/>
                </a:pPr>
                <a:r>
                  <a:rPr lang="en-US" dirty="0"/>
                  <a:t>Since this is a two-tailed test</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r>
                        <a:rPr lang="en-US" i="1">
                          <a:latin typeface="Cambria Math" panose="02040503050406030204" pitchFamily="18" charset="0"/>
                        </a:rPr>
                        <m:t>𝑃</m:t>
                      </m:r>
                      <m:r>
                        <m:rPr>
                          <m:nor/>
                        </m:rPr>
                        <a:rPr lang="en-US" i="1"/>
                        <m:t>−</m:t>
                      </m:r>
                      <m:r>
                        <m:rPr>
                          <m:nor/>
                        </m:rPr>
                        <a:rPr lang="en-US" i="1"/>
                        <m:t>value</m:t>
                      </m:r>
                      <m:r>
                        <a:rPr lang="en-US">
                          <a:latin typeface="Cambria Math" panose="02040503050406030204" pitchFamily="18" charset="0"/>
                        </a:rPr>
                        <m:t>=</m:t>
                      </m:r>
                      <m:r>
                        <a:rPr lang="en-US">
                          <a:latin typeface="Cambria Math" panose="02040503050406030204" pitchFamily="18" charset="0"/>
                        </a:rPr>
                        <m:t>2</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8508</m:t>
                          </m:r>
                        </m:e>
                      </m:d>
                    </m:oMath>
                  </m:oMathPara>
                </a14:m>
                <a:endParaRPr lang="ar-AE" b="0" dirty="0"/>
              </a:p>
              <a:p>
                <a:pPr marL="0" indent="0">
                  <a:buNone/>
                </a:pPr>
                <a:r>
                  <a:rPr lang="en-US" dirty="0"/>
                  <a:t>                                            P=0.2984</a:t>
                </a:r>
              </a:p>
              <a:p>
                <a:pPr marL="0" indent="0">
                  <a:buNone/>
                </a:pPr>
                <a:r>
                  <a:rPr lang="en-US" b="1" dirty="0"/>
                  <a:t>(b) Is </a:t>
                </a:r>
                <a:r>
                  <a:rPr lang="el-GR" b="1" dirty="0"/>
                  <a:t>μ = 15 </a:t>
                </a:r>
                <a:r>
                  <a:rPr lang="en-US" b="1" dirty="0"/>
                  <a:t>plausible?</a:t>
                </a:r>
              </a:p>
              <a:p>
                <a:pPr marL="0" indent="0">
                  <a:buNone/>
                </a:pPr>
                <a:r>
                  <a:rPr lang="en-US" dirty="0"/>
                  <a:t>Typical significance level  </a:t>
                </a:r>
                <a14:m>
                  <m:oMath xmlns:m="http://schemas.openxmlformats.org/officeDocument/2006/math">
                    <m:r>
                      <a:rPr lang="en-US" i="1">
                        <a:latin typeface="Cambria Math" panose="02040503050406030204" pitchFamily="18" charset="0"/>
                      </a:rPr>
                      <m:t>𝛼</m:t>
                    </m:r>
                    <m:r>
                      <a:rPr lang="en-US">
                        <a:latin typeface="Cambria Math" panose="02040503050406030204" pitchFamily="18" charset="0"/>
                      </a:rPr>
                      <m:t>=</m:t>
                    </m:r>
                    <m:r>
                      <a:rPr lang="en-US">
                        <a:latin typeface="Cambria Math" panose="02040503050406030204" pitchFamily="18" charset="0"/>
                      </a:rPr>
                      <m:t>0</m:t>
                    </m:r>
                    <m:r>
                      <a:rPr lang="en-US">
                        <a:latin typeface="Cambria Math" panose="02040503050406030204" pitchFamily="18" charset="0"/>
                      </a:rPr>
                      <m:t>.</m:t>
                    </m:r>
                    <m:r>
                      <a:rPr lang="en-US">
                        <a:latin typeface="Cambria Math" panose="02040503050406030204" pitchFamily="18" charset="0"/>
                      </a:rPr>
                      <m:t>05</m:t>
                    </m:r>
                  </m:oMath>
                </a14:m>
                <a:endParaRPr lang="en-US" dirty="0"/>
              </a:p>
              <a:p>
                <a:pPr marL="0" indent="0">
                  <a:buNone/>
                </a:pPr>
                <a:r>
                  <a:rPr lang="en-US" dirty="0"/>
                  <a:t>Compare  </a:t>
                </a:r>
                <a14:m>
                  <m:oMath xmlns:m="http://schemas.openxmlformats.org/officeDocument/2006/math">
                    <m:r>
                      <a:rPr lang="en-US" i="1">
                        <a:latin typeface="Cambria Math" panose="02040503050406030204" pitchFamily="18" charset="0"/>
                      </a:rPr>
                      <m:t>𝑃</m:t>
                    </m:r>
                    <m:r>
                      <a:rPr lang="en-US">
                        <a:latin typeface="Cambria Math" panose="02040503050406030204" pitchFamily="18" charset="0"/>
                      </a:rPr>
                      <m:t>=</m:t>
                    </m:r>
                    <m:r>
                      <a:rPr lang="en-US">
                        <a:latin typeface="Cambria Math" panose="02040503050406030204" pitchFamily="18" charset="0"/>
                      </a:rPr>
                      <m:t>0</m:t>
                    </m:r>
                    <m:r>
                      <a:rPr lang="en-US">
                        <a:latin typeface="Cambria Math" panose="02040503050406030204" pitchFamily="18" charset="0"/>
                      </a:rPr>
                      <m:t>.</m:t>
                    </m:r>
                    <m:r>
                      <a:rPr lang="en-US">
                        <a:latin typeface="Cambria Math" panose="02040503050406030204" pitchFamily="18" charset="0"/>
                      </a:rPr>
                      <m:t>298</m:t>
                    </m:r>
                    <m:r>
                      <a:rPr lang="en-US">
                        <a:latin typeface="Cambria Math" panose="02040503050406030204" pitchFamily="18" charset="0"/>
                      </a:rPr>
                      <m:t>&gt;</m:t>
                    </m:r>
                    <m:r>
                      <a:rPr lang="en-US">
                        <a:latin typeface="Cambria Math" panose="02040503050406030204" pitchFamily="18" charset="0"/>
                      </a:rPr>
                      <m:t>0</m:t>
                    </m:r>
                    <m:r>
                      <a:rPr lang="en-US">
                        <a:latin typeface="Cambria Math" panose="02040503050406030204" pitchFamily="18" charset="0"/>
                      </a:rPr>
                      <m:t>.</m:t>
                    </m:r>
                    <m:r>
                      <a:rPr lang="en-US">
                        <a:latin typeface="Cambria Math" panose="02040503050406030204" pitchFamily="18" charset="0"/>
                      </a:rPr>
                      <m:t>05</m:t>
                    </m:r>
                  </m:oMath>
                </a14:m>
                <a:endParaRPr lang="en-US" dirty="0"/>
              </a:p>
              <a:p>
                <a:pPr marL="0" indent="0">
                  <a:buNone/>
                </a:pPr>
                <a:r>
                  <a:rPr lang="en-US" dirty="0"/>
                  <a:t>Since P-value is large, we fail to reject </a:t>
                </a:r>
                <a14:m>
                  <m:oMath xmlns:m="http://schemas.openxmlformats.org/officeDocument/2006/math">
                    <m:sSub>
                      <m:sSubPr>
                        <m:ctrlPr>
                          <a:rPr lang="ar-AE" i="1">
                            <a:latin typeface="Cambria Math" panose="02040503050406030204" pitchFamily="18" charset="0"/>
                          </a:rPr>
                        </m:ctrlPr>
                      </m:sSubPr>
                      <m:e>
                        <m:r>
                          <a:rPr lang="ar-AE" b="0" i="1">
                            <a:latin typeface="Cambria Math" panose="02040503050406030204" pitchFamily="18" charset="0"/>
                          </a:rPr>
                          <m:t>𝐻</m:t>
                        </m:r>
                      </m:e>
                      <m:sub>
                        <m:r>
                          <a:rPr lang="ar-AE" b="0" i="1">
                            <a:latin typeface="Cambria Math" panose="02040503050406030204" pitchFamily="18" charset="0"/>
                          </a:rPr>
                          <m:t>0</m:t>
                        </m:r>
                      </m:sub>
                    </m:sSub>
                  </m:oMath>
                </a14:m>
                <a:r>
                  <a:rPr lang="ar-AE" dirty="0"/>
                  <a:t>.</a:t>
                </a:r>
              </a:p>
              <a:p>
                <a:pPr marL="0" indent="0">
                  <a:buNone/>
                </a:pPr>
                <a:r>
                  <a:rPr lang="en-US" dirty="0"/>
                  <a:t>Yes. The hypothesis that </a:t>
                </a:r>
                <a:r>
                  <a:rPr lang="el-GR" dirty="0"/>
                  <a:t>μ = 15 </a:t>
                </a:r>
                <a:r>
                  <a:rPr lang="en-US" dirty="0"/>
                  <a:t>is plausible, since we fail to reject </a:t>
                </a:r>
                <a14:m>
                  <m:oMath xmlns:m="http://schemas.openxmlformats.org/officeDocument/2006/math">
                    <m:sSub>
                      <m:sSubPr>
                        <m:ctrlPr>
                          <a:rPr lang="ar-AE" i="1">
                            <a:latin typeface="Cambria Math" panose="02040503050406030204" pitchFamily="18" charset="0"/>
                          </a:rPr>
                        </m:ctrlPr>
                      </m:sSubPr>
                      <m:e>
                        <m:r>
                          <a:rPr lang="ar-AE" b="0" i="1">
                            <a:latin typeface="Cambria Math" panose="02040503050406030204" pitchFamily="18" charset="0"/>
                          </a:rPr>
                          <m:t>𝐻</m:t>
                        </m:r>
                      </m:e>
                      <m:sub>
                        <m:r>
                          <a:rPr lang="ar-AE" b="0" i="1">
                            <a:latin typeface="Cambria Math" panose="02040503050406030204" pitchFamily="18" charset="0"/>
                          </a:rPr>
                          <m:t>0</m:t>
                        </m:r>
                      </m:sub>
                    </m:sSub>
                  </m:oMath>
                </a14:m>
                <a:r>
                  <a:rPr lang="ar-AE" dirty="0"/>
                  <a:t>.</a:t>
                </a:r>
                <a:endParaRPr lang="en-US"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02E58BEE-01FC-6066-8C2A-4C71B2494159}"/>
                  </a:ext>
                </a:extLst>
              </p:cNvPr>
              <p:cNvSpPr>
                <a:spLocks noGrp="1" noRot="1" noChangeAspect="1" noMove="1" noResize="1" noEditPoints="1" noAdjustHandles="1" noChangeArrowheads="1" noChangeShapeType="1" noTextEdit="1"/>
              </p:cNvSpPr>
              <p:nvPr>
                <p:ph idx="1"/>
              </p:nvPr>
            </p:nvSpPr>
            <p:spPr>
              <a:xfrm>
                <a:off x="838200" y="292608"/>
                <a:ext cx="10515600" cy="5884355"/>
              </a:xfrm>
              <a:blipFill>
                <a:blip r:embed="rId2"/>
                <a:stretch>
                  <a:fillRect l="-1217" t="-1762"/>
                </a:stretch>
              </a:blipFill>
            </p:spPr>
            <p:txBody>
              <a:bodyPr/>
              <a:lstStyle/>
              <a:p>
                <a:r>
                  <a:rPr lang="en-US">
                    <a:noFill/>
                  </a:rPr>
                  <a:t> </a:t>
                </a:r>
              </a:p>
            </p:txBody>
          </p:sp>
        </mc:Fallback>
      </mc:AlternateContent>
    </p:spTree>
    <p:extLst>
      <p:ext uri="{BB962C8B-B14F-4D97-AF65-F5344CB8AC3E}">
        <p14:creationId xmlns:p14="http://schemas.microsoft.com/office/powerpoint/2010/main" val="678708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855DB5-C773-A09A-6B7D-566D8EC8BC35}"/>
              </a:ext>
            </a:extLst>
          </p:cNvPr>
          <p:cNvSpPr>
            <a:spLocks noGrp="1"/>
          </p:cNvSpPr>
          <p:nvPr>
            <p:ph idx="1"/>
          </p:nvPr>
        </p:nvSpPr>
        <p:spPr>
          <a:xfrm>
            <a:off x="838200" y="310897"/>
            <a:ext cx="10515600" cy="2395728"/>
          </a:xfrm>
        </p:spPr>
        <p:txBody>
          <a:bodyPr/>
          <a:lstStyle/>
          <a:p>
            <a:pPr marL="0" indent="0">
              <a:buNone/>
            </a:pPr>
            <a:r>
              <a:rPr lang="en-US" b="1" dirty="0">
                <a:highlight>
                  <a:srgbClr val="FFFF00"/>
                </a:highlight>
                <a:latin typeface="Times New Roman" panose="02020603050405020304" pitchFamily="18" charset="0"/>
                <a:cs typeface="Times New Roman" panose="02020603050405020304" pitchFamily="18" charset="0"/>
              </a:rPr>
              <a:t>NOVA (Analysis of Variance) </a:t>
            </a:r>
          </a:p>
          <a:p>
            <a:r>
              <a:rPr lang="en-US" b="1" dirty="0"/>
              <a:t>ANOVA</a:t>
            </a:r>
            <a:r>
              <a:rPr lang="en-US" dirty="0"/>
              <a:t> is a statistical test used to compare the means of three or more groups to determine whether at least one group mean is different from the others.</a:t>
            </a:r>
          </a:p>
          <a:p>
            <a:r>
              <a:rPr lang="en-US" dirty="0"/>
              <a:t>It extends the idea of the </a:t>
            </a:r>
            <a:r>
              <a:rPr lang="en-US" b="1" dirty="0"/>
              <a:t>t-test</a:t>
            </a:r>
            <a:r>
              <a:rPr lang="en-US" dirty="0"/>
              <a:t> (which compares only two means).</a:t>
            </a:r>
          </a:p>
          <a:p>
            <a:pPr marL="0" indent="0">
              <a:buNone/>
            </a:pPr>
            <a:endParaRPr lang="en-US" dirty="0"/>
          </a:p>
        </p:txBody>
      </p:sp>
      <p:sp>
        <p:nvSpPr>
          <p:cNvPr id="5" name="TextBox 4">
            <a:extLst>
              <a:ext uri="{FF2B5EF4-FFF2-40B4-BE49-F238E27FC236}">
                <a16:creationId xmlns:a16="http://schemas.microsoft.com/office/drawing/2014/main" id="{BA757BE7-06AC-6A73-AA41-DE3DFEB141DD}"/>
              </a:ext>
            </a:extLst>
          </p:cNvPr>
          <p:cNvSpPr txBox="1"/>
          <p:nvPr/>
        </p:nvSpPr>
        <p:spPr>
          <a:xfrm>
            <a:off x="1181862" y="2706625"/>
            <a:ext cx="2951226" cy="369332"/>
          </a:xfrm>
          <a:prstGeom prst="rect">
            <a:avLst/>
          </a:prstGeom>
          <a:noFill/>
        </p:spPr>
        <p:txBody>
          <a:bodyPr wrap="square">
            <a:spAutoFit/>
          </a:bodyPr>
          <a:lstStyle/>
          <a:p>
            <a:r>
              <a:rPr lang="en-US" dirty="0">
                <a:highlight>
                  <a:srgbClr val="FFFF00"/>
                </a:highlight>
              </a:rPr>
              <a:t>1. Purpose of ANOVA</a:t>
            </a:r>
          </a:p>
        </p:txBody>
      </p:sp>
      <p:sp>
        <p:nvSpPr>
          <p:cNvPr id="7" name="TextBox 6">
            <a:extLst>
              <a:ext uri="{FF2B5EF4-FFF2-40B4-BE49-F238E27FC236}">
                <a16:creationId xmlns:a16="http://schemas.microsoft.com/office/drawing/2014/main" id="{0AEA0711-4DAE-F378-B79F-A92FB64D93AD}"/>
              </a:ext>
            </a:extLst>
          </p:cNvPr>
          <p:cNvSpPr txBox="1"/>
          <p:nvPr/>
        </p:nvSpPr>
        <p:spPr>
          <a:xfrm>
            <a:off x="1529334" y="3244334"/>
            <a:ext cx="6094476" cy="369332"/>
          </a:xfrm>
          <a:prstGeom prst="rect">
            <a:avLst/>
          </a:prstGeom>
          <a:noFill/>
        </p:spPr>
        <p:txBody>
          <a:bodyPr wrap="square">
            <a:spAutoFit/>
          </a:bodyPr>
          <a:lstStyle/>
          <a:p>
            <a:r>
              <a:rPr lang="en-US" dirty="0"/>
              <a:t>Are the means of several populations equal?</a:t>
            </a:r>
          </a:p>
        </p:txBody>
      </p:sp>
      <p:sp>
        <p:nvSpPr>
          <p:cNvPr id="9" name="TextBox 8">
            <a:extLst>
              <a:ext uri="{FF2B5EF4-FFF2-40B4-BE49-F238E27FC236}">
                <a16:creationId xmlns:a16="http://schemas.microsoft.com/office/drawing/2014/main" id="{D6B9C338-5151-0532-60CC-BF401F3EF9BB}"/>
              </a:ext>
            </a:extLst>
          </p:cNvPr>
          <p:cNvSpPr txBox="1"/>
          <p:nvPr/>
        </p:nvSpPr>
        <p:spPr>
          <a:xfrm>
            <a:off x="2657475" y="3966709"/>
            <a:ext cx="4831461" cy="400110"/>
          </a:xfrm>
          <a:prstGeom prst="rect">
            <a:avLst/>
          </a:prstGeom>
          <a:noFill/>
        </p:spPr>
        <p:txBody>
          <a:bodyPr wrap="square">
            <a:spAutoFit/>
          </a:bodyPr>
          <a:lstStyle/>
          <a:p>
            <a:r>
              <a:rPr lang="pt-BR" sz="2000" dirty="0">
                <a:latin typeface="Times New Roman" panose="02020603050405020304" pitchFamily="18" charset="0"/>
                <a:cs typeface="Times New Roman" panose="02020603050405020304" pitchFamily="18" charset="0"/>
              </a:rPr>
              <a:t>NULL Hypothesus H0​:μ1​=μ2​=μ3​=...=μk​</a:t>
            </a:r>
            <a:endParaRPr lang="en-US" sz="2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E8185D9-158A-724D-CDDB-7C65618354A0}"/>
                  </a:ext>
                </a:extLst>
              </p:cNvPr>
              <p:cNvSpPr txBox="1"/>
              <p:nvPr/>
            </p:nvSpPr>
            <p:spPr>
              <a:xfrm>
                <a:off x="1529334" y="4587163"/>
                <a:ext cx="6094476" cy="646331"/>
              </a:xfrm>
              <a:prstGeom prst="rect">
                <a:avLst/>
              </a:prstGeom>
              <a:noFill/>
            </p:spPr>
            <p:txBody>
              <a:bodyPr wrap="square">
                <a:spAutoFit/>
              </a:bodyPr>
              <a:lstStyle/>
              <a:p>
                <a:pPr>
                  <a:buNone/>
                </a:pPr>
                <a:r>
                  <a:rPr lang="en-US" dirty="0"/>
                  <a:t>Alternative hypothesis:</a:t>
                </a:r>
              </a:p>
              <a:p>
                <a:pPr>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𝐻</m:t>
                          </m:r>
                        </m:e>
                        <m:sub>
                          <m:r>
                            <a:rPr lang="ar-AE" i="0">
                              <a:latin typeface="Cambria Math" panose="02040503050406030204" pitchFamily="18" charset="0"/>
                            </a:rPr>
                            <m:t>1</m:t>
                          </m:r>
                        </m:sub>
                      </m:sSub>
                      <m:r>
                        <a:rPr lang="ar-AE" i="0">
                          <a:latin typeface="Cambria Math" panose="02040503050406030204" pitchFamily="18" charset="0"/>
                        </a:rPr>
                        <m:t>:</m:t>
                      </m:r>
                      <m:r>
                        <m:rPr>
                          <m:nor/>
                        </m:rPr>
                        <a:rPr lang="en-US" b="0" i="1">
                          <a:latin typeface="Cambria Math" panose="02040503050406030204" pitchFamily="18" charset="0"/>
                        </a:rPr>
                        <m:t>At</m:t>
                      </m:r>
                      <m:r>
                        <m:rPr>
                          <m:nor/>
                        </m:rPr>
                        <a:rPr lang="en-US" b="0" i="1">
                          <a:latin typeface="Cambria Math" panose="02040503050406030204" pitchFamily="18" charset="0"/>
                        </a:rPr>
                        <m:t> </m:t>
                      </m:r>
                      <m:r>
                        <m:rPr>
                          <m:nor/>
                        </m:rPr>
                        <a:rPr lang="en-US" b="0" i="1">
                          <a:latin typeface="Cambria Math" panose="02040503050406030204" pitchFamily="18" charset="0"/>
                        </a:rPr>
                        <m:t>least</m:t>
                      </m:r>
                      <m:r>
                        <m:rPr>
                          <m:nor/>
                        </m:rPr>
                        <a:rPr lang="en-US" b="0" i="1">
                          <a:latin typeface="Cambria Math" panose="02040503050406030204" pitchFamily="18" charset="0"/>
                        </a:rPr>
                        <m:t> </m:t>
                      </m:r>
                      <m:r>
                        <m:rPr>
                          <m:nor/>
                        </m:rPr>
                        <a:rPr lang="en-US" b="0" i="1">
                          <a:latin typeface="Cambria Math" panose="02040503050406030204" pitchFamily="18" charset="0"/>
                        </a:rPr>
                        <m:t>one</m:t>
                      </m:r>
                      <m:r>
                        <m:rPr>
                          <m:nor/>
                        </m:rPr>
                        <a:rPr lang="en-US" b="0" i="1">
                          <a:latin typeface="Cambria Math" panose="02040503050406030204" pitchFamily="18" charset="0"/>
                        </a:rPr>
                        <m:t> </m:t>
                      </m:r>
                      <m:r>
                        <m:rPr>
                          <m:nor/>
                        </m:rPr>
                        <a:rPr lang="en-US" b="0" i="1">
                          <a:latin typeface="Cambria Math" panose="02040503050406030204" pitchFamily="18" charset="0"/>
                        </a:rPr>
                        <m:t>mean</m:t>
                      </m:r>
                      <m:r>
                        <m:rPr>
                          <m:nor/>
                        </m:rPr>
                        <a:rPr lang="en-US" b="0" i="1">
                          <a:latin typeface="Cambria Math" panose="02040503050406030204" pitchFamily="18" charset="0"/>
                        </a:rPr>
                        <m:t> </m:t>
                      </m:r>
                      <m:r>
                        <m:rPr>
                          <m:nor/>
                        </m:rPr>
                        <a:rPr lang="en-US" b="0" i="1">
                          <a:latin typeface="Cambria Math" panose="02040503050406030204" pitchFamily="18" charset="0"/>
                        </a:rPr>
                        <m:t>is</m:t>
                      </m:r>
                      <m:r>
                        <m:rPr>
                          <m:nor/>
                        </m:rPr>
                        <a:rPr lang="en-US" b="0" i="1">
                          <a:latin typeface="Cambria Math" panose="02040503050406030204" pitchFamily="18" charset="0"/>
                        </a:rPr>
                        <m:t> </m:t>
                      </m:r>
                      <m:r>
                        <m:rPr>
                          <m:nor/>
                        </m:rPr>
                        <a:rPr lang="en-US" b="0" i="1">
                          <a:latin typeface="Cambria Math" panose="02040503050406030204" pitchFamily="18" charset="0"/>
                        </a:rPr>
                        <m:t>different</m:t>
                      </m:r>
                    </m:oMath>
                  </m:oMathPara>
                </a14:m>
                <a:endParaRPr lang="en-US" b="0" dirty="0"/>
              </a:p>
            </p:txBody>
          </p:sp>
        </mc:Choice>
        <mc:Fallback xmlns="">
          <p:sp>
            <p:nvSpPr>
              <p:cNvPr id="11" name="TextBox 10">
                <a:extLst>
                  <a:ext uri="{FF2B5EF4-FFF2-40B4-BE49-F238E27FC236}">
                    <a16:creationId xmlns:a16="http://schemas.microsoft.com/office/drawing/2014/main" id="{AE8185D9-158A-724D-CDDB-7C65618354A0}"/>
                  </a:ext>
                </a:extLst>
              </p:cNvPr>
              <p:cNvSpPr txBox="1">
                <a:spLocks noRot="1" noChangeAspect="1" noMove="1" noResize="1" noEditPoints="1" noAdjustHandles="1" noChangeArrowheads="1" noChangeShapeType="1" noTextEdit="1"/>
              </p:cNvSpPr>
              <p:nvPr/>
            </p:nvSpPr>
            <p:spPr>
              <a:xfrm>
                <a:off x="1529334" y="4587163"/>
                <a:ext cx="6094476" cy="646331"/>
              </a:xfrm>
              <a:prstGeom prst="rect">
                <a:avLst/>
              </a:prstGeom>
              <a:blipFill>
                <a:blip r:embed="rId2"/>
                <a:stretch>
                  <a:fillRect l="-900" t="-3738"/>
                </a:stretch>
              </a:blipFill>
            </p:spPr>
            <p:txBody>
              <a:bodyPr/>
              <a:lstStyle/>
              <a:p>
                <a:r>
                  <a:rPr lang="en-US">
                    <a:noFill/>
                  </a:rPr>
                  <a:t> </a:t>
                </a:r>
              </a:p>
            </p:txBody>
          </p:sp>
        </mc:Fallback>
      </mc:AlternateContent>
    </p:spTree>
    <p:extLst>
      <p:ext uri="{BB962C8B-B14F-4D97-AF65-F5344CB8AC3E}">
        <p14:creationId xmlns:p14="http://schemas.microsoft.com/office/powerpoint/2010/main" val="10952671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591B951-462C-C2C0-B147-0AB6BE7608C3}"/>
                  </a:ext>
                </a:extLst>
              </p:cNvPr>
              <p:cNvSpPr>
                <a:spLocks noGrp="1"/>
              </p:cNvSpPr>
              <p:nvPr>
                <p:ph idx="1"/>
              </p:nvPr>
            </p:nvSpPr>
            <p:spPr>
              <a:xfrm>
                <a:off x="838200" y="338328"/>
                <a:ext cx="10515600" cy="5838635"/>
              </a:xfrm>
            </p:spPr>
            <p:txBody>
              <a:bodyPr>
                <a:normAutofit fontScale="77500" lnSpcReduction="20000"/>
              </a:bodyPr>
              <a:lstStyle/>
              <a:p>
                <a:pPr marL="0" indent="0">
                  <a:buNone/>
                </a:pPr>
                <a:r>
                  <a:rPr lang="en-US" b="1" dirty="0">
                    <a:highlight>
                      <a:srgbClr val="FFFF00"/>
                    </a:highlight>
                  </a:rPr>
                  <a:t>Key Idea of ANOVA</a:t>
                </a:r>
              </a:p>
              <a:p>
                <a:r>
                  <a:rPr lang="en-US" dirty="0"/>
                  <a:t>ANOVA compares </a:t>
                </a:r>
                <a:r>
                  <a:rPr lang="en-US" b="1" dirty="0"/>
                  <a:t>two types of variation</a:t>
                </a:r>
                <a:r>
                  <a:rPr lang="en-US" dirty="0"/>
                  <a:t>:</a:t>
                </a:r>
              </a:p>
              <a:p>
                <a:r>
                  <a:rPr lang="en-US" dirty="0"/>
                  <a:t> </a:t>
                </a:r>
                <a:r>
                  <a:rPr lang="en-US" b="1" dirty="0"/>
                  <a:t>Between-group variation</a:t>
                </a:r>
                <a:br>
                  <a:rPr lang="en-US" dirty="0"/>
                </a:br>
                <a:r>
                  <a:rPr lang="en-US" dirty="0"/>
                  <a:t>Difference between the group means.</a:t>
                </a:r>
              </a:p>
              <a:p>
                <a:r>
                  <a:rPr lang="en-US" dirty="0"/>
                  <a:t> </a:t>
                </a:r>
                <a:r>
                  <a:rPr lang="en-US" b="1" dirty="0"/>
                  <a:t>Within-group variation</a:t>
                </a:r>
                <a:br>
                  <a:rPr lang="en-US" dirty="0"/>
                </a:br>
                <a:r>
                  <a:rPr lang="en-US" dirty="0" err="1"/>
                  <a:t>Variation</a:t>
                </a:r>
                <a:r>
                  <a:rPr lang="en-US" dirty="0"/>
                  <a:t> inside each group.</a:t>
                </a:r>
              </a:p>
              <a:p>
                <a:r>
                  <a:rPr lang="en-US" dirty="0"/>
                  <a:t>If </a:t>
                </a:r>
                <a:r>
                  <a:rPr lang="en-US" b="1" dirty="0"/>
                  <a:t>between-group variation is much larger</a:t>
                </a:r>
                <a:r>
                  <a:rPr lang="en-US" dirty="0"/>
                  <a:t>, then group means are likely different.</a:t>
                </a:r>
              </a:p>
              <a:p>
                <a:r>
                  <a:rPr lang="en-US" b="1" dirty="0"/>
                  <a:t>ANOVA Test Statistic</a:t>
                </a:r>
              </a:p>
              <a:p>
                <a:r>
                  <a:rPr lang="en-US" dirty="0"/>
                  <a:t>The test statistic is </a:t>
                </a:r>
                <a:r>
                  <a:rPr lang="en-US" b="1" dirty="0"/>
                  <a:t>F-ratio</a:t>
                </a:r>
                <a:r>
                  <a:rPr lang="en-US" dirty="0"/>
                  <a:t>:</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𝐹</m:t>
                      </m:r>
                      <m:r>
                        <a:rPr lang="en-US">
                          <a:latin typeface="Cambria Math" panose="02040503050406030204" pitchFamily="18" charset="0"/>
                        </a:rPr>
                        <m:t>=</m:t>
                      </m:r>
                      <m:f>
                        <m:fPr>
                          <m:ctrlPr>
                            <a:rPr lang="ar-AE" i="1">
                              <a:latin typeface="Cambria Math" panose="02040503050406030204" pitchFamily="18" charset="0"/>
                            </a:rPr>
                          </m:ctrlPr>
                        </m:fPr>
                        <m:num>
                          <m:r>
                            <m:rPr>
                              <m:nor/>
                            </m:rPr>
                            <a:rPr lang="en-US" i="1"/>
                            <m:t>Variance</m:t>
                          </m:r>
                          <m:r>
                            <m:rPr>
                              <m:nor/>
                            </m:rPr>
                            <a:rPr lang="en-US" i="1"/>
                            <m:t> </m:t>
                          </m:r>
                          <m:r>
                            <m:rPr>
                              <m:nor/>
                            </m:rPr>
                            <a:rPr lang="en-US" i="1"/>
                            <m:t>between</m:t>
                          </m:r>
                          <m:r>
                            <m:rPr>
                              <m:nor/>
                            </m:rPr>
                            <a:rPr lang="en-US" i="1"/>
                            <m:t> </m:t>
                          </m:r>
                          <m:r>
                            <m:rPr>
                              <m:nor/>
                            </m:rPr>
                            <a:rPr lang="en-US" i="1"/>
                            <m:t>groups</m:t>
                          </m:r>
                        </m:num>
                        <m:den>
                          <m:r>
                            <m:rPr>
                              <m:nor/>
                            </m:rPr>
                            <a:rPr lang="en-US" i="1"/>
                            <m:t>Variance</m:t>
                          </m:r>
                          <m:r>
                            <m:rPr>
                              <m:nor/>
                            </m:rPr>
                            <a:rPr lang="en-US" i="1"/>
                            <m:t> </m:t>
                          </m:r>
                          <m:r>
                            <m:rPr>
                              <m:nor/>
                            </m:rPr>
                            <a:rPr lang="en-US" i="1"/>
                            <m:t>within</m:t>
                          </m:r>
                          <m:r>
                            <m:rPr>
                              <m:nor/>
                            </m:rPr>
                            <a:rPr lang="en-US" i="1"/>
                            <m:t> </m:t>
                          </m:r>
                          <m:r>
                            <m:rPr>
                              <m:nor/>
                            </m:rPr>
                            <a:rPr lang="en-US" i="1"/>
                            <m:t>groups</m:t>
                          </m:r>
                        </m:den>
                      </m:f>
                    </m:oMath>
                  </m:oMathPara>
                </a14:m>
                <a:endParaRPr lang="ar-AE" b="0" dirty="0"/>
              </a:p>
              <a:p>
                <a:pPr marL="0" indent="0">
                  <a:buNone/>
                </a:pPr>
                <a:r>
                  <a:rPr lang="en-US" dirty="0"/>
                  <a:t>or</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𝐹</m:t>
                      </m:r>
                      <m:r>
                        <a:rPr lang="en-US">
                          <a:latin typeface="Cambria Math" panose="02040503050406030204" pitchFamily="18" charset="0"/>
                        </a:rPr>
                        <m:t>=</m:t>
                      </m:r>
                      <m:f>
                        <m:fPr>
                          <m:ctrlPr>
                            <a:rPr lang="ar-AE" i="1">
                              <a:latin typeface="Cambria Math" panose="02040503050406030204" pitchFamily="18" charset="0"/>
                            </a:rPr>
                          </m:ctrlPr>
                        </m:fPr>
                        <m:num>
                          <m:r>
                            <a:rPr lang="ar-AE" i="1">
                              <a:latin typeface="Cambria Math" panose="02040503050406030204" pitchFamily="18" charset="0"/>
                            </a:rPr>
                            <m:t>𝑀</m:t>
                          </m:r>
                          <m:sSub>
                            <m:sSubPr>
                              <m:ctrlPr>
                                <a:rPr lang="ar-AE" i="1">
                                  <a:latin typeface="Cambria Math" panose="02040503050406030204" pitchFamily="18" charset="0"/>
                                </a:rPr>
                              </m:ctrlPr>
                            </m:sSubPr>
                            <m:e>
                              <m:r>
                                <a:rPr lang="ar-AE" i="1">
                                  <a:latin typeface="Cambria Math" panose="02040503050406030204" pitchFamily="18" charset="0"/>
                                </a:rPr>
                                <m:t>𝑆</m:t>
                              </m:r>
                            </m:e>
                            <m:sub>
                              <m:r>
                                <a:rPr lang="ar-AE" i="1">
                                  <a:latin typeface="Cambria Math" panose="02040503050406030204" pitchFamily="18" charset="0"/>
                                </a:rPr>
                                <m:t>𝐵</m:t>
                              </m:r>
                            </m:sub>
                          </m:sSub>
                        </m:num>
                        <m:den>
                          <m:r>
                            <a:rPr lang="ar-AE" i="1">
                              <a:latin typeface="Cambria Math" panose="02040503050406030204" pitchFamily="18" charset="0"/>
                            </a:rPr>
                            <m:t>𝑀</m:t>
                          </m:r>
                          <m:sSub>
                            <m:sSubPr>
                              <m:ctrlPr>
                                <a:rPr lang="ar-AE" i="1">
                                  <a:latin typeface="Cambria Math" panose="02040503050406030204" pitchFamily="18" charset="0"/>
                                </a:rPr>
                              </m:ctrlPr>
                            </m:sSubPr>
                            <m:e>
                              <m:r>
                                <a:rPr lang="ar-AE" i="1">
                                  <a:latin typeface="Cambria Math" panose="02040503050406030204" pitchFamily="18" charset="0"/>
                                </a:rPr>
                                <m:t>𝑆</m:t>
                              </m:r>
                            </m:e>
                            <m:sub>
                              <m:r>
                                <a:rPr lang="ar-AE" i="1">
                                  <a:latin typeface="Cambria Math" panose="02040503050406030204" pitchFamily="18" charset="0"/>
                                </a:rPr>
                                <m:t>𝑊</m:t>
                              </m:r>
                            </m:sub>
                          </m:sSub>
                        </m:den>
                      </m:f>
                    </m:oMath>
                  </m:oMathPara>
                </a14:m>
                <a:endParaRPr lang="ar-AE" dirty="0"/>
              </a:p>
              <a:p>
                <a:pPr marL="0" indent="0">
                  <a:buNone/>
                </a:pPr>
                <a:r>
                  <a:rPr lang="en-US" dirty="0"/>
                  <a:t>where</a:t>
                </a:r>
              </a:p>
              <a:p>
                <a:pPr marL="0" indent="0">
                  <a:buNone/>
                </a:pPr>
                <a14:m>
                  <m:oMath xmlns:m="http://schemas.openxmlformats.org/officeDocument/2006/math">
                    <m:r>
                      <a:rPr lang="en-US" i="1">
                        <a:latin typeface="Cambria Math" panose="02040503050406030204" pitchFamily="18" charset="0"/>
                      </a:rPr>
                      <m:t>𝑀</m:t>
                    </m:r>
                    <m:sSub>
                      <m:sSubPr>
                        <m:ctrlPr>
                          <a:rPr lang="ar-AE" i="1">
                            <a:latin typeface="Cambria Math" panose="02040503050406030204" pitchFamily="18" charset="0"/>
                          </a:rPr>
                        </m:ctrlPr>
                      </m:sSubPr>
                      <m:e>
                        <m:r>
                          <a:rPr lang="ar-AE" i="1">
                            <a:latin typeface="Cambria Math" panose="02040503050406030204" pitchFamily="18" charset="0"/>
                          </a:rPr>
                          <m:t>𝑆</m:t>
                        </m:r>
                      </m:e>
                      <m:sub>
                        <m:r>
                          <a:rPr lang="ar-AE" i="1">
                            <a:latin typeface="Cambria Math" panose="02040503050406030204" pitchFamily="18" charset="0"/>
                          </a:rPr>
                          <m:t>𝐵</m:t>
                        </m:r>
                      </m:sub>
                    </m:sSub>
                  </m:oMath>
                </a14:m>
                <a:r>
                  <a:rPr lang="ar-AE" dirty="0"/>
                  <a:t>= </a:t>
                </a:r>
                <a:r>
                  <a:rPr lang="en-US" dirty="0"/>
                  <a:t>mean square between groups</a:t>
                </a:r>
              </a:p>
              <a:p>
                <a:pPr marL="0" indent="0">
                  <a:buNone/>
                </a:pPr>
                <a14:m>
                  <m:oMath xmlns:m="http://schemas.openxmlformats.org/officeDocument/2006/math">
                    <m:r>
                      <a:rPr lang="en-US" i="1">
                        <a:latin typeface="Cambria Math" panose="02040503050406030204" pitchFamily="18" charset="0"/>
                      </a:rPr>
                      <m:t>𝑀</m:t>
                    </m:r>
                    <m:sSub>
                      <m:sSubPr>
                        <m:ctrlPr>
                          <a:rPr lang="ar-AE" i="1">
                            <a:latin typeface="Cambria Math" panose="02040503050406030204" pitchFamily="18" charset="0"/>
                          </a:rPr>
                        </m:ctrlPr>
                      </m:sSubPr>
                      <m:e>
                        <m:r>
                          <a:rPr lang="ar-AE" i="1">
                            <a:latin typeface="Cambria Math" panose="02040503050406030204" pitchFamily="18" charset="0"/>
                          </a:rPr>
                          <m:t>𝑆</m:t>
                        </m:r>
                      </m:e>
                      <m:sub>
                        <m:r>
                          <a:rPr lang="ar-AE" i="1">
                            <a:latin typeface="Cambria Math" panose="02040503050406030204" pitchFamily="18" charset="0"/>
                          </a:rPr>
                          <m:t>𝑊</m:t>
                        </m:r>
                      </m:sub>
                    </m:sSub>
                  </m:oMath>
                </a14:m>
                <a:r>
                  <a:rPr lang="ar-AE" dirty="0"/>
                  <a:t>= </a:t>
                </a:r>
                <a:r>
                  <a:rPr lang="en-US" dirty="0"/>
                  <a:t>mean square within groups</a:t>
                </a:r>
              </a:p>
              <a:p>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5591B951-462C-C2C0-B147-0AB6BE7608C3}"/>
                  </a:ext>
                </a:extLst>
              </p:cNvPr>
              <p:cNvSpPr>
                <a:spLocks noGrp="1" noRot="1" noChangeAspect="1" noMove="1" noResize="1" noEditPoints="1" noAdjustHandles="1" noChangeArrowheads="1" noChangeShapeType="1" noTextEdit="1"/>
              </p:cNvSpPr>
              <p:nvPr>
                <p:ph idx="1"/>
              </p:nvPr>
            </p:nvSpPr>
            <p:spPr>
              <a:xfrm>
                <a:off x="838200" y="338328"/>
                <a:ext cx="10515600" cy="5838635"/>
              </a:xfrm>
              <a:blipFill>
                <a:blip r:embed="rId2"/>
                <a:stretch>
                  <a:fillRect l="-754" t="-2090"/>
                </a:stretch>
              </a:blipFill>
            </p:spPr>
            <p:txBody>
              <a:bodyPr/>
              <a:lstStyle/>
              <a:p>
                <a:r>
                  <a:rPr lang="en-US">
                    <a:noFill/>
                  </a:rPr>
                  <a:t> </a:t>
                </a:r>
              </a:p>
            </p:txBody>
          </p:sp>
        </mc:Fallback>
      </mc:AlternateContent>
    </p:spTree>
    <p:extLst>
      <p:ext uri="{BB962C8B-B14F-4D97-AF65-F5344CB8AC3E}">
        <p14:creationId xmlns:p14="http://schemas.microsoft.com/office/powerpoint/2010/main" val="8873254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3A049C-08C2-9BBB-CE5F-115F6C31E6A8}"/>
              </a:ext>
            </a:extLst>
          </p:cNvPr>
          <p:cNvSpPr>
            <a:spLocks noGrp="1"/>
          </p:cNvSpPr>
          <p:nvPr>
            <p:ph idx="1"/>
          </p:nvPr>
        </p:nvSpPr>
        <p:spPr>
          <a:xfrm>
            <a:off x="838200" y="393192"/>
            <a:ext cx="10515600" cy="5783771"/>
          </a:xfrm>
        </p:spPr>
        <p:txBody>
          <a:bodyPr/>
          <a:lstStyle/>
          <a:p>
            <a:endParaRPr lang="en-US" dirty="0"/>
          </a:p>
          <a:p>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23DC4EE-F75E-433C-EEC8-4B4D21C4B940}"/>
                  </a:ext>
                </a:extLst>
              </p:cNvPr>
              <p:cNvSpPr txBox="1"/>
              <p:nvPr/>
            </p:nvSpPr>
            <p:spPr>
              <a:xfrm>
                <a:off x="365760" y="146965"/>
                <a:ext cx="6566916" cy="1754326"/>
              </a:xfrm>
              <a:prstGeom prst="rect">
                <a:avLst/>
              </a:prstGeom>
              <a:noFill/>
            </p:spPr>
            <p:txBody>
              <a:bodyPr wrap="square">
                <a:spAutoFit/>
              </a:bodyPr>
              <a:lstStyle/>
              <a:p>
                <a:pPr>
                  <a:buNone/>
                </a:pPr>
                <a:r>
                  <a:rPr lang="en-US" b="1" dirty="0"/>
                  <a:t>Decision Rule</a:t>
                </a:r>
              </a:p>
              <a:p>
                <a:pPr>
                  <a:buFont typeface="Arial" panose="020B0604020202020204" pitchFamily="34" charset="0"/>
                  <a:buChar char="•"/>
                </a:pPr>
                <a:r>
                  <a:rPr lang="en-US" b="1" dirty="0"/>
                  <a:t>Large F value  reject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𝐻</m:t>
                        </m:r>
                      </m:e>
                      <m:sub>
                        <m:r>
                          <a:rPr lang="ar-AE" i="0">
                            <a:latin typeface="Cambria Math" panose="02040503050406030204" pitchFamily="18" charset="0"/>
                          </a:rPr>
                          <m:t>0</m:t>
                        </m:r>
                      </m:sub>
                    </m:sSub>
                  </m:oMath>
                </a14:m>
                <a:endParaRPr lang="ar-AE" dirty="0"/>
              </a:p>
              <a:p>
                <a:pPr>
                  <a:buFont typeface="Arial" panose="020B0604020202020204" pitchFamily="34" charset="0"/>
                  <a:buChar char="•"/>
                </a:pPr>
                <a:r>
                  <a:rPr lang="en-US" b="1" dirty="0"/>
                  <a:t>Small F value  fail to reject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𝐻</m:t>
                        </m:r>
                      </m:e>
                      <m:sub>
                        <m:r>
                          <a:rPr lang="ar-AE" i="0">
                            <a:latin typeface="Cambria Math" panose="02040503050406030204" pitchFamily="18" charset="0"/>
                          </a:rPr>
                          <m:t>0</m:t>
                        </m:r>
                      </m:sub>
                    </m:sSub>
                  </m:oMath>
                </a14:m>
                <a:endParaRPr lang="ar-AE" dirty="0"/>
              </a:p>
              <a:p>
                <a:pPr>
                  <a:buNone/>
                </a:pPr>
                <a:r>
                  <a:rPr lang="en-US" dirty="0"/>
                  <a:t>We compare:</a:t>
                </a:r>
              </a:p>
              <a:p>
                <a:pPr>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𝐹</m:t>
                          </m:r>
                        </m:e>
                        <m:sub>
                          <m:r>
                            <a:rPr lang="ar-AE" i="1">
                              <a:latin typeface="Cambria Math" panose="02040503050406030204" pitchFamily="18" charset="0"/>
                            </a:rPr>
                            <m:t>𝑐𝑎𝑙𝑐𝑢𝑙𝑎𝑡𝑒𝑑</m:t>
                          </m:r>
                        </m:sub>
                      </m:sSub>
                      <m:r>
                        <a:rPr lang="ar-AE" i="0">
                          <a:latin typeface="Cambria Math" panose="02040503050406030204" pitchFamily="18" charset="0"/>
                        </a:rPr>
                        <m:t> </m:t>
                      </m:r>
                      <m:r>
                        <a:rPr lang="ar-AE" i="1">
                          <a:latin typeface="Cambria Math" panose="02040503050406030204" pitchFamily="18" charset="0"/>
                        </a:rPr>
                        <m:t>𝑣𝑠</m:t>
                      </m:r>
                      <m:r>
                        <a:rPr lang="ar-AE" i="0">
                          <a:latin typeface="Cambria Math" panose="02040503050406030204" pitchFamily="18" charset="0"/>
                        </a:rPr>
                        <m:t> </m:t>
                      </m:r>
                      <m:sSub>
                        <m:sSubPr>
                          <m:ctrlPr>
                            <a:rPr lang="ar-AE" i="1">
                              <a:latin typeface="Cambria Math" panose="02040503050406030204" pitchFamily="18" charset="0"/>
                            </a:rPr>
                          </m:ctrlPr>
                        </m:sSubPr>
                        <m:e>
                          <m:r>
                            <a:rPr lang="ar-AE" i="1">
                              <a:latin typeface="Cambria Math" panose="02040503050406030204" pitchFamily="18" charset="0"/>
                            </a:rPr>
                            <m:t>𝐹</m:t>
                          </m:r>
                        </m:e>
                        <m:sub>
                          <m:r>
                            <a:rPr lang="ar-AE" i="1">
                              <a:latin typeface="Cambria Math" panose="02040503050406030204" pitchFamily="18" charset="0"/>
                            </a:rPr>
                            <m:t>𝑐𝑟𝑖𝑡𝑖𝑐𝑎𝑙</m:t>
                          </m:r>
                        </m:sub>
                      </m:sSub>
                    </m:oMath>
                  </m:oMathPara>
                </a14:m>
                <a:endParaRPr lang="ar-AE" dirty="0"/>
              </a:p>
              <a:p>
                <a:pPr>
                  <a:buNone/>
                </a:pPr>
                <a:r>
                  <a:rPr lang="en-US" dirty="0"/>
                  <a:t>or use </a:t>
                </a:r>
                <a:r>
                  <a:rPr lang="en-US" b="1" dirty="0"/>
                  <a:t>p-value</a:t>
                </a:r>
                <a:r>
                  <a:rPr lang="en-US" dirty="0"/>
                  <a:t>.</a:t>
                </a:r>
              </a:p>
            </p:txBody>
          </p:sp>
        </mc:Choice>
        <mc:Fallback xmlns="">
          <p:sp>
            <p:nvSpPr>
              <p:cNvPr id="5" name="TextBox 4">
                <a:extLst>
                  <a:ext uri="{FF2B5EF4-FFF2-40B4-BE49-F238E27FC236}">
                    <a16:creationId xmlns:a16="http://schemas.microsoft.com/office/drawing/2014/main" id="{F23DC4EE-F75E-433C-EEC8-4B4D21C4B940}"/>
                  </a:ext>
                </a:extLst>
              </p:cNvPr>
              <p:cNvSpPr txBox="1">
                <a:spLocks noRot="1" noChangeAspect="1" noMove="1" noResize="1" noEditPoints="1" noAdjustHandles="1" noChangeArrowheads="1" noChangeShapeType="1" noTextEdit="1"/>
              </p:cNvSpPr>
              <p:nvPr/>
            </p:nvSpPr>
            <p:spPr>
              <a:xfrm>
                <a:off x="365760" y="146965"/>
                <a:ext cx="6566916" cy="1754326"/>
              </a:xfrm>
              <a:prstGeom prst="rect">
                <a:avLst/>
              </a:prstGeom>
              <a:blipFill>
                <a:blip r:embed="rId2"/>
                <a:stretch>
                  <a:fillRect l="-743" t="-1389" b="-4861"/>
                </a:stretch>
              </a:blipFill>
            </p:spPr>
            <p:txBody>
              <a:bodyPr/>
              <a:lstStyle/>
              <a:p>
                <a:r>
                  <a:rPr lang="en-US">
                    <a:noFill/>
                  </a:rPr>
                  <a:t> </a:t>
                </a:r>
              </a:p>
            </p:txBody>
          </p:sp>
        </mc:Fallback>
      </mc:AlternateContent>
      <p:graphicFrame>
        <p:nvGraphicFramePr>
          <p:cNvPr id="6" name="Table 5">
            <a:extLst>
              <a:ext uri="{FF2B5EF4-FFF2-40B4-BE49-F238E27FC236}">
                <a16:creationId xmlns:a16="http://schemas.microsoft.com/office/drawing/2014/main" id="{62FA31D3-AB2D-9CE9-4830-DB15CCA025CF}"/>
              </a:ext>
            </a:extLst>
          </p:cNvPr>
          <p:cNvGraphicFramePr>
            <a:graphicFrameLocks noGrp="1"/>
          </p:cNvGraphicFramePr>
          <p:nvPr>
            <p:extLst>
              <p:ext uri="{D42A27DB-BD31-4B8C-83A1-F6EECF244321}">
                <p14:modId xmlns:p14="http://schemas.microsoft.com/office/powerpoint/2010/main" val="2508953861"/>
              </p:ext>
            </p:extLst>
          </p:nvPr>
        </p:nvGraphicFramePr>
        <p:xfrm>
          <a:off x="365760" y="3493670"/>
          <a:ext cx="10515600" cy="1463040"/>
        </p:xfrm>
        <a:graphic>
          <a:graphicData uri="http://schemas.openxmlformats.org/drawingml/2006/table">
            <a:tbl>
              <a:tblPr/>
              <a:tblGrid>
                <a:gridCol w="3505200">
                  <a:extLst>
                    <a:ext uri="{9D8B030D-6E8A-4147-A177-3AD203B41FA5}">
                      <a16:colId xmlns:a16="http://schemas.microsoft.com/office/drawing/2014/main" val="1855724961"/>
                    </a:ext>
                  </a:extLst>
                </a:gridCol>
                <a:gridCol w="3505200">
                  <a:extLst>
                    <a:ext uri="{9D8B030D-6E8A-4147-A177-3AD203B41FA5}">
                      <a16:colId xmlns:a16="http://schemas.microsoft.com/office/drawing/2014/main" val="2369271644"/>
                    </a:ext>
                  </a:extLst>
                </a:gridCol>
                <a:gridCol w="3505200">
                  <a:extLst>
                    <a:ext uri="{9D8B030D-6E8A-4147-A177-3AD203B41FA5}">
                      <a16:colId xmlns:a16="http://schemas.microsoft.com/office/drawing/2014/main" val="1515797832"/>
                    </a:ext>
                  </a:extLst>
                </a:gridCol>
              </a:tblGrid>
              <a:tr h="0">
                <a:tc>
                  <a:txBody>
                    <a:bodyPr/>
                    <a:lstStyle/>
                    <a:p>
                      <a:pPr>
                        <a:buNone/>
                      </a:pPr>
                      <a:r>
                        <a:rPr lang="en-US"/>
                        <a:t>Method A</a:t>
                      </a:r>
                    </a:p>
                  </a:txBody>
                  <a:tcPr anchor="ctr">
                    <a:lnL>
                      <a:noFill/>
                    </a:lnL>
                    <a:lnR>
                      <a:noFill/>
                    </a:lnR>
                    <a:lnT>
                      <a:noFill/>
                    </a:lnT>
                    <a:lnB>
                      <a:noFill/>
                    </a:lnB>
                    <a:noFill/>
                  </a:tcPr>
                </a:tc>
                <a:tc>
                  <a:txBody>
                    <a:bodyPr/>
                    <a:lstStyle/>
                    <a:p>
                      <a:pPr>
                        <a:buNone/>
                      </a:pPr>
                      <a:r>
                        <a:rPr lang="en-US"/>
                        <a:t>Method B</a:t>
                      </a:r>
                    </a:p>
                  </a:txBody>
                  <a:tcPr anchor="ctr">
                    <a:lnL>
                      <a:noFill/>
                    </a:lnL>
                    <a:lnR>
                      <a:noFill/>
                    </a:lnR>
                    <a:lnT>
                      <a:noFill/>
                    </a:lnT>
                    <a:lnB>
                      <a:noFill/>
                    </a:lnB>
                    <a:noFill/>
                  </a:tcPr>
                </a:tc>
                <a:tc>
                  <a:txBody>
                    <a:bodyPr/>
                    <a:lstStyle/>
                    <a:p>
                      <a:pPr>
                        <a:buNone/>
                      </a:pPr>
                      <a:r>
                        <a:rPr lang="en-US"/>
                        <a:t>Method C</a:t>
                      </a:r>
                    </a:p>
                  </a:txBody>
                  <a:tcPr anchor="ctr">
                    <a:lnL>
                      <a:noFill/>
                    </a:lnL>
                    <a:lnR>
                      <a:noFill/>
                    </a:lnR>
                    <a:lnT>
                      <a:noFill/>
                    </a:lnT>
                    <a:lnB>
                      <a:noFill/>
                    </a:lnB>
                    <a:noFill/>
                  </a:tcPr>
                </a:tc>
                <a:extLst>
                  <a:ext uri="{0D108BD9-81ED-4DB2-BD59-A6C34878D82A}">
                    <a16:rowId xmlns:a16="http://schemas.microsoft.com/office/drawing/2014/main" val="2527566926"/>
                  </a:ext>
                </a:extLst>
              </a:tr>
              <a:tr h="0">
                <a:tc>
                  <a:txBody>
                    <a:bodyPr/>
                    <a:lstStyle/>
                    <a:p>
                      <a:pPr>
                        <a:buNone/>
                      </a:pPr>
                      <a:r>
                        <a:rPr lang="en-US"/>
                        <a:t>8</a:t>
                      </a:r>
                    </a:p>
                  </a:txBody>
                  <a:tcPr anchor="ctr">
                    <a:lnL>
                      <a:noFill/>
                    </a:lnL>
                    <a:lnR>
                      <a:noFill/>
                    </a:lnR>
                    <a:lnT>
                      <a:noFill/>
                    </a:lnT>
                    <a:lnB>
                      <a:noFill/>
                    </a:lnB>
                    <a:noFill/>
                  </a:tcPr>
                </a:tc>
                <a:tc>
                  <a:txBody>
                    <a:bodyPr/>
                    <a:lstStyle/>
                    <a:p>
                      <a:pPr>
                        <a:buNone/>
                      </a:pPr>
                      <a:r>
                        <a:rPr lang="en-US"/>
                        <a:t>7</a:t>
                      </a:r>
                    </a:p>
                  </a:txBody>
                  <a:tcPr anchor="ctr">
                    <a:lnL>
                      <a:noFill/>
                    </a:lnL>
                    <a:lnR>
                      <a:noFill/>
                    </a:lnR>
                    <a:lnT>
                      <a:noFill/>
                    </a:lnT>
                    <a:lnB>
                      <a:noFill/>
                    </a:lnB>
                    <a:noFill/>
                  </a:tcPr>
                </a:tc>
                <a:tc>
                  <a:txBody>
                    <a:bodyPr/>
                    <a:lstStyle/>
                    <a:p>
                      <a:pPr>
                        <a:buNone/>
                      </a:pPr>
                      <a:r>
                        <a:rPr lang="en-US"/>
                        <a:t>12</a:t>
                      </a:r>
                    </a:p>
                  </a:txBody>
                  <a:tcPr anchor="ctr">
                    <a:lnL>
                      <a:noFill/>
                    </a:lnL>
                    <a:lnR>
                      <a:noFill/>
                    </a:lnR>
                    <a:lnT>
                      <a:noFill/>
                    </a:lnT>
                    <a:lnB>
                      <a:noFill/>
                    </a:lnB>
                    <a:noFill/>
                  </a:tcPr>
                </a:tc>
                <a:extLst>
                  <a:ext uri="{0D108BD9-81ED-4DB2-BD59-A6C34878D82A}">
                    <a16:rowId xmlns:a16="http://schemas.microsoft.com/office/drawing/2014/main" val="785988897"/>
                  </a:ext>
                </a:extLst>
              </a:tr>
              <a:tr h="0">
                <a:tc>
                  <a:txBody>
                    <a:bodyPr/>
                    <a:lstStyle/>
                    <a:p>
                      <a:pPr>
                        <a:buNone/>
                      </a:pPr>
                      <a:r>
                        <a:rPr lang="en-US"/>
                        <a:t>9</a:t>
                      </a:r>
                    </a:p>
                  </a:txBody>
                  <a:tcPr anchor="ctr">
                    <a:lnL>
                      <a:noFill/>
                    </a:lnL>
                    <a:lnR>
                      <a:noFill/>
                    </a:lnR>
                    <a:lnT>
                      <a:noFill/>
                    </a:lnT>
                    <a:lnB>
                      <a:noFill/>
                    </a:lnB>
                    <a:noFill/>
                  </a:tcPr>
                </a:tc>
                <a:tc>
                  <a:txBody>
                    <a:bodyPr/>
                    <a:lstStyle/>
                    <a:p>
                      <a:pPr>
                        <a:buNone/>
                      </a:pPr>
                      <a:r>
                        <a:rPr lang="en-US"/>
                        <a:t>6</a:t>
                      </a:r>
                    </a:p>
                  </a:txBody>
                  <a:tcPr anchor="ctr">
                    <a:lnL>
                      <a:noFill/>
                    </a:lnL>
                    <a:lnR>
                      <a:noFill/>
                    </a:lnR>
                    <a:lnT>
                      <a:noFill/>
                    </a:lnT>
                    <a:lnB>
                      <a:noFill/>
                    </a:lnB>
                    <a:noFill/>
                  </a:tcPr>
                </a:tc>
                <a:tc>
                  <a:txBody>
                    <a:bodyPr/>
                    <a:lstStyle/>
                    <a:p>
                      <a:pPr>
                        <a:buNone/>
                      </a:pPr>
                      <a:r>
                        <a:rPr lang="en-US"/>
                        <a:t>10</a:t>
                      </a:r>
                    </a:p>
                  </a:txBody>
                  <a:tcPr anchor="ctr">
                    <a:lnL>
                      <a:noFill/>
                    </a:lnL>
                    <a:lnR>
                      <a:noFill/>
                    </a:lnR>
                    <a:lnT>
                      <a:noFill/>
                    </a:lnT>
                    <a:lnB>
                      <a:noFill/>
                    </a:lnB>
                    <a:noFill/>
                  </a:tcPr>
                </a:tc>
                <a:extLst>
                  <a:ext uri="{0D108BD9-81ED-4DB2-BD59-A6C34878D82A}">
                    <a16:rowId xmlns:a16="http://schemas.microsoft.com/office/drawing/2014/main" val="2817815081"/>
                  </a:ext>
                </a:extLst>
              </a:tr>
              <a:tr h="0">
                <a:tc>
                  <a:txBody>
                    <a:bodyPr/>
                    <a:lstStyle/>
                    <a:p>
                      <a:pPr>
                        <a:buNone/>
                      </a:pPr>
                      <a:r>
                        <a:rPr lang="en-US"/>
                        <a:t>6</a:t>
                      </a:r>
                    </a:p>
                  </a:txBody>
                  <a:tcPr anchor="ctr">
                    <a:lnL>
                      <a:noFill/>
                    </a:lnL>
                    <a:lnR>
                      <a:noFill/>
                    </a:lnR>
                    <a:lnT>
                      <a:noFill/>
                    </a:lnT>
                    <a:lnB>
                      <a:noFill/>
                    </a:lnB>
                    <a:noFill/>
                  </a:tcPr>
                </a:tc>
                <a:tc>
                  <a:txBody>
                    <a:bodyPr/>
                    <a:lstStyle/>
                    <a:p>
                      <a:pPr>
                        <a:buNone/>
                      </a:pPr>
                      <a:r>
                        <a:rPr lang="en-US" dirty="0"/>
                        <a:t>8</a:t>
                      </a:r>
                    </a:p>
                  </a:txBody>
                  <a:tcPr anchor="ctr">
                    <a:lnL>
                      <a:noFill/>
                    </a:lnL>
                    <a:lnR>
                      <a:noFill/>
                    </a:lnR>
                    <a:lnT>
                      <a:noFill/>
                    </a:lnT>
                    <a:lnB>
                      <a:noFill/>
                    </a:lnB>
                    <a:noFill/>
                  </a:tcPr>
                </a:tc>
                <a:tc>
                  <a:txBody>
                    <a:bodyPr/>
                    <a:lstStyle/>
                    <a:p>
                      <a:pPr>
                        <a:buNone/>
                      </a:pPr>
                      <a:r>
                        <a:rPr lang="en-US" dirty="0"/>
                        <a:t>13</a:t>
                      </a:r>
                    </a:p>
                  </a:txBody>
                  <a:tcPr anchor="ctr">
                    <a:lnL>
                      <a:noFill/>
                    </a:lnL>
                    <a:lnR>
                      <a:noFill/>
                    </a:lnR>
                    <a:lnT>
                      <a:noFill/>
                    </a:lnT>
                    <a:lnB>
                      <a:noFill/>
                    </a:lnB>
                    <a:noFill/>
                  </a:tcPr>
                </a:tc>
                <a:extLst>
                  <a:ext uri="{0D108BD9-81ED-4DB2-BD59-A6C34878D82A}">
                    <a16:rowId xmlns:a16="http://schemas.microsoft.com/office/drawing/2014/main" val="738372381"/>
                  </a:ext>
                </a:extLst>
              </a:tr>
            </a:tbl>
          </a:graphicData>
        </a:graphic>
      </p:graphicFrame>
      <p:sp>
        <p:nvSpPr>
          <p:cNvPr id="7" name="TextBox 6">
            <a:extLst>
              <a:ext uri="{FF2B5EF4-FFF2-40B4-BE49-F238E27FC236}">
                <a16:creationId xmlns:a16="http://schemas.microsoft.com/office/drawing/2014/main" id="{05C99F23-3F28-B851-1262-CF972A56D752}"/>
              </a:ext>
            </a:extLst>
          </p:cNvPr>
          <p:cNvSpPr txBox="1"/>
          <p:nvPr/>
        </p:nvSpPr>
        <p:spPr>
          <a:xfrm>
            <a:off x="252984" y="2582311"/>
            <a:ext cx="6566916" cy="369332"/>
          </a:xfrm>
          <a:prstGeom prst="rect">
            <a:avLst/>
          </a:prstGeom>
          <a:noFill/>
        </p:spPr>
        <p:txBody>
          <a:bodyPr wrap="square">
            <a:spAutoFit/>
          </a:bodyPr>
          <a:lstStyle/>
          <a:p>
            <a:pPr>
              <a:buNone/>
            </a:pPr>
            <a:r>
              <a:rPr lang="en-US" dirty="0">
                <a:highlight>
                  <a:srgbClr val="FFFF00"/>
                </a:highlight>
                <a:latin typeface="Times New Roman" panose="02020603050405020304" pitchFamily="18" charset="0"/>
                <a:cs typeface="Times New Roman" panose="02020603050405020304" pitchFamily="18" charset="0"/>
              </a:rPr>
              <a:t>Example 1: One way ANOVA</a:t>
            </a:r>
          </a:p>
        </p:txBody>
      </p:sp>
      <p:sp>
        <p:nvSpPr>
          <p:cNvPr id="9" name="TextBox 8">
            <a:extLst>
              <a:ext uri="{FF2B5EF4-FFF2-40B4-BE49-F238E27FC236}">
                <a16:creationId xmlns:a16="http://schemas.microsoft.com/office/drawing/2014/main" id="{F89CC1BE-4C35-3AAE-5E56-DC1196235844}"/>
              </a:ext>
            </a:extLst>
          </p:cNvPr>
          <p:cNvSpPr txBox="1"/>
          <p:nvPr/>
        </p:nvSpPr>
        <p:spPr>
          <a:xfrm>
            <a:off x="623316" y="2951643"/>
            <a:ext cx="8730996" cy="369332"/>
          </a:xfrm>
          <a:prstGeom prst="rect">
            <a:avLst/>
          </a:prstGeom>
          <a:noFill/>
        </p:spPr>
        <p:txBody>
          <a:bodyPr wrap="square">
            <a:spAutoFit/>
          </a:bodyPr>
          <a:lstStyle/>
          <a:p>
            <a:r>
              <a:rPr lang="en-US" dirty="0"/>
              <a:t>Three teaching methods are used for three groups of students. Their test scores are</a:t>
            </a:r>
          </a:p>
        </p:txBody>
      </p:sp>
      <p:sp>
        <p:nvSpPr>
          <p:cNvPr id="11" name="TextBox 10">
            <a:extLst>
              <a:ext uri="{FF2B5EF4-FFF2-40B4-BE49-F238E27FC236}">
                <a16:creationId xmlns:a16="http://schemas.microsoft.com/office/drawing/2014/main" id="{6E7DD8E2-4C7D-C8A1-C403-3A9FC8DDE8DE}"/>
              </a:ext>
            </a:extLst>
          </p:cNvPr>
          <p:cNvSpPr txBox="1"/>
          <p:nvPr/>
        </p:nvSpPr>
        <p:spPr>
          <a:xfrm>
            <a:off x="601980" y="5175571"/>
            <a:ext cx="9511284" cy="369332"/>
          </a:xfrm>
          <a:prstGeom prst="rect">
            <a:avLst/>
          </a:prstGeom>
          <a:noFill/>
        </p:spPr>
        <p:txBody>
          <a:bodyPr wrap="square">
            <a:spAutoFit/>
          </a:bodyPr>
          <a:lstStyle/>
          <a:p>
            <a:r>
              <a:rPr lang="en-US" dirty="0"/>
              <a:t>We want to test whether the teaching methods produce the same mean score.</a:t>
            </a:r>
          </a:p>
        </p:txBody>
      </p:sp>
    </p:spTree>
    <p:extLst>
      <p:ext uri="{BB962C8B-B14F-4D97-AF65-F5344CB8AC3E}">
        <p14:creationId xmlns:p14="http://schemas.microsoft.com/office/powerpoint/2010/main" val="27248167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920424F-E720-0D99-FA2A-D0430D02AD6E}"/>
                  </a:ext>
                </a:extLst>
              </p:cNvPr>
              <p:cNvSpPr>
                <a:spLocks noGrp="1"/>
              </p:cNvSpPr>
              <p:nvPr>
                <p:ph idx="1"/>
              </p:nvPr>
            </p:nvSpPr>
            <p:spPr>
              <a:xfrm>
                <a:off x="838200" y="822961"/>
                <a:ext cx="10515600" cy="4288536"/>
              </a:xfrm>
            </p:spPr>
            <p:txBody>
              <a:bodyPr/>
              <a:lstStyle/>
              <a:p>
                <a:r>
                  <a:rPr lang="en-US" b="1" dirty="0"/>
                  <a:t>Step 2: Calculate Group Means</a:t>
                </a:r>
              </a:p>
              <a:p>
                <a:r>
                  <a:rPr lang="en-US" b="1" dirty="0"/>
                  <a:t>Method A</a:t>
                </a:r>
              </a:p>
              <a:p>
                <a14:m>
                  <m:oMath xmlns:m="http://schemas.openxmlformats.org/officeDocument/2006/math">
                    <m:sSub>
                      <m:sSubPr>
                        <m:ctrlPr>
                          <a:rPr lang="ar-AE" i="1">
                            <a:latin typeface="Cambria Math" panose="02040503050406030204" pitchFamily="18" charset="0"/>
                          </a:rPr>
                        </m:ctrlPr>
                      </m:sSubPr>
                      <m:e>
                        <m:limUpp>
                          <m:limUppPr>
                            <m:ctrlPr>
                              <a:rPr lang="ar-AE" i="1">
                                <a:latin typeface="Cambria Math" panose="02040503050406030204" pitchFamily="18" charset="0"/>
                              </a:rPr>
                            </m:ctrlPr>
                          </m:limUppPr>
                          <m:e>
                            <m:r>
                              <a:rPr lang="ar-AE" i="1">
                                <a:latin typeface="Cambria Math" panose="02040503050406030204" pitchFamily="18" charset="0"/>
                              </a:rPr>
                              <m:t>𝑥</m:t>
                            </m:r>
                          </m:e>
                          <m:lim>
                            <m:r>
                              <a:rPr lang="ar-AE">
                                <a:latin typeface="Cambria Math" panose="02040503050406030204" pitchFamily="18" charset="0"/>
                              </a:rPr>
                              <m:t>ˉ</m:t>
                            </m:r>
                          </m:lim>
                        </m:limUpp>
                      </m:e>
                      <m:sub>
                        <m:r>
                          <a:rPr lang="ar-AE">
                            <a:latin typeface="Cambria Math" panose="02040503050406030204" pitchFamily="18" charset="0"/>
                          </a:rPr>
                          <m:t>1</m:t>
                        </m:r>
                      </m:sub>
                    </m:sSub>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8</m:t>
                        </m:r>
                        <m:r>
                          <a:rPr lang="ar-AE">
                            <a:latin typeface="Cambria Math" panose="02040503050406030204" pitchFamily="18" charset="0"/>
                          </a:rPr>
                          <m:t>+</m:t>
                        </m:r>
                        <m:r>
                          <a:rPr lang="ar-AE">
                            <a:latin typeface="Cambria Math" panose="02040503050406030204" pitchFamily="18" charset="0"/>
                          </a:rPr>
                          <m:t>9</m:t>
                        </m:r>
                        <m:r>
                          <a:rPr lang="ar-AE">
                            <a:latin typeface="Cambria Math" panose="02040503050406030204" pitchFamily="18" charset="0"/>
                          </a:rPr>
                          <m:t>+</m:t>
                        </m:r>
                        <m:r>
                          <a:rPr lang="ar-AE">
                            <a:latin typeface="Cambria Math" panose="02040503050406030204" pitchFamily="18" charset="0"/>
                          </a:rPr>
                          <m:t>6</m:t>
                        </m:r>
                      </m:e>
                    </m:d>
                    <m:r>
                      <a:rPr lang="ar-AE">
                        <a:latin typeface="Cambria Math" panose="02040503050406030204" pitchFamily="18" charset="0"/>
                      </a:rPr>
                      <m:t>/</m:t>
                    </m:r>
                    <m:r>
                      <a:rPr lang="ar-AE">
                        <a:latin typeface="Cambria Math" panose="02040503050406030204" pitchFamily="18" charset="0"/>
                      </a:rPr>
                      <m:t>3</m:t>
                    </m:r>
                    <m:r>
                      <a:rPr lang="ar-AE">
                        <a:latin typeface="Cambria Math" panose="02040503050406030204" pitchFamily="18" charset="0"/>
                      </a:rPr>
                      <m:t>=</m:t>
                    </m:r>
                    <m:r>
                      <a:rPr lang="ar-AE">
                        <a:latin typeface="Cambria Math" panose="02040503050406030204" pitchFamily="18" charset="0"/>
                      </a:rPr>
                      <m:t>7</m:t>
                    </m:r>
                    <m:r>
                      <a:rPr lang="ar-AE">
                        <a:latin typeface="Cambria Math" panose="02040503050406030204" pitchFamily="18" charset="0"/>
                      </a:rPr>
                      <m:t>.</m:t>
                    </m:r>
                    <m:r>
                      <a:rPr lang="ar-AE">
                        <a:latin typeface="Cambria Math" panose="02040503050406030204" pitchFamily="18" charset="0"/>
                      </a:rPr>
                      <m:t>67</m:t>
                    </m:r>
                  </m:oMath>
                </a14:m>
                <a:endParaRPr lang="ar-AE" dirty="0"/>
              </a:p>
              <a:p>
                <a:r>
                  <a:rPr lang="en-US" b="1" dirty="0"/>
                  <a:t>Method B</a:t>
                </a:r>
              </a:p>
              <a:p>
                <a14:m>
                  <m:oMath xmlns:m="http://schemas.openxmlformats.org/officeDocument/2006/math">
                    <m:sSub>
                      <m:sSubPr>
                        <m:ctrlPr>
                          <a:rPr lang="ar-AE" i="1">
                            <a:latin typeface="Cambria Math" panose="02040503050406030204" pitchFamily="18" charset="0"/>
                          </a:rPr>
                        </m:ctrlPr>
                      </m:sSubPr>
                      <m:e>
                        <m:limUpp>
                          <m:limUppPr>
                            <m:ctrlPr>
                              <a:rPr lang="ar-AE" i="1">
                                <a:latin typeface="Cambria Math" panose="02040503050406030204" pitchFamily="18" charset="0"/>
                              </a:rPr>
                            </m:ctrlPr>
                          </m:limUppPr>
                          <m:e>
                            <m:r>
                              <a:rPr lang="ar-AE" i="1">
                                <a:latin typeface="Cambria Math" panose="02040503050406030204" pitchFamily="18" charset="0"/>
                              </a:rPr>
                              <m:t>𝑥</m:t>
                            </m:r>
                          </m:e>
                          <m:lim>
                            <m:r>
                              <a:rPr lang="ar-AE">
                                <a:latin typeface="Cambria Math" panose="02040503050406030204" pitchFamily="18" charset="0"/>
                              </a:rPr>
                              <m:t>ˉ</m:t>
                            </m:r>
                          </m:lim>
                        </m:limUpp>
                      </m:e>
                      <m:sub>
                        <m:r>
                          <a:rPr lang="ar-AE">
                            <a:latin typeface="Cambria Math" panose="02040503050406030204" pitchFamily="18" charset="0"/>
                          </a:rPr>
                          <m:t>2</m:t>
                        </m:r>
                      </m:sub>
                    </m:sSub>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7</m:t>
                        </m:r>
                        <m:r>
                          <a:rPr lang="ar-AE">
                            <a:latin typeface="Cambria Math" panose="02040503050406030204" pitchFamily="18" charset="0"/>
                          </a:rPr>
                          <m:t>+</m:t>
                        </m:r>
                        <m:r>
                          <a:rPr lang="ar-AE">
                            <a:latin typeface="Cambria Math" panose="02040503050406030204" pitchFamily="18" charset="0"/>
                          </a:rPr>
                          <m:t>6</m:t>
                        </m:r>
                        <m:r>
                          <a:rPr lang="ar-AE">
                            <a:latin typeface="Cambria Math" panose="02040503050406030204" pitchFamily="18" charset="0"/>
                          </a:rPr>
                          <m:t>+</m:t>
                        </m:r>
                        <m:r>
                          <a:rPr lang="ar-AE">
                            <a:latin typeface="Cambria Math" panose="02040503050406030204" pitchFamily="18" charset="0"/>
                          </a:rPr>
                          <m:t>8</m:t>
                        </m:r>
                      </m:e>
                    </m:d>
                    <m:r>
                      <a:rPr lang="ar-AE">
                        <a:latin typeface="Cambria Math" panose="02040503050406030204" pitchFamily="18" charset="0"/>
                      </a:rPr>
                      <m:t>/</m:t>
                    </m:r>
                    <m:r>
                      <a:rPr lang="ar-AE">
                        <a:latin typeface="Cambria Math" panose="02040503050406030204" pitchFamily="18" charset="0"/>
                      </a:rPr>
                      <m:t>3</m:t>
                    </m:r>
                    <m:r>
                      <a:rPr lang="ar-AE">
                        <a:latin typeface="Cambria Math" panose="02040503050406030204" pitchFamily="18" charset="0"/>
                      </a:rPr>
                      <m:t>=</m:t>
                    </m:r>
                    <m:r>
                      <a:rPr lang="ar-AE">
                        <a:latin typeface="Cambria Math" panose="02040503050406030204" pitchFamily="18" charset="0"/>
                      </a:rPr>
                      <m:t>7</m:t>
                    </m:r>
                  </m:oMath>
                </a14:m>
                <a:endParaRPr lang="ar-AE" dirty="0"/>
              </a:p>
              <a:p>
                <a:r>
                  <a:rPr lang="en-US" b="1" dirty="0"/>
                  <a:t>Method C</a:t>
                </a:r>
              </a:p>
              <a:p>
                <a14:m>
                  <m:oMath xmlns:m="http://schemas.openxmlformats.org/officeDocument/2006/math">
                    <m:sSub>
                      <m:sSubPr>
                        <m:ctrlPr>
                          <a:rPr lang="ar-AE" i="1">
                            <a:latin typeface="Cambria Math" panose="02040503050406030204" pitchFamily="18" charset="0"/>
                          </a:rPr>
                        </m:ctrlPr>
                      </m:sSubPr>
                      <m:e>
                        <m:limUpp>
                          <m:limUppPr>
                            <m:ctrlPr>
                              <a:rPr lang="ar-AE" i="1">
                                <a:latin typeface="Cambria Math" panose="02040503050406030204" pitchFamily="18" charset="0"/>
                              </a:rPr>
                            </m:ctrlPr>
                          </m:limUppPr>
                          <m:e>
                            <m:r>
                              <a:rPr lang="ar-AE" i="1">
                                <a:latin typeface="Cambria Math" panose="02040503050406030204" pitchFamily="18" charset="0"/>
                              </a:rPr>
                              <m:t>𝑥</m:t>
                            </m:r>
                          </m:e>
                          <m:lim>
                            <m:r>
                              <a:rPr lang="ar-AE">
                                <a:latin typeface="Cambria Math" panose="02040503050406030204" pitchFamily="18" charset="0"/>
                              </a:rPr>
                              <m:t>ˉ</m:t>
                            </m:r>
                          </m:lim>
                        </m:limUpp>
                      </m:e>
                      <m:sub>
                        <m:r>
                          <a:rPr lang="ar-AE">
                            <a:latin typeface="Cambria Math" panose="02040503050406030204" pitchFamily="18" charset="0"/>
                          </a:rPr>
                          <m:t>3</m:t>
                        </m:r>
                      </m:sub>
                    </m:sSub>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12</m:t>
                        </m:r>
                        <m:r>
                          <a:rPr lang="ar-AE">
                            <a:latin typeface="Cambria Math" panose="02040503050406030204" pitchFamily="18" charset="0"/>
                          </a:rPr>
                          <m:t>+</m:t>
                        </m:r>
                        <m:r>
                          <a:rPr lang="ar-AE">
                            <a:latin typeface="Cambria Math" panose="02040503050406030204" pitchFamily="18" charset="0"/>
                          </a:rPr>
                          <m:t>10</m:t>
                        </m:r>
                        <m:r>
                          <a:rPr lang="ar-AE">
                            <a:latin typeface="Cambria Math" panose="02040503050406030204" pitchFamily="18" charset="0"/>
                          </a:rPr>
                          <m:t>+</m:t>
                        </m:r>
                        <m:r>
                          <a:rPr lang="ar-AE">
                            <a:latin typeface="Cambria Math" panose="02040503050406030204" pitchFamily="18" charset="0"/>
                          </a:rPr>
                          <m:t>13</m:t>
                        </m:r>
                      </m:e>
                    </m:d>
                    <m:r>
                      <a:rPr lang="ar-AE">
                        <a:latin typeface="Cambria Math" panose="02040503050406030204" pitchFamily="18" charset="0"/>
                      </a:rPr>
                      <m:t>/</m:t>
                    </m:r>
                    <m:r>
                      <a:rPr lang="ar-AE">
                        <a:latin typeface="Cambria Math" panose="02040503050406030204" pitchFamily="18" charset="0"/>
                      </a:rPr>
                      <m:t>3</m:t>
                    </m:r>
                    <m:r>
                      <a:rPr lang="ar-AE">
                        <a:latin typeface="Cambria Math" panose="02040503050406030204" pitchFamily="18" charset="0"/>
                      </a:rPr>
                      <m:t>=</m:t>
                    </m:r>
                    <m:r>
                      <a:rPr lang="ar-AE">
                        <a:latin typeface="Cambria Math" panose="02040503050406030204" pitchFamily="18" charset="0"/>
                      </a:rPr>
                      <m:t>11</m:t>
                    </m:r>
                    <m:r>
                      <a:rPr lang="ar-AE">
                        <a:latin typeface="Cambria Math" panose="02040503050406030204" pitchFamily="18" charset="0"/>
                      </a:rPr>
                      <m:t>.</m:t>
                    </m:r>
                    <m:r>
                      <a:rPr lang="ar-AE">
                        <a:latin typeface="Cambria Math" panose="02040503050406030204" pitchFamily="18" charset="0"/>
                      </a:rPr>
                      <m:t>67</m:t>
                    </m:r>
                  </m:oMath>
                </a14:m>
                <a:endParaRPr lang="ar-AE" dirty="0"/>
              </a:p>
              <a:p>
                <a:endParaRPr lang="en-US" dirty="0"/>
              </a:p>
            </p:txBody>
          </p:sp>
        </mc:Choice>
        <mc:Fallback xmlns="">
          <p:sp>
            <p:nvSpPr>
              <p:cNvPr id="3" name="Content Placeholder 2">
                <a:extLst>
                  <a:ext uri="{FF2B5EF4-FFF2-40B4-BE49-F238E27FC236}">
                    <a16:creationId xmlns:a16="http://schemas.microsoft.com/office/drawing/2014/main" id="{1920424F-E720-0D99-FA2A-D0430D02AD6E}"/>
                  </a:ext>
                </a:extLst>
              </p:cNvPr>
              <p:cNvSpPr>
                <a:spLocks noGrp="1" noRot="1" noChangeAspect="1" noMove="1" noResize="1" noEditPoints="1" noAdjustHandles="1" noChangeArrowheads="1" noChangeShapeType="1" noTextEdit="1"/>
              </p:cNvSpPr>
              <p:nvPr>
                <p:ph idx="1"/>
              </p:nvPr>
            </p:nvSpPr>
            <p:spPr>
              <a:xfrm>
                <a:off x="838200" y="822961"/>
                <a:ext cx="10515600" cy="4288536"/>
              </a:xfrm>
              <a:blipFill>
                <a:blip r:embed="rId2"/>
                <a:stretch>
                  <a:fillRect l="-1043" t="-2415"/>
                </a:stretch>
              </a:blipFill>
            </p:spPr>
            <p:txBody>
              <a:bodyPr/>
              <a:lstStyle/>
              <a:p>
                <a:r>
                  <a:rPr lang="en-US">
                    <a:noFill/>
                  </a:rPr>
                  <a:t> </a:t>
                </a:r>
              </a:p>
            </p:txBody>
          </p:sp>
        </mc:Fallback>
      </mc:AlternateContent>
    </p:spTree>
    <p:extLst>
      <p:ext uri="{BB962C8B-B14F-4D97-AF65-F5344CB8AC3E}">
        <p14:creationId xmlns:p14="http://schemas.microsoft.com/office/powerpoint/2010/main" val="14219992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085373D-AA3E-86EE-B1B6-B61CDE8E5C11}"/>
                  </a:ext>
                </a:extLst>
              </p:cNvPr>
              <p:cNvSpPr>
                <a:spLocks noGrp="1"/>
              </p:cNvSpPr>
              <p:nvPr>
                <p:ph idx="1"/>
              </p:nvPr>
            </p:nvSpPr>
            <p:spPr>
              <a:xfrm>
                <a:off x="838200" y="320040"/>
                <a:ext cx="10515600" cy="5856923"/>
              </a:xfrm>
            </p:spPr>
            <p:txBody>
              <a:bodyPr>
                <a:normAutofit fontScale="62500" lnSpcReduction="20000"/>
              </a:bodyPr>
              <a:lstStyle/>
              <a:p>
                <a:r>
                  <a:rPr lang="en-US" b="1" dirty="0"/>
                  <a:t>Step 3: Grand Mean</a:t>
                </a:r>
              </a:p>
              <a:p>
                <a:r>
                  <a:rPr lang="en-US" dirty="0"/>
                  <a:t>Total observations = 9</a:t>
                </a:r>
              </a:p>
              <a:p>
                <a14:m>
                  <m:oMath xmlns:m="http://schemas.openxmlformats.org/officeDocument/2006/math">
                    <m:r>
                      <m:rPr>
                        <m:nor/>
                      </m:rPr>
                      <a:rPr lang="en-US" b="0"/>
                      <m:t>Grand</m:t>
                    </m:r>
                    <m:r>
                      <m:rPr>
                        <m:nor/>
                      </m:rPr>
                      <a:rPr lang="en-US" b="0" i="1"/>
                      <m:t> </m:t>
                    </m:r>
                    <m:r>
                      <m:rPr>
                        <m:nor/>
                      </m:rPr>
                      <a:rPr lang="en-US" b="0" i="1"/>
                      <m:t>Mean</m:t>
                    </m:r>
                    <m:r>
                      <a:rPr lang="en-US">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8</m:t>
                        </m:r>
                        <m:r>
                          <a:rPr lang="ar-AE">
                            <a:latin typeface="Cambria Math" panose="02040503050406030204" pitchFamily="18" charset="0"/>
                          </a:rPr>
                          <m:t>+</m:t>
                        </m:r>
                        <m:r>
                          <a:rPr lang="ar-AE">
                            <a:latin typeface="Cambria Math" panose="02040503050406030204" pitchFamily="18" charset="0"/>
                          </a:rPr>
                          <m:t>9</m:t>
                        </m:r>
                        <m:r>
                          <a:rPr lang="ar-AE">
                            <a:latin typeface="Cambria Math" panose="02040503050406030204" pitchFamily="18" charset="0"/>
                          </a:rPr>
                          <m:t>+</m:t>
                        </m:r>
                        <m:r>
                          <a:rPr lang="ar-AE">
                            <a:latin typeface="Cambria Math" panose="02040503050406030204" pitchFamily="18" charset="0"/>
                          </a:rPr>
                          <m:t>6</m:t>
                        </m:r>
                        <m:r>
                          <a:rPr lang="ar-AE">
                            <a:latin typeface="Cambria Math" panose="02040503050406030204" pitchFamily="18" charset="0"/>
                          </a:rPr>
                          <m:t>+</m:t>
                        </m:r>
                        <m:r>
                          <a:rPr lang="ar-AE">
                            <a:latin typeface="Cambria Math" panose="02040503050406030204" pitchFamily="18" charset="0"/>
                          </a:rPr>
                          <m:t>7</m:t>
                        </m:r>
                        <m:r>
                          <a:rPr lang="ar-AE">
                            <a:latin typeface="Cambria Math" panose="02040503050406030204" pitchFamily="18" charset="0"/>
                          </a:rPr>
                          <m:t>+</m:t>
                        </m:r>
                        <m:r>
                          <a:rPr lang="ar-AE">
                            <a:latin typeface="Cambria Math" panose="02040503050406030204" pitchFamily="18" charset="0"/>
                          </a:rPr>
                          <m:t>6</m:t>
                        </m:r>
                        <m:r>
                          <a:rPr lang="ar-AE">
                            <a:latin typeface="Cambria Math" panose="02040503050406030204" pitchFamily="18" charset="0"/>
                          </a:rPr>
                          <m:t>+</m:t>
                        </m:r>
                        <m:r>
                          <a:rPr lang="ar-AE">
                            <a:latin typeface="Cambria Math" panose="02040503050406030204" pitchFamily="18" charset="0"/>
                          </a:rPr>
                          <m:t>8</m:t>
                        </m:r>
                        <m:r>
                          <a:rPr lang="ar-AE">
                            <a:latin typeface="Cambria Math" panose="02040503050406030204" pitchFamily="18" charset="0"/>
                          </a:rPr>
                          <m:t>+</m:t>
                        </m:r>
                        <m:r>
                          <a:rPr lang="ar-AE">
                            <a:latin typeface="Cambria Math" panose="02040503050406030204" pitchFamily="18" charset="0"/>
                          </a:rPr>
                          <m:t>12</m:t>
                        </m:r>
                        <m:r>
                          <a:rPr lang="ar-AE">
                            <a:latin typeface="Cambria Math" panose="02040503050406030204" pitchFamily="18" charset="0"/>
                          </a:rPr>
                          <m:t>+</m:t>
                        </m:r>
                        <m:r>
                          <a:rPr lang="ar-AE">
                            <a:latin typeface="Cambria Math" panose="02040503050406030204" pitchFamily="18" charset="0"/>
                          </a:rPr>
                          <m:t>10</m:t>
                        </m:r>
                        <m:r>
                          <a:rPr lang="ar-AE">
                            <a:latin typeface="Cambria Math" panose="02040503050406030204" pitchFamily="18" charset="0"/>
                          </a:rPr>
                          <m:t>+</m:t>
                        </m:r>
                        <m:r>
                          <a:rPr lang="ar-AE">
                            <a:latin typeface="Cambria Math" panose="02040503050406030204" pitchFamily="18" charset="0"/>
                          </a:rPr>
                          <m:t>13</m:t>
                        </m:r>
                      </m:num>
                      <m:den>
                        <m:r>
                          <a:rPr lang="ar-AE">
                            <a:latin typeface="Cambria Math" panose="02040503050406030204" pitchFamily="18" charset="0"/>
                          </a:rPr>
                          <m:t>9</m:t>
                        </m:r>
                      </m:den>
                    </m:f>
                  </m:oMath>
                </a14:m>
                <a:endParaRPr lang="ar-AE" b="0" dirty="0"/>
              </a:p>
              <a:p>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79</m:t>
                    </m:r>
                    <m:r>
                      <a:rPr lang="ar-AE">
                        <a:latin typeface="Cambria Math" panose="02040503050406030204" pitchFamily="18" charset="0"/>
                      </a:rPr>
                      <m:t>/</m:t>
                    </m:r>
                    <m:r>
                      <a:rPr lang="ar-AE">
                        <a:latin typeface="Cambria Math" panose="02040503050406030204" pitchFamily="18" charset="0"/>
                      </a:rPr>
                      <m:t>9</m:t>
                    </m:r>
                    <m:r>
                      <a:rPr lang="ar-AE">
                        <a:latin typeface="Cambria Math" panose="02040503050406030204" pitchFamily="18" charset="0"/>
                      </a:rPr>
                      <m:t>=</m:t>
                    </m:r>
                    <m:r>
                      <a:rPr lang="ar-AE">
                        <a:latin typeface="Cambria Math" panose="02040503050406030204" pitchFamily="18" charset="0"/>
                      </a:rPr>
                      <m:t>8</m:t>
                    </m:r>
                    <m:r>
                      <a:rPr lang="ar-AE">
                        <a:latin typeface="Cambria Math" panose="02040503050406030204" pitchFamily="18" charset="0"/>
                      </a:rPr>
                      <m:t>.</m:t>
                    </m:r>
                    <m:r>
                      <a:rPr lang="ar-AE">
                        <a:latin typeface="Cambria Math" panose="02040503050406030204" pitchFamily="18" charset="0"/>
                      </a:rPr>
                      <m:t>78</m:t>
                    </m:r>
                  </m:oMath>
                </a14:m>
                <a:endParaRPr lang="ar-AE" dirty="0"/>
              </a:p>
              <a:p>
                <a:r>
                  <a:rPr lang="en-US" b="1" dirty="0"/>
                  <a:t>Step 4: Between-Group Sum of Squares (SSB)</a:t>
                </a:r>
              </a:p>
              <a:p>
                <a:pPr marL="0" indent="0">
                  <a:buNone/>
                </a:pPr>
                <a:r>
                  <a:rPr lang="en-US" dirty="0"/>
                  <a:t>Formula</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𝑆𝑆𝐵</m:t>
                      </m:r>
                      <m:r>
                        <a:rPr lang="en-US">
                          <a:latin typeface="Cambria Math" panose="02040503050406030204" pitchFamily="18" charset="0"/>
                        </a:rPr>
                        <m:t>=</m:t>
                      </m:r>
                      <m:r>
                        <a:rPr lang="en-US" i="1">
                          <a:latin typeface="Cambria Math" panose="02040503050406030204" pitchFamily="18" charset="0"/>
                        </a:rPr>
                        <m:t>𝑛</m:t>
                      </m:r>
                      <m:d>
                        <m:dPr>
                          <m:endChr m:val=""/>
                          <m:ctrlPr>
                            <a:rPr lang="ar-AE" i="1">
                              <a:latin typeface="Cambria Math" panose="02040503050406030204" pitchFamily="18" charset="0"/>
                            </a:rPr>
                          </m:ctrlPr>
                        </m:dPr>
                        <m:e>
                          <m:sSub>
                            <m:sSubPr>
                              <m:ctrlPr>
                                <a:rPr lang="ar-AE" i="1">
                                  <a:latin typeface="Cambria Math" panose="02040503050406030204" pitchFamily="18" charset="0"/>
                                </a:rPr>
                              </m:ctrlPr>
                            </m:sSubPr>
                            <m:e>
                              <m:limUpp>
                                <m:limUppPr>
                                  <m:ctrlPr>
                                    <a:rPr lang="ar-AE" i="1">
                                      <a:latin typeface="Cambria Math" panose="02040503050406030204" pitchFamily="18" charset="0"/>
                                    </a:rPr>
                                  </m:ctrlPr>
                                </m:limUppPr>
                                <m:e>
                                  <m:r>
                                    <a:rPr lang="ar-AE" i="1">
                                      <a:latin typeface="Cambria Math" panose="02040503050406030204" pitchFamily="18" charset="0"/>
                                    </a:rPr>
                                    <m:t>𝑥</m:t>
                                  </m:r>
                                </m:e>
                                <m:lim>
                                  <m:r>
                                    <a:rPr lang="ar-AE">
                                      <a:latin typeface="Cambria Math" panose="02040503050406030204" pitchFamily="18" charset="0"/>
                                    </a:rPr>
                                    <m:t>ˉ</m:t>
                                  </m:r>
                                </m:lim>
                              </m:limUpp>
                            </m:e>
                            <m:sub>
                              <m:r>
                                <a:rPr lang="ar-AE">
                                  <a:latin typeface="Cambria Math" panose="02040503050406030204" pitchFamily="18" charset="0"/>
                                </a:rPr>
                                <m:t>1</m:t>
                              </m:r>
                            </m:sub>
                          </m:sSub>
                          <m:r>
                            <a:rPr lang="ar-AE">
                              <a:latin typeface="Cambria Math" panose="02040503050406030204" pitchFamily="18" charset="0"/>
                            </a:rPr>
                            <m:t>−</m:t>
                          </m:r>
                          <m:r>
                            <a:rPr lang="ar-AE" i="1">
                              <a:latin typeface="Cambria Math" panose="02040503050406030204" pitchFamily="18" charset="0"/>
                            </a:rPr>
                            <m:t>𝐺𝑀</m:t>
                          </m:r>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r>
                            <a:rPr lang="ar-AE">
                              <a:latin typeface="Cambria Math" panose="02040503050406030204" pitchFamily="18" charset="0"/>
                            </a:rPr>
                            <m:t>+</m:t>
                          </m:r>
                          <m:r>
                            <a:rPr lang="ar-AE" i="1">
                              <a:latin typeface="Cambria Math" panose="02040503050406030204" pitchFamily="18" charset="0"/>
                            </a:rPr>
                            <m:t>𝑛</m:t>
                          </m:r>
                          <m:d>
                            <m:dPr>
                              <m:endChr m:val=""/>
                              <m:ctrlPr>
                                <a:rPr lang="ar-AE" i="1">
                                  <a:latin typeface="Cambria Math" panose="02040503050406030204" pitchFamily="18" charset="0"/>
                                </a:rPr>
                              </m:ctrlPr>
                            </m:dPr>
                            <m:e>
                              <m:sSub>
                                <m:sSubPr>
                                  <m:ctrlPr>
                                    <a:rPr lang="ar-AE" i="1">
                                      <a:latin typeface="Cambria Math" panose="02040503050406030204" pitchFamily="18" charset="0"/>
                                    </a:rPr>
                                  </m:ctrlPr>
                                </m:sSubPr>
                                <m:e>
                                  <m:limUpp>
                                    <m:limUppPr>
                                      <m:ctrlPr>
                                        <a:rPr lang="ar-AE" i="1">
                                          <a:latin typeface="Cambria Math" panose="02040503050406030204" pitchFamily="18" charset="0"/>
                                        </a:rPr>
                                      </m:ctrlPr>
                                    </m:limUppPr>
                                    <m:e>
                                      <m:r>
                                        <a:rPr lang="ar-AE" i="1">
                                          <a:latin typeface="Cambria Math" panose="02040503050406030204" pitchFamily="18" charset="0"/>
                                        </a:rPr>
                                        <m:t>𝑥</m:t>
                                      </m:r>
                                    </m:e>
                                    <m:lim>
                                      <m:r>
                                        <a:rPr lang="ar-AE">
                                          <a:latin typeface="Cambria Math" panose="02040503050406030204" pitchFamily="18" charset="0"/>
                                        </a:rPr>
                                        <m:t>ˉ</m:t>
                                      </m:r>
                                    </m:lim>
                                  </m:limUpp>
                                </m:e>
                                <m:sub>
                                  <m:r>
                                    <a:rPr lang="ar-AE">
                                      <a:latin typeface="Cambria Math" panose="02040503050406030204" pitchFamily="18" charset="0"/>
                                    </a:rPr>
                                    <m:t>2</m:t>
                                  </m:r>
                                </m:sub>
                              </m:sSub>
                              <m:r>
                                <a:rPr lang="ar-AE">
                                  <a:latin typeface="Cambria Math" panose="02040503050406030204" pitchFamily="18" charset="0"/>
                                </a:rPr>
                                <m:t>−</m:t>
                              </m:r>
                              <m:r>
                                <a:rPr lang="ar-AE" i="1">
                                  <a:latin typeface="Cambria Math" panose="02040503050406030204" pitchFamily="18" charset="0"/>
                                </a:rPr>
                                <m:t>𝐺𝑀</m:t>
                              </m:r>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r>
                                <a:rPr lang="ar-AE">
                                  <a:latin typeface="Cambria Math" panose="02040503050406030204" pitchFamily="18" charset="0"/>
                                </a:rPr>
                                <m:t>+</m:t>
                              </m:r>
                              <m:r>
                                <a:rPr lang="ar-AE" i="1">
                                  <a:latin typeface="Cambria Math" panose="02040503050406030204" pitchFamily="18" charset="0"/>
                                </a:rPr>
                                <m:t>𝑛</m:t>
                              </m:r>
                              <m:d>
                                <m:dPr>
                                  <m:endChr m:val=""/>
                                  <m:ctrlPr>
                                    <a:rPr lang="ar-AE" i="1">
                                      <a:latin typeface="Cambria Math" panose="02040503050406030204" pitchFamily="18" charset="0"/>
                                    </a:rPr>
                                  </m:ctrlPr>
                                </m:dPr>
                                <m:e>
                                  <m:sSub>
                                    <m:sSubPr>
                                      <m:ctrlPr>
                                        <a:rPr lang="ar-AE" i="1">
                                          <a:latin typeface="Cambria Math" panose="02040503050406030204" pitchFamily="18" charset="0"/>
                                        </a:rPr>
                                      </m:ctrlPr>
                                    </m:sSubPr>
                                    <m:e>
                                      <m:limUpp>
                                        <m:limUppPr>
                                          <m:ctrlPr>
                                            <a:rPr lang="ar-AE" i="1">
                                              <a:latin typeface="Cambria Math" panose="02040503050406030204" pitchFamily="18" charset="0"/>
                                            </a:rPr>
                                          </m:ctrlPr>
                                        </m:limUppPr>
                                        <m:e>
                                          <m:r>
                                            <a:rPr lang="ar-AE" i="1">
                                              <a:latin typeface="Cambria Math" panose="02040503050406030204" pitchFamily="18" charset="0"/>
                                            </a:rPr>
                                            <m:t>𝑥</m:t>
                                          </m:r>
                                        </m:e>
                                        <m:lim>
                                          <m:r>
                                            <a:rPr lang="ar-AE">
                                              <a:latin typeface="Cambria Math" panose="02040503050406030204" pitchFamily="18" charset="0"/>
                                            </a:rPr>
                                            <m:t>ˉ</m:t>
                                          </m:r>
                                        </m:lim>
                                      </m:limUpp>
                                    </m:e>
                                    <m:sub>
                                      <m:r>
                                        <a:rPr lang="ar-AE">
                                          <a:latin typeface="Cambria Math" panose="02040503050406030204" pitchFamily="18" charset="0"/>
                                        </a:rPr>
                                        <m:t>3</m:t>
                                      </m:r>
                                    </m:sub>
                                  </m:sSub>
                                  <m:r>
                                    <a:rPr lang="ar-AE">
                                      <a:latin typeface="Cambria Math" panose="02040503050406030204" pitchFamily="18" charset="0"/>
                                    </a:rPr>
                                    <m:t>−</m:t>
                                  </m:r>
                                  <m:r>
                                    <a:rPr lang="ar-AE" i="1">
                                      <a:latin typeface="Cambria Math" panose="02040503050406030204" pitchFamily="18" charset="0"/>
                                    </a:rPr>
                                    <m:t>𝐺𝑀</m:t>
                                  </m:r>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e>
                              </m:d>
                            </m:e>
                          </m:d>
                        </m:e>
                      </m:d>
                    </m:oMath>
                  </m:oMathPara>
                </a14:m>
                <a:endParaRPr lang="ar-AE" dirty="0"/>
              </a:p>
              <a:p>
                <a:pPr marL="0" indent="0">
                  <a:buNone/>
                </a:pPr>
                <a:r>
                  <a:rPr lang="en-US" dirty="0"/>
                  <a:t>where </a:t>
                </a:r>
                <a14:m>
                  <m:oMath xmlns:m="http://schemas.openxmlformats.org/officeDocument/2006/math">
                    <m:r>
                      <a:rPr lang="en-US" i="1">
                        <a:latin typeface="Cambria Math" panose="02040503050406030204" pitchFamily="18" charset="0"/>
                      </a:rPr>
                      <m:t>𝑛</m:t>
                    </m:r>
                    <m:r>
                      <a:rPr lang="en-US">
                        <a:latin typeface="Cambria Math" panose="02040503050406030204" pitchFamily="18" charset="0"/>
                      </a:rPr>
                      <m:t>=</m:t>
                    </m:r>
                    <m:r>
                      <a:rPr lang="en-US">
                        <a:latin typeface="Cambria Math" panose="02040503050406030204" pitchFamily="18" charset="0"/>
                      </a:rPr>
                      <m:t>3</m:t>
                    </m:r>
                  </m:oMath>
                </a14:m>
                <a:r>
                  <a:rPr lang="en-US" dirty="0"/>
                  <a:t>.</a:t>
                </a:r>
              </a:p>
              <a:p>
                <a:pPr marL="0" indent="0">
                  <a:buNone/>
                </a:pPr>
                <a:r>
                  <a:rPr lang="en-US" b="1" dirty="0"/>
                  <a:t>Method A</a:t>
                </a:r>
              </a:p>
              <a:p>
                <a:pPr marL="0" indent="0">
                  <a:buNone/>
                </a:pPr>
                <a14:m>
                  <m:oMathPara xmlns:m="http://schemas.openxmlformats.org/officeDocument/2006/math">
                    <m:oMathParaPr>
                      <m:jc m:val="centerGroup"/>
                    </m:oMathParaPr>
                    <m:oMath xmlns:m="http://schemas.openxmlformats.org/officeDocument/2006/math">
                      <m:r>
                        <a:rPr lang="en-US">
                          <a:latin typeface="Cambria Math" panose="02040503050406030204" pitchFamily="18" charset="0"/>
                        </a:rPr>
                        <m:t>3</m:t>
                      </m:r>
                      <m:d>
                        <m:dPr>
                          <m:endChr m:val=""/>
                          <m:ctrlPr>
                            <a:rPr lang="ar-AE" i="1">
                              <a:latin typeface="Cambria Math" panose="02040503050406030204" pitchFamily="18" charset="0"/>
                            </a:rPr>
                          </m:ctrlPr>
                        </m:dPr>
                        <m:e>
                          <m:r>
                            <a:rPr lang="ar-AE">
                              <a:latin typeface="Cambria Math" panose="02040503050406030204" pitchFamily="18" charset="0"/>
                            </a:rPr>
                            <m:t>7</m:t>
                          </m:r>
                          <m:r>
                            <a:rPr lang="ar-AE">
                              <a:latin typeface="Cambria Math" panose="02040503050406030204" pitchFamily="18" charset="0"/>
                            </a:rPr>
                            <m:t>.</m:t>
                          </m:r>
                          <m:r>
                            <a:rPr lang="ar-AE">
                              <a:latin typeface="Cambria Math" panose="02040503050406030204" pitchFamily="18" charset="0"/>
                            </a:rPr>
                            <m:t>67</m:t>
                          </m:r>
                          <m:r>
                            <a:rPr lang="ar-AE">
                              <a:latin typeface="Cambria Math" panose="02040503050406030204" pitchFamily="18" charset="0"/>
                            </a:rPr>
                            <m:t>−</m:t>
                          </m:r>
                          <m:r>
                            <a:rPr lang="ar-AE">
                              <a:latin typeface="Cambria Math" panose="02040503050406030204" pitchFamily="18" charset="0"/>
                            </a:rPr>
                            <m:t>8</m:t>
                          </m:r>
                          <m:r>
                            <a:rPr lang="ar-AE">
                              <a:latin typeface="Cambria Math" panose="02040503050406030204" pitchFamily="18" charset="0"/>
                            </a:rPr>
                            <m:t>.</m:t>
                          </m:r>
                          <m:r>
                            <a:rPr lang="ar-AE">
                              <a:latin typeface="Cambria Math" panose="02040503050406030204" pitchFamily="18" charset="0"/>
                            </a:rPr>
                            <m:t>78</m:t>
                          </m:r>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r>
                            <a:rPr lang="ar-AE">
                              <a:latin typeface="Cambria Math" panose="02040503050406030204" pitchFamily="18" charset="0"/>
                            </a:rPr>
                            <m:t>=</m:t>
                          </m:r>
                          <m:r>
                            <a:rPr lang="ar-AE">
                              <a:latin typeface="Cambria Math" panose="02040503050406030204" pitchFamily="18" charset="0"/>
                            </a:rPr>
                            <m:t>3</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23</m:t>
                              </m:r>
                            </m:e>
                          </m:d>
                          <m:r>
                            <a:rPr lang="ar-AE">
                              <a:latin typeface="Cambria Math" panose="02040503050406030204" pitchFamily="18" charset="0"/>
                            </a:rPr>
                            <m:t>=</m:t>
                          </m:r>
                          <m:r>
                            <a:rPr lang="ar-AE">
                              <a:latin typeface="Cambria Math" panose="02040503050406030204" pitchFamily="18" charset="0"/>
                            </a:rPr>
                            <m:t>3</m:t>
                          </m:r>
                          <m:r>
                            <a:rPr lang="ar-AE">
                              <a:latin typeface="Cambria Math" panose="02040503050406030204" pitchFamily="18" charset="0"/>
                            </a:rPr>
                            <m:t>.</m:t>
                          </m:r>
                          <m:r>
                            <a:rPr lang="ar-AE">
                              <a:latin typeface="Cambria Math" panose="02040503050406030204" pitchFamily="18" charset="0"/>
                            </a:rPr>
                            <m:t>69</m:t>
                          </m:r>
                        </m:e>
                      </m:d>
                    </m:oMath>
                  </m:oMathPara>
                </a14:m>
                <a:endParaRPr lang="ar-AE" dirty="0"/>
              </a:p>
              <a:p>
                <a:pPr marL="0" indent="0">
                  <a:buNone/>
                </a:pPr>
                <a:r>
                  <a:rPr lang="en-US" b="1" dirty="0"/>
                  <a:t>Method B</a:t>
                </a:r>
              </a:p>
              <a:p>
                <a:pPr marL="0" indent="0">
                  <a:buNone/>
                </a:pPr>
                <a14:m>
                  <m:oMathPara xmlns:m="http://schemas.openxmlformats.org/officeDocument/2006/math">
                    <m:oMathParaPr>
                      <m:jc m:val="centerGroup"/>
                    </m:oMathParaPr>
                    <m:oMath xmlns:m="http://schemas.openxmlformats.org/officeDocument/2006/math">
                      <m:r>
                        <a:rPr lang="en-US">
                          <a:latin typeface="Cambria Math" panose="02040503050406030204" pitchFamily="18" charset="0"/>
                        </a:rPr>
                        <m:t>3</m:t>
                      </m:r>
                      <m:d>
                        <m:dPr>
                          <m:endChr m:val=""/>
                          <m:ctrlPr>
                            <a:rPr lang="ar-AE" i="1">
                              <a:latin typeface="Cambria Math" panose="02040503050406030204" pitchFamily="18" charset="0"/>
                            </a:rPr>
                          </m:ctrlPr>
                        </m:dPr>
                        <m:e>
                          <m:r>
                            <a:rPr lang="ar-AE">
                              <a:latin typeface="Cambria Math" panose="02040503050406030204" pitchFamily="18" charset="0"/>
                            </a:rPr>
                            <m:t>7</m:t>
                          </m:r>
                          <m:r>
                            <a:rPr lang="ar-AE">
                              <a:latin typeface="Cambria Math" panose="02040503050406030204" pitchFamily="18" charset="0"/>
                            </a:rPr>
                            <m:t>−</m:t>
                          </m:r>
                          <m:r>
                            <a:rPr lang="ar-AE">
                              <a:latin typeface="Cambria Math" panose="02040503050406030204" pitchFamily="18" charset="0"/>
                            </a:rPr>
                            <m:t>8</m:t>
                          </m:r>
                          <m:r>
                            <a:rPr lang="ar-AE">
                              <a:latin typeface="Cambria Math" panose="02040503050406030204" pitchFamily="18" charset="0"/>
                            </a:rPr>
                            <m:t>.</m:t>
                          </m:r>
                          <m:r>
                            <a:rPr lang="ar-AE">
                              <a:latin typeface="Cambria Math" panose="02040503050406030204" pitchFamily="18" charset="0"/>
                            </a:rPr>
                            <m:t>78</m:t>
                          </m:r>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r>
                            <a:rPr lang="ar-AE">
                              <a:latin typeface="Cambria Math" panose="02040503050406030204" pitchFamily="18" charset="0"/>
                            </a:rPr>
                            <m:t>=</m:t>
                          </m:r>
                          <m:r>
                            <a:rPr lang="ar-AE">
                              <a:latin typeface="Cambria Math" panose="02040503050406030204" pitchFamily="18" charset="0"/>
                            </a:rPr>
                            <m:t>3</m:t>
                          </m:r>
                          <m:d>
                            <m:dPr>
                              <m:ctrlPr>
                                <a:rPr lang="ar-AE" i="1">
                                  <a:latin typeface="Cambria Math" panose="02040503050406030204" pitchFamily="18" charset="0"/>
                                </a:rPr>
                              </m:ctrlPr>
                            </m:dPr>
                            <m:e>
                              <m:r>
                                <a:rPr lang="ar-AE">
                                  <a:latin typeface="Cambria Math" panose="02040503050406030204" pitchFamily="18" charset="0"/>
                                </a:rPr>
                                <m:t>3</m:t>
                              </m:r>
                              <m:r>
                                <a:rPr lang="ar-AE">
                                  <a:latin typeface="Cambria Math" panose="02040503050406030204" pitchFamily="18" charset="0"/>
                                </a:rPr>
                                <m:t>.</m:t>
                              </m:r>
                              <m:r>
                                <a:rPr lang="ar-AE">
                                  <a:latin typeface="Cambria Math" panose="02040503050406030204" pitchFamily="18" charset="0"/>
                                </a:rPr>
                                <m:t>17</m:t>
                              </m:r>
                            </m:e>
                          </m:d>
                          <m:r>
                            <a:rPr lang="ar-AE">
                              <a:latin typeface="Cambria Math" panose="02040503050406030204" pitchFamily="18" charset="0"/>
                            </a:rPr>
                            <m:t>=</m:t>
                          </m:r>
                          <m:r>
                            <a:rPr lang="ar-AE">
                              <a:latin typeface="Cambria Math" panose="02040503050406030204" pitchFamily="18" charset="0"/>
                            </a:rPr>
                            <m:t>9</m:t>
                          </m:r>
                          <m:r>
                            <a:rPr lang="ar-AE">
                              <a:latin typeface="Cambria Math" panose="02040503050406030204" pitchFamily="18" charset="0"/>
                            </a:rPr>
                            <m:t>.</m:t>
                          </m:r>
                          <m:r>
                            <a:rPr lang="ar-AE">
                              <a:latin typeface="Cambria Math" panose="02040503050406030204" pitchFamily="18" charset="0"/>
                            </a:rPr>
                            <m:t>51</m:t>
                          </m:r>
                        </m:e>
                      </m:d>
                    </m:oMath>
                  </m:oMathPara>
                </a14:m>
                <a:endParaRPr lang="ar-AE" dirty="0"/>
              </a:p>
              <a:p>
                <a:pPr marL="0" indent="0">
                  <a:buNone/>
                </a:pPr>
                <a:r>
                  <a:rPr lang="en-US" b="1" dirty="0"/>
                  <a:t>Method C</a:t>
                </a:r>
              </a:p>
              <a:p>
                <a:pPr marL="0" indent="0">
                  <a:buNone/>
                </a:pPr>
                <a14:m>
                  <m:oMathPara xmlns:m="http://schemas.openxmlformats.org/officeDocument/2006/math">
                    <m:oMathParaPr>
                      <m:jc m:val="centerGroup"/>
                    </m:oMathParaPr>
                    <m:oMath xmlns:m="http://schemas.openxmlformats.org/officeDocument/2006/math">
                      <m:r>
                        <a:rPr lang="en-US">
                          <a:latin typeface="Cambria Math" panose="02040503050406030204" pitchFamily="18" charset="0"/>
                        </a:rPr>
                        <m:t>3</m:t>
                      </m:r>
                      <m:d>
                        <m:dPr>
                          <m:endChr m:val=""/>
                          <m:ctrlPr>
                            <a:rPr lang="ar-AE" i="1">
                              <a:latin typeface="Cambria Math" panose="02040503050406030204" pitchFamily="18" charset="0"/>
                            </a:rPr>
                          </m:ctrlPr>
                        </m:dPr>
                        <m:e>
                          <m:r>
                            <a:rPr lang="ar-AE">
                              <a:latin typeface="Cambria Math" panose="02040503050406030204" pitchFamily="18" charset="0"/>
                            </a:rPr>
                            <m:t>11</m:t>
                          </m:r>
                          <m:r>
                            <a:rPr lang="ar-AE">
                              <a:latin typeface="Cambria Math" panose="02040503050406030204" pitchFamily="18" charset="0"/>
                            </a:rPr>
                            <m:t>.</m:t>
                          </m:r>
                          <m:r>
                            <a:rPr lang="ar-AE">
                              <a:latin typeface="Cambria Math" panose="02040503050406030204" pitchFamily="18" charset="0"/>
                            </a:rPr>
                            <m:t>67</m:t>
                          </m:r>
                          <m:r>
                            <a:rPr lang="ar-AE">
                              <a:latin typeface="Cambria Math" panose="02040503050406030204" pitchFamily="18" charset="0"/>
                            </a:rPr>
                            <m:t>−</m:t>
                          </m:r>
                          <m:r>
                            <a:rPr lang="ar-AE">
                              <a:latin typeface="Cambria Math" panose="02040503050406030204" pitchFamily="18" charset="0"/>
                            </a:rPr>
                            <m:t>8</m:t>
                          </m:r>
                          <m:r>
                            <a:rPr lang="ar-AE">
                              <a:latin typeface="Cambria Math" panose="02040503050406030204" pitchFamily="18" charset="0"/>
                            </a:rPr>
                            <m:t>.</m:t>
                          </m:r>
                          <m:r>
                            <a:rPr lang="ar-AE">
                              <a:latin typeface="Cambria Math" panose="02040503050406030204" pitchFamily="18" charset="0"/>
                            </a:rPr>
                            <m:t>78</m:t>
                          </m:r>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r>
                            <a:rPr lang="ar-AE">
                              <a:latin typeface="Cambria Math" panose="02040503050406030204" pitchFamily="18" charset="0"/>
                            </a:rPr>
                            <m:t>=</m:t>
                          </m:r>
                          <m:r>
                            <a:rPr lang="ar-AE">
                              <a:latin typeface="Cambria Math" panose="02040503050406030204" pitchFamily="18" charset="0"/>
                            </a:rPr>
                            <m:t>3</m:t>
                          </m:r>
                          <m:d>
                            <m:dPr>
                              <m:ctrlPr>
                                <a:rPr lang="ar-AE" i="1">
                                  <a:latin typeface="Cambria Math" panose="02040503050406030204" pitchFamily="18" charset="0"/>
                                </a:rPr>
                              </m:ctrlPr>
                            </m:dPr>
                            <m:e>
                              <m:r>
                                <a:rPr lang="ar-AE">
                                  <a:latin typeface="Cambria Math" panose="02040503050406030204" pitchFamily="18" charset="0"/>
                                </a:rPr>
                                <m:t>8</m:t>
                              </m:r>
                              <m:r>
                                <a:rPr lang="ar-AE">
                                  <a:latin typeface="Cambria Math" panose="02040503050406030204" pitchFamily="18" charset="0"/>
                                </a:rPr>
                                <m:t>.</m:t>
                              </m:r>
                              <m:r>
                                <a:rPr lang="ar-AE">
                                  <a:latin typeface="Cambria Math" panose="02040503050406030204" pitchFamily="18" charset="0"/>
                                </a:rPr>
                                <m:t>36</m:t>
                              </m:r>
                            </m:e>
                          </m:d>
                          <m:r>
                            <a:rPr lang="ar-AE">
                              <a:latin typeface="Cambria Math" panose="02040503050406030204" pitchFamily="18" charset="0"/>
                            </a:rPr>
                            <m:t>=</m:t>
                          </m:r>
                          <m:r>
                            <a:rPr lang="ar-AE">
                              <a:latin typeface="Cambria Math" panose="02040503050406030204" pitchFamily="18" charset="0"/>
                            </a:rPr>
                            <m:t>25</m:t>
                          </m:r>
                          <m:r>
                            <a:rPr lang="ar-AE">
                              <a:latin typeface="Cambria Math" panose="02040503050406030204" pitchFamily="18" charset="0"/>
                            </a:rPr>
                            <m:t>.</m:t>
                          </m:r>
                          <m:r>
                            <a:rPr lang="ar-AE">
                              <a:latin typeface="Cambria Math" panose="02040503050406030204" pitchFamily="18" charset="0"/>
                            </a:rPr>
                            <m:t>08</m:t>
                          </m:r>
                        </m:e>
                      </m:d>
                    </m:oMath>
                  </m:oMathPara>
                </a14:m>
                <a:endParaRPr lang="ar-AE" dirty="0"/>
              </a:p>
              <a:p>
                <a:pPr marL="0" indent="0">
                  <a:buNone/>
                </a:pPr>
                <a14:m>
                  <m:oMathPara xmlns:m="http://schemas.openxmlformats.org/officeDocument/2006/math">
                    <m:oMathParaPr>
                      <m:jc m:val="centerGroup"/>
                    </m:oMathParaPr>
                    <m:oMath xmlns:m="http://schemas.openxmlformats.org/officeDocument/2006/math">
                      <m:r>
                        <a:rPr lang="ar-AE" i="1">
                          <a:latin typeface="Cambria Math" panose="02040503050406030204" pitchFamily="18" charset="0"/>
                        </a:rPr>
                        <m:t>𝑆𝑆𝐵</m:t>
                      </m:r>
                      <m:r>
                        <a:rPr lang="ar-AE">
                          <a:latin typeface="Cambria Math" panose="02040503050406030204" pitchFamily="18" charset="0"/>
                        </a:rPr>
                        <m:t>=</m:t>
                      </m:r>
                      <m:r>
                        <a:rPr lang="ar-AE">
                          <a:latin typeface="Cambria Math" panose="02040503050406030204" pitchFamily="18" charset="0"/>
                        </a:rPr>
                        <m:t>3</m:t>
                      </m:r>
                      <m:r>
                        <a:rPr lang="ar-AE">
                          <a:latin typeface="Cambria Math" panose="02040503050406030204" pitchFamily="18" charset="0"/>
                        </a:rPr>
                        <m:t>.</m:t>
                      </m:r>
                      <m:r>
                        <a:rPr lang="ar-AE">
                          <a:latin typeface="Cambria Math" panose="02040503050406030204" pitchFamily="18" charset="0"/>
                        </a:rPr>
                        <m:t>69</m:t>
                      </m:r>
                      <m:r>
                        <a:rPr lang="ar-AE">
                          <a:latin typeface="Cambria Math" panose="02040503050406030204" pitchFamily="18" charset="0"/>
                        </a:rPr>
                        <m:t>+</m:t>
                      </m:r>
                      <m:r>
                        <a:rPr lang="ar-AE">
                          <a:latin typeface="Cambria Math" panose="02040503050406030204" pitchFamily="18" charset="0"/>
                        </a:rPr>
                        <m:t>9</m:t>
                      </m:r>
                      <m:r>
                        <a:rPr lang="ar-AE">
                          <a:latin typeface="Cambria Math" panose="02040503050406030204" pitchFamily="18" charset="0"/>
                        </a:rPr>
                        <m:t>.</m:t>
                      </m:r>
                      <m:r>
                        <a:rPr lang="ar-AE">
                          <a:latin typeface="Cambria Math" panose="02040503050406030204" pitchFamily="18" charset="0"/>
                        </a:rPr>
                        <m:t>51</m:t>
                      </m:r>
                      <m:r>
                        <a:rPr lang="ar-AE">
                          <a:latin typeface="Cambria Math" panose="02040503050406030204" pitchFamily="18" charset="0"/>
                        </a:rPr>
                        <m:t>+</m:t>
                      </m:r>
                      <m:r>
                        <a:rPr lang="ar-AE">
                          <a:latin typeface="Cambria Math" panose="02040503050406030204" pitchFamily="18" charset="0"/>
                        </a:rPr>
                        <m:t>25</m:t>
                      </m:r>
                      <m:r>
                        <a:rPr lang="ar-AE">
                          <a:latin typeface="Cambria Math" panose="02040503050406030204" pitchFamily="18" charset="0"/>
                        </a:rPr>
                        <m:t>.</m:t>
                      </m:r>
                      <m:r>
                        <a:rPr lang="ar-AE">
                          <a:latin typeface="Cambria Math" panose="02040503050406030204" pitchFamily="18" charset="0"/>
                        </a:rPr>
                        <m:t>08</m:t>
                      </m:r>
                    </m:oMath>
                  </m:oMathPara>
                </a14:m>
                <a:endParaRPr lang="ar-AE" dirty="0"/>
              </a:p>
              <a:p>
                <a:pPr marL="0" indent="0">
                  <a:buNone/>
                </a:pPr>
                <a14:m>
                  <m:oMathPara xmlns:m="http://schemas.openxmlformats.org/officeDocument/2006/math">
                    <m:oMathParaPr>
                      <m:jc m:val="centerGroup"/>
                    </m:oMathParaPr>
                    <m:oMath xmlns:m="http://schemas.openxmlformats.org/officeDocument/2006/math">
                      <m:r>
                        <a:rPr lang="ar-AE" i="1">
                          <a:latin typeface="Cambria Math" panose="02040503050406030204" pitchFamily="18" charset="0"/>
                        </a:rPr>
                        <m:t>𝑆𝑆𝐵</m:t>
                      </m:r>
                      <m:r>
                        <a:rPr lang="ar-AE">
                          <a:latin typeface="Cambria Math" panose="02040503050406030204" pitchFamily="18" charset="0"/>
                        </a:rPr>
                        <m:t>=</m:t>
                      </m:r>
                      <m:r>
                        <a:rPr lang="ar-AE">
                          <a:latin typeface="Cambria Math" panose="02040503050406030204" pitchFamily="18" charset="0"/>
                        </a:rPr>
                        <m:t>38</m:t>
                      </m:r>
                      <m:r>
                        <a:rPr lang="ar-AE">
                          <a:latin typeface="Cambria Math" panose="02040503050406030204" pitchFamily="18" charset="0"/>
                        </a:rPr>
                        <m:t>.</m:t>
                      </m:r>
                      <m:r>
                        <a:rPr lang="ar-AE">
                          <a:latin typeface="Cambria Math" panose="02040503050406030204" pitchFamily="18" charset="0"/>
                        </a:rPr>
                        <m:t>28</m:t>
                      </m:r>
                    </m:oMath>
                  </m:oMathPara>
                </a14:m>
                <a:endParaRPr lang="ar-AE"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3085373D-AA3E-86EE-B1B6-B61CDE8E5C11}"/>
                  </a:ext>
                </a:extLst>
              </p:cNvPr>
              <p:cNvSpPr>
                <a:spLocks noGrp="1" noRot="1" noChangeAspect="1" noMove="1" noResize="1" noEditPoints="1" noAdjustHandles="1" noChangeArrowheads="1" noChangeShapeType="1" noTextEdit="1"/>
              </p:cNvSpPr>
              <p:nvPr>
                <p:ph idx="1"/>
              </p:nvPr>
            </p:nvSpPr>
            <p:spPr>
              <a:xfrm>
                <a:off x="838200" y="320040"/>
                <a:ext cx="10515600" cy="5856923"/>
              </a:xfrm>
              <a:blipFill>
                <a:blip r:embed="rId2"/>
                <a:stretch>
                  <a:fillRect l="-522" t="-1667" b="-2396"/>
                </a:stretch>
              </a:blipFill>
            </p:spPr>
            <p:txBody>
              <a:bodyPr/>
              <a:lstStyle/>
              <a:p>
                <a:r>
                  <a:rPr lang="en-US">
                    <a:noFill/>
                  </a:rPr>
                  <a:t> </a:t>
                </a:r>
              </a:p>
            </p:txBody>
          </p:sp>
        </mc:Fallback>
      </mc:AlternateContent>
    </p:spTree>
    <p:extLst>
      <p:ext uri="{BB962C8B-B14F-4D97-AF65-F5344CB8AC3E}">
        <p14:creationId xmlns:p14="http://schemas.microsoft.com/office/powerpoint/2010/main" val="13962712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FF82A4D-9316-9A1D-6A37-B53FA304083E}"/>
                  </a:ext>
                </a:extLst>
              </p:cNvPr>
              <p:cNvSpPr>
                <a:spLocks noGrp="1"/>
              </p:cNvSpPr>
              <p:nvPr>
                <p:ph idx="1"/>
              </p:nvPr>
            </p:nvSpPr>
            <p:spPr>
              <a:xfrm>
                <a:off x="838200" y="0"/>
                <a:ext cx="10515600" cy="6176963"/>
              </a:xfrm>
            </p:spPr>
            <p:txBody>
              <a:bodyPr>
                <a:normAutofit fontScale="92500" lnSpcReduction="20000"/>
              </a:bodyPr>
              <a:lstStyle/>
              <a:p>
                <a:r>
                  <a:rPr lang="en-US" b="1" dirty="0"/>
                  <a:t>Step 5: Within-Group Sum of Squares (SSW)</a:t>
                </a:r>
              </a:p>
              <a:p>
                <a:r>
                  <a:rPr lang="en-US" dirty="0"/>
                  <a:t>Calculate variance inside each group.</a:t>
                </a:r>
              </a:p>
              <a:p>
                <a:r>
                  <a:rPr lang="en-US" b="1" dirty="0"/>
                  <a:t>Method A</a:t>
                </a:r>
              </a:p>
              <a:p>
                <a:pPr marL="0" indent="0">
                  <a:buNone/>
                </a:pPr>
                <a14:m>
                  <m:oMathPara xmlns:m="http://schemas.openxmlformats.org/officeDocument/2006/math">
                    <m:oMathParaPr>
                      <m:jc m:val="centerGroup"/>
                    </m:oMathParaPr>
                    <m:oMath xmlns:m="http://schemas.openxmlformats.org/officeDocument/2006/math">
                      <m:d>
                        <m:dPr>
                          <m:endChr m:val=""/>
                          <m:ctrlPr>
                            <a:rPr lang="ar-AE" i="1">
                              <a:latin typeface="Cambria Math" panose="02040503050406030204" pitchFamily="18" charset="0"/>
                            </a:rPr>
                          </m:ctrlPr>
                        </m:dPr>
                        <m:e>
                          <m:r>
                            <a:rPr lang="ar-AE">
                              <a:latin typeface="Cambria Math" panose="02040503050406030204" pitchFamily="18" charset="0"/>
                            </a:rPr>
                            <m:t>8</m:t>
                          </m:r>
                          <m:r>
                            <a:rPr lang="ar-AE">
                              <a:latin typeface="Cambria Math" panose="02040503050406030204" pitchFamily="18" charset="0"/>
                            </a:rPr>
                            <m:t>−</m:t>
                          </m:r>
                          <m:r>
                            <a:rPr lang="ar-AE">
                              <a:latin typeface="Cambria Math" panose="02040503050406030204" pitchFamily="18" charset="0"/>
                            </a:rPr>
                            <m:t>7</m:t>
                          </m:r>
                          <m:r>
                            <a:rPr lang="ar-AE">
                              <a:latin typeface="Cambria Math" panose="02040503050406030204" pitchFamily="18" charset="0"/>
                            </a:rPr>
                            <m:t>.</m:t>
                          </m:r>
                          <m:r>
                            <a:rPr lang="ar-AE">
                              <a:latin typeface="Cambria Math" panose="02040503050406030204" pitchFamily="18" charset="0"/>
                            </a:rPr>
                            <m:t>67</m:t>
                          </m:r>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r>
                            <a:rPr lang="ar-AE">
                              <a:latin typeface="Cambria Math" panose="02040503050406030204" pitchFamily="18" charset="0"/>
                            </a:rPr>
                            <m:t>+</m:t>
                          </m:r>
                          <m:d>
                            <m:dPr>
                              <m:endChr m:val=""/>
                              <m:ctrlPr>
                                <a:rPr lang="ar-AE" i="1">
                                  <a:latin typeface="Cambria Math" panose="02040503050406030204" pitchFamily="18" charset="0"/>
                                </a:rPr>
                              </m:ctrlPr>
                            </m:dPr>
                            <m:e>
                              <m:r>
                                <a:rPr lang="ar-AE">
                                  <a:latin typeface="Cambria Math" panose="02040503050406030204" pitchFamily="18" charset="0"/>
                                </a:rPr>
                                <m:t>9</m:t>
                              </m:r>
                              <m:r>
                                <a:rPr lang="ar-AE">
                                  <a:latin typeface="Cambria Math" panose="02040503050406030204" pitchFamily="18" charset="0"/>
                                </a:rPr>
                                <m:t>−</m:t>
                              </m:r>
                              <m:r>
                                <a:rPr lang="ar-AE">
                                  <a:latin typeface="Cambria Math" panose="02040503050406030204" pitchFamily="18" charset="0"/>
                                </a:rPr>
                                <m:t>7</m:t>
                              </m:r>
                              <m:r>
                                <a:rPr lang="ar-AE">
                                  <a:latin typeface="Cambria Math" panose="02040503050406030204" pitchFamily="18" charset="0"/>
                                </a:rPr>
                                <m:t>.</m:t>
                              </m:r>
                              <m:r>
                                <a:rPr lang="ar-AE">
                                  <a:latin typeface="Cambria Math" panose="02040503050406030204" pitchFamily="18" charset="0"/>
                                </a:rPr>
                                <m:t>67</m:t>
                              </m:r>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r>
                                <a:rPr lang="ar-AE">
                                  <a:latin typeface="Cambria Math" panose="02040503050406030204" pitchFamily="18" charset="0"/>
                                </a:rPr>
                                <m:t>+</m:t>
                              </m:r>
                              <m:d>
                                <m:dPr>
                                  <m:endChr m:val=""/>
                                  <m:ctrlPr>
                                    <a:rPr lang="ar-AE" i="1">
                                      <a:latin typeface="Cambria Math" panose="02040503050406030204" pitchFamily="18" charset="0"/>
                                    </a:rPr>
                                  </m:ctrlPr>
                                </m:dPr>
                                <m:e>
                                  <m:r>
                                    <a:rPr lang="ar-AE">
                                      <a:latin typeface="Cambria Math" panose="02040503050406030204" pitchFamily="18" charset="0"/>
                                    </a:rPr>
                                    <m:t>6</m:t>
                                  </m:r>
                                  <m:r>
                                    <a:rPr lang="ar-AE">
                                      <a:latin typeface="Cambria Math" panose="02040503050406030204" pitchFamily="18" charset="0"/>
                                    </a:rPr>
                                    <m:t>−</m:t>
                                  </m:r>
                                  <m:r>
                                    <a:rPr lang="ar-AE">
                                      <a:latin typeface="Cambria Math" panose="02040503050406030204" pitchFamily="18" charset="0"/>
                                    </a:rPr>
                                    <m:t>7</m:t>
                                  </m:r>
                                  <m:r>
                                    <a:rPr lang="ar-AE">
                                      <a:latin typeface="Cambria Math" panose="02040503050406030204" pitchFamily="18" charset="0"/>
                                    </a:rPr>
                                    <m:t>.</m:t>
                                  </m:r>
                                  <m:r>
                                    <a:rPr lang="ar-AE">
                                      <a:latin typeface="Cambria Math" panose="02040503050406030204" pitchFamily="18" charset="0"/>
                                    </a:rPr>
                                    <m:t>67</m:t>
                                  </m:r>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e>
                              </m:d>
                            </m:e>
                          </m:d>
                        </m:e>
                      </m:d>
                    </m:oMath>
                  </m:oMathPara>
                </a14:m>
                <a:endParaRPr lang="ar-AE" dirty="0"/>
              </a:p>
              <a:p>
                <a:pPr marL="0" indent="0">
                  <a:buNone/>
                </a:pPr>
                <a14:m>
                  <m:oMathPara xmlns:m="http://schemas.openxmlformats.org/officeDocument/2006/math">
                    <m:oMathParaPr>
                      <m:jc m:val="centerGroup"/>
                    </m:oMathParaPr>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11</m:t>
                      </m:r>
                      <m:r>
                        <a:rPr lang="ar-AE">
                          <a:latin typeface="Cambria Math" panose="02040503050406030204" pitchFamily="18" charset="0"/>
                        </a:rPr>
                        <m:t>+</m:t>
                      </m:r>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77</m:t>
                      </m:r>
                      <m:r>
                        <a:rPr lang="ar-AE">
                          <a:latin typeface="Cambria Math" panose="02040503050406030204" pitchFamily="18" charset="0"/>
                        </a:rPr>
                        <m:t>+</m:t>
                      </m:r>
                      <m:r>
                        <a:rPr lang="ar-AE">
                          <a:latin typeface="Cambria Math" panose="02040503050406030204" pitchFamily="18" charset="0"/>
                        </a:rPr>
                        <m:t>2</m:t>
                      </m:r>
                      <m:r>
                        <a:rPr lang="ar-AE">
                          <a:latin typeface="Cambria Math" panose="02040503050406030204" pitchFamily="18" charset="0"/>
                        </a:rPr>
                        <m:t>.</m:t>
                      </m:r>
                      <m:r>
                        <a:rPr lang="ar-AE">
                          <a:latin typeface="Cambria Math" panose="02040503050406030204" pitchFamily="18" charset="0"/>
                        </a:rPr>
                        <m:t>78</m:t>
                      </m:r>
                      <m:r>
                        <a:rPr lang="ar-AE">
                          <a:latin typeface="Cambria Math" panose="02040503050406030204" pitchFamily="18" charset="0"/>
                        </a:rPr>
                        <m:t>=</m:t>
                      </m:r>
                      <m:r>
                        <a:rPr lang="ar-AE">
                          <a:latin typeface="Cambria Math" panose="02040503050406030204" pitchFamily="18" charset="0"/>
                        </a:rPr>
                        <m:t>4</m:t>
                      </m:r>
                      <m:r>
                        <a:rPr lang="ar-AE">
                          <a:latin typeface="Cambria Math" panose="02040503050406030204" pitchFamily="18" charset="0"/>
                        </a:rPr>
                        <m:t>.</m:t>
                      </m:r>
                      <m:r>
                        <a:rPr lang="ar-AE">
                          <a:latin typeface="Cambria Math" panose="02040503050406030204" pitchFamily="18" charset="0"/>
                        </a:rPr>
                        <m:t>66</m:t>
                      </m:r>
                    </m:oMath>
                  </m:oMathPara>
                </a14:m>
                <a:endParaRPr lang="ar-AE" dirty="0"/>
              </a:p>
              <a:p>
                <a:pPr marL="0" indent="0">
                  <a:buNone/>
                </a:pPr>
                <a:r>
                  <a:rPr lang="en-US" b="1" dirty="0"/>
                  <a:t>Method B</a:t>
                </a:r>
              </a:p>
              <a:p>
                <a:pPr marL="0" indent="0">
                  <a:buNone/>
                </a:pPr>
                <a14:m>
                  <m:oMathPara xmlns:m="http://schemas.openxmlformats.org/officeDocument/2006/math">
                    <m:oMathParaPr>
                      <m:jc m:val="centerGroup"/>
                    </m:oMathParaPr>
                    <m:oMath xmlns:m="http://schemas.openxmlformats.org/officeDocument/2006/math">
                      <m:d>
                        <m:dPr>
                          <m:endChr m:val=""/>
                          <m:ctrlPr>
                            <a:rPr lang="ar-AE" i="1">
                              <a:latin typeface="Cambria Math" panose="02040503050406030204" pitchFamily="18" charset="0"/>
                            </a:rPr>
                          </m:ctrlPr>
                        </m:dPr>
                        <m:e>
                          <m:r>
                            <a:rPr lang="ar-AE">
                              <a:latin typeface="Cambria Math" panose="02040503050406030204" pitchFamily="18" charset="0"/>
                            </a:rPr>
                            <m:t>7</m:t>
                          </m:r>
                          <m:r>
                            <a:rPr lang="ar-AE">
                              <a:latin typeface="Cambria Math" panose="02040503050406030204" pitchFamily="18" charset="0"/>
                            </a:rPr>
                            <m:t>−</m:t>
                          </m:r>
                          <m:r>
                            <a:rPr lang="ar-AE">
                              <a:latin typeface="Cambria Math" panose="02040503050406030204" pitchFamily="18" charset="0"/>
                            </a:rPr>
                            <m:t>7</m:t>
                          </m:r>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r>
                            <a:rPr lang="ar-AE">
                              <a:latin typeface="Cambria Math" panose="02040503050406030204" pitchFamily="18" charset="0"/>
                            </a:rPr>
                            <m:t>+</m:t>
                          </m:r>
                          <m:d>
                            <m:dPr>
                              <m:endChr m:val=""/>
                              <m:ctrlPr>
                                <a:rPr lang="ar-AE" i="1">
                                  <a:latin typeface="Cambria Math" panose="02040503050406030204" pitchFamily="18" charset="0"/>
                                </a:rPr>
                              </m:ctrlPr>
                            </m:dPr>
                            <m:e>
                              <m:r>
                                <a:rPr lang="ar-AE">
                                  <a:latin typeface="Cambria Math" panose="02040503050406030204" pitchFamily="18" charset="0"/>
                                </a:rPr>
                                <m:t>6</m:t>
                              </m:r>
                              <m:r>
                                <a:rPr lang="ar-AE">
                                  <a:latin typeface="Cambria Math" panose="02040503050406030204" pitchFamily="18" charset="0"/>
                                </a:rPr>
                                <m:t>−</m:t>
                              </m:r>
                              <m:r>
                                <a:rPr lang="ar-AE">
                                  <a:latin typeface="Cambria Math" panose="02040503050406030204" pitchFamily="18" charset="0"/>
                                </a:rPr>
                                <m:t>7</m:t>
                              </m:r>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r>
                                <a:rPr lang="ar-AE">
                                  <a:latin typeface="Cambria Math" panose="02040503050406030204" pitchFamily="18" charset="0"/>
                                </a:rPr>
                                <m:t>+</m:t>
                              </m:r>
                              <m:d>
                                <m:dPr>
                                  <m:endChr m:val=""/>
                                  <m:ctrlPr>
                                    <a:rPr lang="ar-AE" i="1">
                                      <a:latin typeface="Cambria Math" panose="02040503050406030204" pitchFamily="18" charset="0"/>
                                    </a:rPr>
                                  </m:ctrlPr>
                                </m:dPr>
                                <m:e>
                                  <m:r>
                                    <a:rPr lang="ar-AE">
                                      <a:latin typeface="Cambria Math" panose="02040503050406030204" pitchFamily="18" charset="0"/>
                                    </a:rPr>
                                    <m:t>8</m:t>
                                  </m:r>
                                  <m:r>
                                    <a:rPr lang="ar-AE">
                                      <a:latin typeface="Cambria Math" panose="02040503050406030204" pitchFamily="18" charset="0"/>
                                    </a:rPr>
                                    <m:t>−</m:t>
                                  </m:r>
                                  <m:r>
                                    <a:rPr lang="ar-AE">
                                      <a:latin typeface="Cambria Math" panose="02040503050406030204" pitchFamily="18" charset="0"/>
                                    </a:rPr>
                                    <m:t>7</m:t>
                                  </m:r>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e>
                              </m:d>
                            </m:e>
                          </m:d>
                        </m:e>
                      </m:d>
                    </m:oMath>
                  </m:oMathPara>
                </a14:m>
                <a:endParaRPr lang="ar-AE" dirty="0"/>
              </a:p>
              <a:p>
                <a:pPr marL="0" indent="0">
                  <a:buNone/>
                </a:pPr>
                <a14:m>
                  <m:oMathPara xmlns:m="http://schemas.openxmlformats.org/officeDocument/2006/math">
                    <m:oMathParaPr>
                      <m:jc m:val="centerGroup"/>
                    </m:oMathParaPr>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2</m:t>
                      </m:r>
                    </m:oMath>
                  </m:oMathPara>
                </a14:m>
                <a:endParaRPr lang="ar-AE" dirty="0"/>
              </a:p>
              <a:p>
                <a:pPr marL="0" indent="0">
                  <a:buNone/>
                </a:pPr>
                <a:r>
                  <a:rPr lang="en-US" b="1" dirty="0"/>
                  <a:t>Method C</a:t>
                </a:r>
              </a:p>
              <a:p>
                <a:pPr marL="0" indent="0">
                  <a:buNone/>
                </a:pPr>
                <a14:m>
                  <m:oMathPara xmlns:m="http://schemas.openxmlformats.org/officeDocument/2006/math">
                    <m:oMathParaPr>
                      <m:jc m:val="centerGroup"/>
                    </m:oMathParaPr>
                    <m:oMath xmlns:m="http://schemas.openxmlformats.org/officeDocument/2006/math">
                      <m:d>
                        <m:dPr>
                          <m:endChr m:val=""/>
                          <m:ctrlPr>
                            <a:rPr lang="ar-AE" i="1">
                              <a:latin typeface="Cambria Math" panose="02040503050406030204" pitchFamily="18" charset="0"/>
                            </a:rPr>
                          </m:ctrlPr>
                        </m:dPr>
                        <m:e>
                          <m:r>
                            <a:rPr lang="ar-AE">
                              <a:latin typeface="Cambria Math" panose="02040503050406030204" pitchFamily="18" charset="0"/>
                            </a:rPr>
                            <m:t>12</m:t>
                          </m:r>
                          <m:r>
                            <a:rPr lang="ar-AE">
                              <a:latin typeface="Cambria Math" panose="02040503050406030204" pitchFamily="18" charset="0"/>
                            </a:rPr>
                            <m:t>−</m:t>
                          </m:r>
                          <m:r>
                            <a:rPr lang="ar-AE">
                              <a:latin typeface="Cambria Math" panose="02040503050406030204" pitchFamily="18" charset="0"/>
                            </a:rPr>
                            <m:t>11</m:t>
                          </m:r>
                          <m:r>
                            <a:rPr lang="ar-AE">
                              <a:latin typeface="Cambria Math" panose="02040503050406030204" pitchFamily="18" charset="0"/>
                            </a:rPr>
                            <m:t>.</m:t>
                          </m:r>
                          <m:r>
                            <a:rPr lang="ar-AE">
                              <a:latin typeface="Cambria Math" panose="02040503050406030204" pitchFamily="18" charset="0"/>
                            </a:rPr>
                            <m:t>67</m:t>
                          </m:r>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r>
                            <a:rPr lang="ar-AE">
                              <a:latin typeface="Cambria Math" panose="02040503050406030204" pitchFamily="18" charset="0"/>
                            </a:rPr>
                            <m:t>+</m:t>
                          </m:r>
                          <m:d>
                            <m:dPr>
                              <m:endChr m:val=""/>
                              <m:ctrlPr>
                                <a:rPr lang="ar-AE" i="1">
                                  <a:latin typeface="Cambria Math" panose="02040503050406030204" pitchFamily="18" charset="0"/>
                                </a:rPr>
                              </m:ctrlPr>
                            </m:dPr>
                            <m:e>
                              <m:r>
                                <a:rPr lang="ar-AE">
                                  <a:latin typeface="Cambria Math" panose="02040503050406030204" pitchFamily="18" charset="0"/>
                                </a:rPr>
                                <m:t>10</m:t>
                              </m:r>
                              <m:r>
                                <a:rPr lang="ar-AE">
                                  <a:latin typeface="Cambria Math" panose="02040503050406030204" pitchFamily="18" charset="0"/>
                                </a:rPr>
                                <m:t>−</m:t>
                              </m:r>
                              <m:r>
                                <a:rPr lang="ar-AE">
                                  <a:latin typeface="Cambria Math" panose="02040503050406030204" pitchFamily="18" charset="0"/>
                                </a:rPr>
                                <m:t>11</m:t>
                              </m:r>
                              <m:r>
                                <a:rPr lang="ar-AE">
                                  <a:latin typeface="Cambria Math" panose="02040503050406030204" pitchFamily="18" charset="0"/>
                                </a:rPr>
                                <m:t>.</m:t>
                              </m:r>
                              <m:r>
                                <a:rPr lang="ar-AE">
                                  <a:latin typeface="Cambria Math" panose="02040503050406030204" pitchFamily="18" charset="0"/>
                                </a:rPr>
                                <m:t>67</m:t>
                              </m:r>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r>
                                <a:rPr lang="ar-AE">
                                  <a:latin typeface="Cambria Math" panose="02040503050406030204" pitchFamily="18" charset="0"/>
                                </a:rPr>
                                <m:t>+</m:t>
                              </m:r>
                              <m:d>
                                <m:dPr>
                                  <m:endChr m:val=""/>
                                  <m:ctrlPr>
                                    <a:rPr lang="ar-AE" i="1">
                                      <a:latin typeface="Cambria Math" panose="02040503050406030204" pitchFamily="18" charset="0"/>
                                    </a:rPr>
                                  </m:ctrlPr>
                                </m:dPr>
                                <m:e>
                                  <m:r>
                                    <a:rPr lang="ar-AE">
                                      <a:latin typeface="Cambria Math" panose="02040503050406030204" pitchFamily="18" charset="0"/>
                                    </a:rPr>
                                    <m:t>13</m:t>
                                  </m:r>
                                  <m:r>
                                    <a:rPr lang="ar-AE">
                                      <a:latin typeface="Cambria Math" panose="02040503050406030204" pitchFamily="18" charset="0"/>
                                    </a:rPr>
                                    <m:t>−</m:t>
                                  </m:r>
                                  <m:r>
                                    <a:rPr lang="ar-AE">
                                      <a:latin typeface="Cambria Math" panose="02040503050406030204" pitchFamily="18" charset="0"/>
                                    </a:rPr>
                                    <m:t>11</m:t>
                                  </m:r>
                                  <m:r>
                                    <a:rPr lang="ar-AE">
                                      <a:latin typeface="Cambria Math" panose="02040503050406030204" pitchFamily="18" charset="0"/>
                                    </a:rPr>
                                    <m:t>.</m:t>
                                  </m:r>
                                  <m:r>
                                    <a:rPr lang="ar-AE">
                                      <a:latin typeface="Cambria Math" panose="02040503050406030204" pitchFamily="18" charset="0"/>
                                    </a:rPr>
                                    <m:t>67</m:t>
                                  </m:r>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e>
                              </m:d>
                            </m:e>
                          </m:d>
                        </m:e>
                      </m:d>
                    </m:oMath>
                  </m:oMathPara>
                </a14:m>
                <a:endParaRPr lang="ar-AE" dirty="0"/>
              </a:p>
              <a:p>
                <a:pPr marL="0" indent="0">
                  <a:buNone/>
                </a:pPr>
                <a14:m>
                  <m:oMathPara xmlns:m="http://schemas.openxmlformats.org/officeDocument/2006/math">
                    <m:oMathParaPr>
                      <m:jc m:val="centerGroup"/>
                    </m:oMathParaPr>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11</m:t>
                      </m:r>
                      <m:r>
                        <a:rPr lang="ar-AE">
                          <a:latin typeface="Cambria Math" panose="02040503050406030204" pitchFamily="18" charset="0"/>
                        </a:rPr>
                        <m:t>+</m:t>
                      </m:r>
                      <m:r>
                        <a:rPr lang="ar-AE">
                          <a:latin typeface="Cambria Math" panose="02040503050406030204" pitchFamily="18" charset="0"/>
                        </a:rPr>
                        <m:t>2</m:t>
                      </m:r>
                      <m:r>
                        <a:rPr lang="ar-AE">
                          <a:latin typeface="Cambria Math" panose="02040503050406030204" pitchFamily="18" charset="0"/>
                        </a:rPr>
                        <m:t>.</m:t>
                      </m:r>
                      <m:r>
                        <a:rPr lang="ar-AE">
                          <a:latin typeface="Cambria Math" panose="02040503050406030204" pitchFamily="18" charset="0"/>
                        </a:rPr>
                        <m:t>78</m:t>
                      </m:r>
                      <m:r>
                        <a:rPr lang="ar-AE">
                          <a:latin typeface="Cambria Math" panose="02040503050406030204" pitchFamily="18" charset="0"/>
                        </a:rPr>
                        <m:t>+</m:t>
                      </m:r>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77</m:t>
                      </m:r>
                      <m:r>
                        <a:rPr lang="ar-AE">
                          <a:latin typeface="Cambria Math" panose="02040503050406030204" pitchFamily="18" charset="0"/>
                        </a:rPr>
                        <m:t>=</m:t>
                      </m:r>
                      <m:r>
                        <a:rPr lang="ar-AE">
                          <a:latin typeface="Cambria Math" panose="02040503050406030204" pitchFamily="18" charset="0"/>
                        </a:rPr>
                        <m:t>4</m:t>
                      </m:r>
                      <m:r>
                        <a:rPr lang="ar-AE">
                          <a:latin typeface="Cambria Math" panose="02040503050406030204" pitchFamily="18" charset="0"/>
                        </a:rPr>
                        <m:t>.</m:t>
                      </m:r>
                      <m:r>
                        <a:rPr lang="ar-AE">
                          <a:latin typeface="Cambria Math" panose="02040503050406030204" pitchFamily="18" charset="0"/>
                        </a:rPr>
                        <m:t>66</m:t>
                      </m:r>
                    </m:oMath>
                  </m:oMathPara>
                </a14:m>
                <a:endParaRPr lang="ar-AE" dirty="0"/>
              </a:p>
              <a:p>
                <a:pPr marL="0" indent="0">
                  <a:buNone/>
                </a:pPr>
                <a14:m>
                  <m:oMathPara xmlns:m="http://schemas.openxmlformats.org/officeDocument/2006/math">
                    <m:oMathParaPr>
                      <m:jc m:val="centerGroup"/>
                    </m:oMathParaPr>
                    <m:oMath xmlns:m="http://schemas.openxmlformats.org/officeDocument/2006/math">
                      <m:r>
                        <a:rPr lang="ar-AE" i="1">
                          <a:latin typeface="Cambria Math" panose="02040503050406030204" pitchFamily="18" charset="0"/>
                        </a:rPr>
                        <m:t>𝑆𝑆𝑊</m:t>
                      </m:r>
                      <m:r>
                        <a:rPr lang="ar-AE">
                          <a:latin typeface="Cambria Math" panose="02040503050406030204" pitchFamily="18" charset="0"/>
                        </a:rPr>
                        <m:t>=</m:t>
                      </m:r>
                      <m:r>
                        <a:rPr lang="ar-AE">
                          <a:latin typeface="Cambria Math" panose="02040503050406030204" pitchFamily="18" charset="0"/>
                        </a:rPr>
                        <m:t>4</m:t>
                      </m:r>
                      <m:r>
                        <a:rPr lang="ar-AE">
                          <a:latin typeface="Cambria Math" panose="02040503050406030204" pitchFamily="18" charset="0"/>
                        </a:rPr>
                        <m:t>.</m:t>
                      </m:r>
                      <m:r>
                        <a:rPr lang="ar-AE">
                          <a:latin typeface="Cambria Math" panose="02040503050406030204" pitchFamily="18" charset="0"/>
                        </a:rPr>
                        <m:t>66</m:t>
                      </m:r>
                      <m:r>
                        <a:rPr lang="ar-AE">
                          <a:latin typeface="Cambria Math" panose="02040503050406030204" pitchFamily="18" charset="0"/>
                        </a:rPr>
                        <m:t>+</m:t>
                      </m:r>
                      <m:r>
                        <a:rPr lang="ar-AE">
                          <a:latin typeface="Cambria Math" panose="02040503050406030204" pitchFamily="18" charset="0"/>
                        </a:rPr>
                        <m:t>2</m:t>
                      </m:r>
                      <m:r>
                        <a:rPr lang="ar-AE">
                          <a:latin typeface="Cambria Math" panose="02040503050406030204" pitchFamily="18" charset="0"/>
                        </a:rPr>
                        <m:t>+</m:t>
                      </m:r>
                      <m:r>
                        <a:rPr lang="ar-AE">
                          <a:latin typeface="Cambria Math" panose="02040503050406030204" pitchFamily="18" charset="0"/>
                        </a:rPr>
                        <m:t>4</m:t>
                      </m:r>
                      <m:r>
                        <a:rPr lang="ar-AE">
                          <a:latin typeface="Cambria Math" panose="02040503050406030204" pitchFamily="18" charset="0"/>
                        </a:rPr>
                        <m:t>.</m:t>
                      </m:r>
                      <m:r>
                        <a:rPr lang="ar-AE">
                          <a:latin typeface="Cambria Math" panose="02040503050406030204" pitchFamily="18" charset="0"/>
                        </a:rPr>
                        <m:t>66</m:t>
                      </m:r>
                    </m:oMath>
                  </m:oMathPara>
                </a14:m>
                <a:endParaRPr lang="ar-AE" dirty="0"/>
              </a:p>
              <a:p>
                <a:pPr marL="0" indent="0">
                  <a:buNone/>
                </a:pPr>
                <a14:m>
                  <m:oMathPara xmlns:m="http://schemas.openxmlformats.org/officeDocument/2006/math">
                    <m:oMathParaPr>
                      <m:jc m:val="centerGroup"/>
                    </m:oMathParaPr>
                    <m:oMath xmlns:m="http://schemas.openxmlformats.org/officeDocument/2006/math">
                      <m:r>
                        <a:rPr lang="ar-AE" i="1">
                          <a:latin typeface="Cambria Math" panose="02040503050406030204" pitchFamily="18" charset="0"/>
                        </a:rPr>
                        <m:t>𝑆𝑆𝑊</m:t>
                      </m:r>
                      <m:r>
                        <a:rPr lang="ar-AE">
                          <a:latin typeface="Cambria Math" panose="02040503050406030204" pitchFamily="18" charset="0"/>
                        </a:rPr>
                        <m:t>=</m:t>
                      </m:r>
                      <m:r>
                        <a:rPr lang="ar-AE">
                          <a:latin typeface="Cambria Math" panose="02040503050406030204" pitchFamily="18" charset="0"/>
                        </a:rPr>
                        <m:t>11</m:t>
                      </m:r>
                      <m:r>
                        <a:rPr lang="ar-AE">
                          <a:latin typeface="Cambria Math" panose="02040503050406030204" pitchFamily="18" charset="0"/>
                        </a:rPr>
                        <m:t>.</m:t>
                      </m:r>
                      <m:r>
                        <a:rPr lang="ar-AE">
                          <a:latin typeface="Cambria Math" panose="02040503050406030204" pitchFamily="18" charset="0"/>
                        </a:rPr>
                        <m:t>32</m:t>
                      </m:r>
                    </m:oMath>
                  </m:oMathPara>
                </a14:m>
                <a:endParaRPr lang="ar-AE" dirty="0"/>
              </a:p>
              <a:p>
                <a:endParaRPr lang="en-US" dirty="0"/>
              </a:p>
            </p:txBody>
          </p:sp>
        </mc:Choice>
        <mc:Fallback xmlns="">
          <p:sp>
            <p:nvSpPr>
              <p:cNvPr id="3" name="Content Placeholder 2">
                <a:extLst>
                  <a:ext uri="{FF2B5EF4-FFF2-40B4-BE49-F238E27FC236}">
                    <a16:creationId xmlns:a16="http://schemas.microsoft.com/office/drawing/2014/main" id="{9FF82A4D-9316-9A1D-6A37-B53FA304083E}"/>
                  </a:ext>
                </a:extLst>
              </p:cNvPr>
              <p:cNvSpPr>
                <a:spLocks noGrp="1" noRot="1" noChangeAspect="1" noMove="1" noResize="1" noEditPoints="1" noAdjustHandles="1" noChangeArrowheads="1" noChangeShapeType="1" noTextEdit="1"/>
              </p:cNvSpPr>
              <p:nvPr>
                <p:ph idx="1"/>
              </p:nvPr>
            </p:nvSpPr>
            <p:spPr>
              <a:xfrm>
                <a:off x="838200" y="0"/>
                <a:ext cx="10515600" cy="6176963"/>
              </a:xfrm>
              <a:blipFill>
                <a:blip r:embed="rId2"/>
                <a:stretch>
                  <a:fillRect l="-1043" t="-2468"/>
                </a:stretch>
              </a:blipFill>
            </p:spPr>
            <p:txBody>
              <a:bodyPr/>
              <a:lstStyle/>
              <a:p>
                <a:r>
                  <a:rPr lang="en-US">
                    <a:noFill/>
                  </a:rPr>
                  <a:t> </a:t>
                </a:r>
              </a:p>
            </p:txBody>
          </p:sp>
        </mc:Fallback>
      </mc:AlternateContent>
    </p:spTree>
    <p:extLst>
      <p:ext uri="{BB962C8B-B14F-4D97-AF65-F5344CB8AC3E}">
        <p14:creationId xmlns:p14="http://schemas.microsoft.com/office/powerpoint/2010/main" val="42235854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AC667CB-D943-0E05-2E5A-2883C1C10529}"/>
                  </a:ext>
                </a:extLst>
              </p:cNvPr>
              <p:cNvSpPr>
                <a:spLocks noGrp="1"/>
              </p:cNvSpPr>
              <p:nvPr>
                <p:ph idx="1"/>
              </p:nvPr>
            </p:nvSpPr>
            <p:spPr>
              <a:xfrm>
                <a:off x="838200" y="210313"/>
                <a:ext cx="10515600" cy="2642616"/>
              </a:xfrm>
            </p:spPr>
            <p:txBody>
              <a:bodyPr/>
              <a:lstStyle/>
              <a:p>
                <a:pPr marL="0" indent="0">
                  <a:buNone/>
                </a:pPr>
                <a:r>
                  <a:rPr lang="en-US" b="1" dirty="0"/>
                  <a:t>Step 6: Degrees of Freedom</a:t>
                </a:r>
              </a:p>
              <a:p>
                <a:r>
                  <a:rPr lang="en-US" dirty="0"/>
                  <a:t>Between groups</a:t>
                </a:r>
              </a:p>
              <a:p>
                <a14:m>
                  <m:oMath xmlns:m="http://schemas.openxmlformats.org/officeDocument/2006/math">
                    <m:r>
                      <a:rPr lang="en-US" i="1"/>
                      <m:t>𝑑</m:t>
                    </m:r>
                    <m:sSub>
                      <m:sSubPr>
                        <m:ctrlPr>
                          <a:rPr lang="ar-AE" i="1"/>
                        </m:ctrlPr>
                      </m:sSubPr>
                      <m:e>
                        <m:r>
                          <a:rPr lang="ar-AE" i="1"/>
                          <m:t>𝑓</m:t>
                        </m:r>
                      </m:e>
                      <m:sub>
                        <m:r>
                          <a:rPr lang="ar-AE" i="1"/>
                          <m:t>𝐵</m:t>
                        </m:r>
                      </m:sub>
                    </m:sSub>
                    <m:r>
                      <a:rPr lang="ar-AE"/>
                      <m:t>=</m:t>
                    </m:r>
                    <m:r>
                      <a:rPr lang="ar-AE" i="1"/>
                      <m:t>𝑘</m:t>
                    </m:r>
                    <m:r>
                      <a:rPr lang="ar-AE"/>
                      <m:t>−</m:t>
                    </m:r>
                    <m:r>
                      <a:rPr lang="ar-AE"/>
                      <m:t>1</m:t>
                    </m:r>
                    <m:r>
                      <a:rPr lang="ar-AE"/>
                      <m:t>=</m:t>
                    </m:r>
                    <m:r>
                      <a:rPr lang="ar-AE"/>
                      <m:t>3</m:t>
                    </m:r>
                    <m:r>
                      <a:rPr lang="ar-AE"/>
                      <m:t>−</m:t>
                    </m:r>
                    <m:r>
                      <a:rPr lang="ar-AE"/>
                      <m:t>1</m:t>
                    </m:r>
                    <m:r>
                      <a:rPr lang="ar-AE"/>
                      <m:t>=</m:t>
                    </m:r>
                    <m:r>
                      <a:rPr lang="ar-AE"/>
                      <m:t>2</m:t>
                    </m:r>
                  </m:oMath>
                </a14:m>
                <a:r>
                  <a:rPr lang="en-US" dirty="0"/>
                  <a:t> </a:t>
                </a:r>
                <a:endParaRPr lang="ar-AE" dirty="0"/>
              </a:p>
              <a:p>
                <a:r>
                  <a:rPr lang="en-US" dirty="0"/>
                  <a:t>Within groups</a:t>
                </a:r>
              </a:p>
              <a:p>
                <a14:m>
                  <m:oMath xmlns:m="http://schemas.openxmlformats.org/officeDocument/2006/math">
                    <m:r>
                      <a:rPr lang="en-US" i="1"/>
                      <m:t>𝑑</m:t>
                    </m:r>
                    <m:sSub>
                      <m:sSubPr>
                        <m:ctrlPr>
                          <a:rPr lang="ar-AE" i="1"/>
                        </m:ctrlPr>
                      </m:sSubPr>
                      <m:e>
                        <m:r>
                          <a:rPr lang="ar-AE" i="1"/>
                          <m:t>𝑓</m:t>
                        </m:r>
                      </m:e>
                      <m:sub>
                        <m:r>
                          <a:rPr lang="ar-AE" i="1"/>
                          <m:t>𝑊</m:t>
                        </m:r>
                      </m:sub>
                    </m:sSub>
                    <m:r>
                      <a:rPr lang="ar-AE"/>
                      <m:t>=</m:t>
                    </m:r>
                    <m:r>
                      <a:rPr lang="ar-AE" i="1"/>
                      <m:t>𝑁</m:t>
                    </m:r>
                    <m:r>
                      <a:rPr lang="ar-AE"/>
                      <m:t>−</m:t>
                    </m:r>
                    <m:r>
                      <a:rPr lang="ar-AE" i="1"/>
                      <m:t>𝑘</m:t>
                    </m:r>
                    <m:r>
                      <a:rPr lang="ar-AE"/>
                      <m:t>=</m:t>
                    </m:r>
                    <m:r>
                      <a:rPr lang="ar-AE"/>
                      <m:t>9</m:t>
                    </m:r>
                    <m:r>
                      <a:rPr lang="ar-AE"/>
                      <m:t>−</m:t>
                    </m:r>
                    <m:r>
                      <a:rPr lang="ar-AE"/>
                      <m:t>3</m:t>
                    </m:r>
                    <m:r>
                      <a:rPr lang="ar-AE"/>
                      <m:t>=</m:t>
                    </m:r>
                    <m:r>
                      <a:rPr lang="ar-AE"/>
                      <m:t>6</m:t>
                    </m:r>
                  </m:oMath>
                </a14:m>
                <a:endParaRPr lang="ar-AE" dirty="0"/>
              </a:p>
              <a:p>
                <a:pPr marL="0" indent="0">
                  <a:buNone/>
                </a:pPr>
                <a:endParaRPr lang="en-US" dirty="0"/>
              </a:p>
            </p:txBody>
          </p:sp>
        </mc:Choice>
        <mc:Fallback>
          <p:sp>
            <p:nvSpPr>
              <p:cNvPr id="3" name="Content Placeholder 2">
                <a:extLst>
                  <a:ext uri="{FF2B5EF4-FFF2-40B4-BE49-F238E27FC236}">
                    <a16:creationId xmlns:a16="http://schemas.microsoft.com/office/drawing/2014/main" id="{5AC667CB-D943-0E05-2E5A-2883C1C10529}"/>
                  </a:ext>
                </a:extLst>
              </p:cNvPr>
              <p:cNvSpPr>
                <a:spLocks noGrp="1" noRot="1" noChangeAspect="1" noMove="1" noResize="1" noEditPoints="1" noAdjustHandles="1" noChangeArrowheads="1" noChangeShapeType="1" noTextEdit="1"/>
              </p:cNvSpPr>
              <p:nvPr>
                <p:ph idx="1"/>
              </p:nvPr>
            </p:nvSpPr>
            <p:spPr>
              <a:xfrm>
                <a:off x="838200" y="210313"/>
                <a:ext cx="10515600" cy="2642616"/>
              </a:xfrm>
              <a:blipFill>
                <a:blip r:embed="rId2"/>
                <a:stretch>
                  <a:fillRect l="-1217" t="-415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E627B0E1-B25E-AB0A-4125-0C9AE22EADD7}"/>
                  </a:ext>
                </a:extLst>
              </p:cNvPr>
              <p:cNvSpPr txBox="1"/>
              <p:nvPr/>
            </p:nvSpPr>
            <p:spPr>
              <a:xfrm>
                <a:off x="1191006" y="2976112"/>
                <a:ext cx="6094476" cy="3100336"/>
              </a:xfrm>
              <a:prstGeom prst="rect">
                <a:avLst/>
              </a:prstGeom>
              <a:noFill/>
            </p:spPr>
            <p:txBody>
              <a:bodyPr wrap="square">
                <a:spAutoFit/>
              </a:bodyPr>
              <a:lstStyle/>
              <a:p>
                <a:pPr>
                  <a:buNone/>
                </a:pPr>
                <a:r>
                  <a:rPr lang="en-US" b="1" dirty="0"/>
                  <a:t>Step 7: Mean Squares</a:t>
                </a:r>
              </a:p>
              <a:p>
                <a:pP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𝑀</m:t>
                      </m:r>
                      <m:sSub>
                        <m:sSubPr>
                          <m:ctrlPr>
                            <a:rPr lang="ar-AE" i="1">
                              <a:latin typeface="Cambria Math" panose="02040503050406030204" pitchFamily="18" charset="0"/>
                            </a:rPr>
                          </m:ctrlPr>
                        </m:sSubPr>
                        <m:e>
                          <m:r>
                            <a:rPr lang="ar-AE" i="1">
                              <a:latin typeface="Cambria Math" panose="02040503050406030204" pitchFamily="18" charset="0"/>
                            </a:rPr>
                            <m:t>𝑆</m:t>
                          </m:r>
                        </m:e>
                        <m:sub>
                          <m:r>
                            <a:rPr lang="ar-AE" i="1">
                              <a:latin typeface="Cambria Math" panose="02040503050406030204" pitchFamily="18" charset="0"/>
                            </a:rPr>
                            <m:t>𝐵</m:t>
                          </m:r>
                        </m:sub>
                      </m:sSub>
                      <m:r>
                        <a:rPr lang="ar-AE" i="0">
                          <a:latin typeface="Cambria Math" panose="02040503050406030204" pitchFamily="18" charset="0"/>
                        </a:rPr>
                        <m:t>=</m:t>
                      </m:r>
                      <m:f>
                        <m:fPr>
                          <m:ctrlPr>
                            <a:rPr lang="ar-AE" i="1">
                              <a:latin typeface="Cambria Math" panose="02040503050406030204" pitchFamily="18" charset="0"/>
                            </a:rPr>
                          </m:ctrlPr>
                        </m:fPr>
                        <m:num>
                          <m:r>
                            <a:rPr lang="ar-AE" i="1">
                              <a:latin typeface="Cambria Math" panose="02040503050406030204" pitchFamily="18" charset="0"/>
                            </a:rPr>
                            <m:t>𝑆𝑆𝐵</m:t>
                          </m:r>
                        </m:num>
                        <m:den>
                          <m:r>
                            <a:rPr lang="ar-AE" i="1">
                              <a:latin typeface="Cambria Math" panose="02040503050406030204" pitchFamily="18" charset="0"/>
                            </a:rPr>
                            <m:t>𝑑</m:t>
                          </m:r>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𝐵</m:t>
                              </m:r>
                            </m:sub>
                          </m:sSub>
                        </m:den>
                      </m:f>
                    </m:oMath>
                  </m:oMathPara>
                </a14:m>
                <a:endParaRPr lang="ar-AE" dirty="0"/>
              </a:p>
              <a:p>
                <a:pPr>
                  <a:buNone/>
                </a:pPr>
                <a14:m>
                  <m:oMathPara xmlns:m="http://schemas.openxmlformats.org/officeDocument/2006/math">
                    <m:oMathParaPr>
                      <m:jc m:val="centerGroup"/>
                    </m:oMathParaPr>
                    <m:oMath xmlns:m="http://schemas.openxmlformats.org/officeDocument/2006/math">
                      <m:r>
                        <a:rPr lang="ar-AE" i="1" smtClean="0">
                          <a:solidFill>
                            <a:srgbClr val="FF0000"/>
                          </a:solidFill>
                          <a:latin typeface="Cambria Math" panose="02040503050406030204" pitchFamily="18" charset="0"/>
                        </a:rPr>
                        <m:t>𝑀</m:t>
                      </m:r>
                      <m:sSub>
                        <m:sSubPr>
                          <m:ctrlPr>
                            <a:rPr lang="ar-AE" i="1">
                              <a:solidFill>
                                <a:srgbClr val="FF0000"/>
                              </a:solidFill>
                              <a:latin typeface="Cambria Math" panose="02040503050406030204" pitchFamily="18" charset="0"/>
                            </a:rPr>
                          </m:ctrlPr>
                        </m:sSubPr>
                        <m:e>
                          <m:r>
                            <a:rPr lang="ar-AE" i="1">
                              <a:solidFill>
                                <a:srgbClr val="FF0000"/>
                              </a:solidFill>
                              <a:latin typeface="Cambria Math" panose="02040503050406030204" pitchFamily="18" charset="0"/>
                            </a:rPr>
                            <m:t>𝑆</m:t>
                          </m:r>
                        </m:e>
                        <m:sub>
                          <m:r>
                            <a:rPr lang="ar-AE" i="1">
                              <a:solidFill>
                                <a:srgbClr val="FF0000"/>
                              </a:solidFill>
                              <a:latin typeface="Cambria Math" panose="02040503050406030204" pitchFamily="18" charset="0"/>
                            </a:rPr>
                            <m:t>𝐵</m:t>
                          </m:r>
                        </m:sub>
                      </m:sSub>
                      <m:r>
                        <a:rPr lang="ar-AE" i="0">
                          <a:solidFill>
                            <a:srgbClr val="FF0000"/>
                          </a:solidFill>
                          <a:latin typeface="Cambria Math" panose="02040503050406030204" pitchFamily="18" charset="0"/>
                        </a:rPr>
                        <m:t>=</m:t>
                      </m:r>
                      <m:f>
                        <m:fPr>
                          <m:ctrlPr>
                            <a:rPr lang="ar-AE" i="1">
                              <a:solidFill>
                                <a:srgbClr val="FF0000"/>
                              </a:solidFill>
                              <a:latin typeface="Cambria Math" panose="02040503050406030204" pitchFamily="18" charset="0"/>
                            </a:rPr>
                          </m:ctrlPr>
                        </m:fPr>
                        <m:num>
                          <m:r>
                            <a:rPr lang="ar-AE" i="0">
                              <a:solidFill>
                                <a:srgbClr val="FF0000"/>
                              </a:solidFill>
                              <a:latin typeface="Cambria Math" panose="02040503050406030204" pitchFamily="18" charset="0"/>
                            </a:rPr>
                            <m:t>38</m:t>
                          </m:r>
                          <m:r>
                            <a:rPr lang="ar-AE" i="0">
                              <a:solidFill>
                                <a:srgbClr val="FF0000"/>
                              </a:solidFill>
                              <a:latin typeface="Cambria Math" panose="02040503050406030204" pitchFamily="18" charset="0"/>
                            </a:rPr>
                            <m:t>.</m:t>
                          </m:r>
                          <m:r>
                            <a:rPr lang="ar-AE" i="0">
                              <a:solidFill>
                                <a:srgbClr val="FF0000"/>
                              </a:solidFill>
                              <a:latin typeface="Cambria Math" panose="02040503050406030204" pitchFamily="18" charset="0"/>
                            </a:rPr>
                            <m:t>28</m:t>
                          </m:r>
                        </m:num>
                        <m:den>
                          <m:r>
                            <a:rPr lang="ar-AE" i="0">
                              <a:solidFill>
                                <a:srgbClr val="FF0000"/>
                              </a:solidFill>
                              <a:latin typeface="Cambria Math" panose="02040503050406030204" pitchFamily="18" charset="0"/>
                            </a:rPr>
                            <m:t>2</m:t>
                          </m:r>
                        </m:den>
                      </m:f>
                      <m:r>
                        <a:rPr lang="ar-AE" i="0">
                          <a:solidFill>
                            <a:srgbClr val="FF0000"/>
                          </a:solidFill>
                          <a:latin typeface="Cambria Math" panose="02040503050406030204" pitchFamily="18" charset="0"/>
                        </a:rPr>
                        <m:t>=</m:t>
                      </m:r>
                      <m:r>
                        <a:rPr lang="ar-AE" i="0">
                          <a:solidFill>
                            <a:srgbClr val="FF0000"/>
                          </a:solidFill>
                          <a:latin typeface="Cambria Math" panose="02040503050406030204" pitchFamily="18" charset="0"/>
                        </a:rPr>
                        <m:t>19</m:t>
                      </m:r>
                      <m:r>
                        <a:rPr lang="ar-AE" i="0">
                          <a:solidFill>
                            <a:srgbClr val="FF0000"/>
                          </a:solidFill>
                          <a:latin typeface="Cambria Math" panose="02040503050406030204" pitchFamily="18" charset="0"/>
                        </a:rPr>
                        <m:t>.</m:t>
                      </m:r>
                      <m:r>
                        <a:rPr lang="ar-AE" i="0">
                          <a:solidFill>
                            <a:srgbClr val="FF0000"/>
                          </a:solidFill>
                          <a:latin typeface="Cambria Math" panose="02040503050406030204" pitchFamily="18" charset="0"/>
                        </a:rPr>
                        <m:t>14</m:t>
                      </m:r>
                    </m:oMath>
                  </m:oMathPara>
                </a14:m>
                <a:endParaRPr lang="ar-AE" dirty="0">
                  <a:solidFill>
                    <a:srgbClr val="FF0000"/>
                  </a:solidFill>
                </a:endParaRPr>
              </a:p>
              <a:p>
                <a:pPr>
                  <a:buNone/>
                </a:pPr>
                <a:br>
                  <a:rPr lang="ar-AE" dirty="0"/>
                </a:br>
                <a:endParaRPr lang="ar-AE" dirty="0"/>
              </a:p>
              <a:p>
                <a:pPr>
                  <a:buNone/>
                </a:pPr>
                <a14:m>
                  <m:oMathPara xmlns:m="http://schemas.openxmlformats.org/officeDocument/2006/math">
                    <m:oMathParaPr>
                      <m:jc m:val="centerGroup"/>
                    </m:oMathParaPr>
                    <m:oMath xmlns:m="http://schemas.openxmlformats.org/officeDocument/2006/math">
                      <m:r>
                        <a:rPr lang="ar-AE" i="1">
                          <a:latin typeface="Cambria Math" panose="02040503050406030204" pitchFamily="18" charset="0"/>
                        </a:rPr>
                        <m:t>𝑀</m:t>
                      </m:r>
                      <m:sSub>
                        <m:sSubPr>
                          <m:ctrlPr>
                            <a:rPr lang="ar-AE" i="1">
                              <a:latin typeface="Cambria Math" panose="02040503050406030204" pitchFamily="18" charset="0"/>
                            </a:rPr>
                          </m:ctrlPr>
                        </m:sSubPr>
                        <m:e>
                          <m:r>
                            <a:rPr lang="ar-AE" i="1">
                              <a:latin typeface="Cambria Math" panose="02040503050406030204" pitchFamily="18" charset="0"/>
                            </a:rPr>
                            <m:t>𝑆</m:t>
                          </m:r>
                        </m:e>
                        <m:sub>
                          <m:r>
                            <a:rPr lang="ar-AE" i="1">
                              <a:latin typeface="Cambria Math" panose="02040503050406030204" pitchFamily="18" charset="0"/>
                            </a:rPr>
                            <m:t>𝑊</m:t>
                          </m:r>
                        </m:sub>
                      </m:sSub>
                      <m:r>
                        <a:rPr lang="ar-AE" i="0">
                          <a:latin typeface="Cambria Math" panose="02040503050406030204" pitchFamily="18" charset="0"/>
                        </a:rPr>
                        <m:t>=</m:t>
                      </m:r>
                      <m:f>
                        <m:fPr>
                          <m:ctrlPr>
                            <a:rPr lang="ar-AE" i="1">
                              <a:latin typeface="Cambria Math" panose="02040503050406030204" pitchFamily="18" charset="0"/>
                            </a:rPr>
                          </m:ctrlPr>
                        </m:fPr>
                        <m:num>
                          <m:r>
                            <a:rPr lang="ar-AE" i="1">
                              <a:latin typeface="Cambria Math" panose="02040503050406030204" pitchFamily="18" charset="0"/>
                            </a:rPr>
                            <m:t>𝑆𝑆𝑊</m:t>
                          </m:r>
                        </m:num>
                        <m:den>
                          <m:r>
                            <a:rPr lang="ar-AE" i="1">
                              <a:latin typeface="Cambria Math" panose="02040503050406030204" pitchFamily="18" charset="0"/>
                            </a:rPr>
                            <m:t>𝑑</m:t>
                          </m:r>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𝑊</m:t>
                              </m:r>
                            </m:sub>
                          </m:sSub>
                        </m:den>
                      </m:f>
                    </m:oMath>
                  </m:oMathPara>
                </a14:m>
                <a:endParaRPr lang="ar-AE" dirty="0"/>
              </a:p>
              <a:p>
                <a:pPr>
                  <a:buNone/>
                </a:pPr>
                <a14:m>
                  <m:oMathPara xmlns:m="http://schemas.openxmlformats.org/officeDocument/2006/math">
                    <m:oMathParaPr>
                      <m:jc m:val="centerGroup"/>
                    </m:oMathParaPr>
                    <m:oMath xmlns:m="http://schemas.openxmlformats.org/officeDocument/2006/math">
                      <m:r>
                        <a:rPr lang="ar-AE" i="1" smtClean="0">
                          <a:solidFill>
                            <a:srgbClr val="FF0000"/>
                          </a:solidFill>
                          <a:latin typeface="Cambria Math" panose="02040503050406030204" pitchFamily="18" charset="0"/>
                        </a:rPr>
                        <m:t>𝑀</m:t>
                      </m:r>
                      <m:sSub>
                        <m:sSubPr>
                          <m:ctrlPr>
                            <a:rPr lang="ar-AE" i="1">
                              <a:solidFill>
                                <a:srgbClr val="FF0000"/>
                              </a:solidFill>
                              <a:latin typeface="Cambria Math" panose="02040503050406030204" pitchFamily="18" charset="0"/>
                            </a:rPr>
                          </m:ctrlPr>
                        </m:sSubPr>
                        <m:e>
                          <m:r>
                            <a:rPr lang="ar-AE" i="1">
                              <a:solidFill>
                                <a:srgbClr val="FF0000"/>
                              </a:solidFill>
                              <a:latin typeface="Cambria Math" panose="02040503050406030204" pitchFamily="18" charset="0"/>
                            </a:rPr>
                            <m:t>𝑆</m:t>
                          </m:r>
                        </m:e>
                        <m:sub>
                          <m:r>
                            <a:rPr lang="ar-AE" i="1">
                              <a:solidFill>
                                <a:srgbClr val="FF0000"/>
                              </a:solidFill>
                              <a:latin typeface="Cambria Math" panose="02040503050406030204" pitchFamily="18" charset="0"/>
                            </a:rPr>
                            <m:t>𝑊</m:t>
                          </m:r>
                        </m:sub>
                      </m:sSub>
                      <m:r>
                        <a:rPr lang="ar-AE" i="0">
                          <a:solidFill>
                            <a:srgbClr val="FF0000"/>
                          </a:solidFill>
                          <a:latin typeface="Cambria Math" panose="02040503050406030204" pitchFamily="18" charset="0"/>
                        </a:rPr>
                        <m:t>=</m:t>
                      </m:r>
                      <m:f>
                        <m:fPr>
                          <m:ctrlPr>
                            <a:rPr lang="ar-AE" i="1">
                              <a:solidFill>
                                <a:srgbClr val="FF0000"/>
                              </a:solidFill>
                              <a:latin typeface="Cambria Math" panose="02040503050406030204" pitchFamily="18" charset="0"/>
                            </a:rPr>
                          </m:ctrlPr>
                        </m:fPr>
                        <m:num>
                          <m:r>
                            <a:rPr lang="ar-AE" i="0">
                              <a:solidFill>
                                <a:srgbClr val="FF0000"/>
                              </a:solidFill>
                              <a:latin typeface="Cambria Math" panose="02040503050406030204" pitchFamily="18" charset="0"/>
                            </a:rPr>
                            <m:t>11</m:t>
                          </m:r>
                          <m:r>
                            <a:rPr lang="ar-AE" i="0">
                              <a:solidFill>
                                <a:srgbClr val="FF0000"/>
                              </a:solidFill>
                              <a:latin typeface="Cambria Math" panose="02040503050406030204" pitchFamily="18" charset="0"/>
                            </a:rPr>
                            <m:t>.</m:t>
                          </m:r>
                          <m:r>
                            <a:rPr lang="ar-AE" i="0">
                              <a:solidFill>
                                <a:srgbClr val="FF0000"/>
                              </a:solidFill>
                              <a:latin typeface="Cambria Math" panose="02040503050406030204" pitchFamily="18" charset="0"/>
                            </a:rPr>
                            <m:t>32</m:t>
                          </m:r>
                        </m:num>
                        <m:den>
                          <m:r>
                            <a:rPr lang="ar-AE" i="0">
                              <a:solidFill>
                                <a:srgbClr val="FF0000"/>
                              </a:solidFill>
                              <a:latin typeface="Cambria Math" panose="02040503050406030204" pitchFamily="18" charset="0"/>
                            </a:rPr>
                            <m:t>6</m:t>
                          </m:r>
                        </m:den>
                      </m:f>
                      <m:r>
                        <a:rPr lang="ar-AE" i="0">
                          <a:solidFill>
                            <a:srgbClr val="FF0000"/>
                          </a:solidFill>
                          <a:latin typeface="Cambria Math" panose="02040503050406030204" pitchFamily="18" charset="0"/>
                        </a:rPr>
                        <m:t>=</m:t>
                      </m:r>
                      <m:r>
                        <a:rPr lang="ar-AE" i="0">
                          <a:solidFill>
                            <a:srgbClr val="FF0000"/>
                          </a:solidFill>
                          <a:latin typeface="Cambria Math" panose="02040503050406030204" pitchFamily="18" charset="0"/>
                        </a:rPr>
                        <m:t>1</m:t>
                      </m:r>
                      <m:r>
                        <a:rPr lang="ar-AE" i="0">
                          <a:solidFill>
                            <a:srgbClr val="FF0000"/>
                          </a:solidFill>
                          <a:latin typeface="Cambria Math" panose="02040503050406030204" pitchFamily="18" charset="0"/>
                        </a:rPr>
                        <m:t>.</m:t>
                      </m:r>
                      <m:r>
                        <a:rPr lang="ar-AE" i="0">
                          <a:solidFill>
                            <a:srgbClr val="FF0000"/>
                          </a:solidFill>
                          <a:latin typeface="Cambria Math" panose="02040503050406030204" pitchFamily="18" charset="0"/>
                        </a:rPr>
                        <m:t>89</m:t>
                      </m:r>
                    </m:oMath>
                  </m:oMathPara>
                </a14:m>
                <a:endParaRPr lang="ar-AE" dirty="0">
                  <a:solidFill>
                    <a:srgbClr val="FF0000"/>
                  </a:solidFill>
                </a:endParaRPr>
              </a:p>
            </p:txBody>
          </p:sp>
        </mc:Choice>
        <mc:Fallback>
          <p:sp>
            <p:nvSpPr>
              <p:cNvPr id="5" name="TextBox 4">
                <a:extLst>
                  <a:ext uri="{FF2B5EF4-FFF2-40B4-BE49-F238E27FC236}">
                    <a16:creationId xmlns:a16="http://schemas.microsoft.com/office/drawing/2014/main" id="{E627B0E1-B25E-AB0A-4125-0C9AE22EADD7}"/>
                  </a:ext>
                </a:extLst>
              </p:cNvPr>
              <p:cNvSpPr txBox="1">
                <a:spLocks noRot="1" noChangeAspect="1" noMove="1" noResize="1" noEditPoints="1" noAdjustHandles="1" noChangeArrowheads="1" noChangeShapeType="1" noTextEdit="1"/>
              </p:cNvSpPr>
              <p:nvPr/>
            </p:nvSpPr>
            <p:spPr>
              <a:xfrm>
                <a:off x="1191006" y="2976112"/>
                <a:ext cx="6094476" cy="3100336"/>
              </a:xfrm>
              <a:prstGeom prst="rect">
                <a:avLst/>
              </a:prstGeom>
              <a:blipFill>
                <a:blip r:embed="rId3"/>
                <a:stretch>
                  <a:fillRect l="-800" t="-786"/>
                </a:stretch>
              </a:blipFill>
            </p:spPr>
            <p:txBody>
              <a:bodyPr/>
              <a:lstStyle/>
              <a:p>
                <a:r>
                  <a:rPr lang="en-US">
                    <a:noFill/>
                  </a:rPr>
                  <a:t> </a:t>
                </a:r>
              </a:p>
            </p:txBody>
          </p:sp>
        </mc:Fallback>
      </mc:AlternateContent>
    </p:spTree>
    <p:extLst>
      <p:ext uri="{BB962C8B-B14F-4D97-AF65-F5344CB8AC3E}">
        <p14:creationId xmlns:p14="http://schemas.microsoft.com/office/powerpoint/2010/main" val="14287228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5E3BA97-29E5-0122-5B1B-25231D2D1655}"/>
                  </a:ext>
                </a:extLst>
              </p:cNvPr>
              <p:cNvSpPr>
                <a:spLocks noGrp="1"/>
              </p:cNvSpPr>
              <p:nvPr>
                <p:ph idx="1"/>
              </p:nvPr>
            </p:nvSpPr>
            <p:spPr>
              <a:xfrm>
                <a:off x="838200" y="374904"/>
                <a:ext cx="10515600" cy="5802059"/>
              </a:xfrm>
            </p:spPr>
            <p:txBody>
              <a:bodyPr/>
              <a:lstStyle/>
              <a:p>
                <a:pPr marL="0" indent="0">
                  <a:buNone/>
                </a:pPr>
                <a:r>
                  <a:rPr lang="en-US" b="1" dirty="0"/>
                  <a:t>Step 8: F Statistic</a:t>
                </a:r>
              </a:p>
              <a:p>
                <a:pPr marL="0" indent="0">
                  <a:buNone/>
                </a:pPr>
                <a14:m>
                  <m:oMathPara xmlns:m="http://schemas.openxmlformats.org/officeDocument/2006/math">
                    <m:oMathParaPr>
                      <m:jc m:val="centerGroup"/>
                    </m:oMathParaPr>
                    <m:oMath xmlns:m="http://schemas.openxmlformats.org/officeDocument/2006/math">
                      <m:r>
                        <a:rPr lang="en-US" i="1"/>
                        <m:t>𝐹</m:t>
                      </m:r>
                      <m:r>
                        <a:rPr lang="en-US"/>
                        <m:t>=</m:t>
                      </m:r>
                      <m:f>
                        <m:fPr>
                          <m:ctrlPr>
                            <a:rPr lang="ar-AE" i="1"/>
                          </m:ctrlPr>
                        </m:fPr>
                        <m:num>
                          <m:r>
                            <a:rPr lang="ar-AE" i="1"/>
                            <m:t>𝑀</m:t>
                          </m:r>
                          <m:sSub>
                            <m:sSubPr>
                              <m:ctrlPr>
                                <a:rPr lang="ar-AE" i="1"/>
                              </m:ctrlPr>
                            </m:sSubPr>
                            <m:e>
                              <m:r>
                                <a:rPr lang="ar-AE" i="1"/>
                                <m:t>𝑆</m:t>
                              </m:r>
                            </m:e>
                            <m:sub>
                              <m:r>
                                <a:rPr lang="ar-AE" i="1"/>
                                <m:t>𝐵</m:t>
                              </m:r>
                            </m:sub>
                          </m:sSub>
                        </m:num>
                        <m:den>
                          <m:r>
                            <a:rPr lang="ar-AE" i="1"/>
                            <m:t>𝑀</m:t>
                          </m:r>
                          <m:sSub>
                            <m:sSubPr>
                              <m:ctrlPr>
                                <a:rPr lang="ar-AE" i="1"/>
                              </m:ctrlPr>
                            </m:sSubPr>
                            <m:e>
                              <m:r>
                                <a:rPr lang="ar-AE" i="1"/>
                                <m:t>𝑆</m:t>
                              </m:r>
                            </m:e>
                            <m:sub>
                              <m:r>
                                <a:rPr lang="ar-AE" i="1"/>
                                <m:t>𝑊</m:t>
                              </m:r>
                            </m:sub>
                          </m:sSub>
                        </m:den>
                      </m:f>
                    </m:oMath>
                  </m:oMathPara>
                </a14:m>
                <a:endParaRPr lang="ar-AE" dirty="0"/>
              </a:p>
              <a:p>
                <a14:m>
                  <m:oMath xmlns:m="http://schemas.openxmlformats.org/officeDocument/2006/math">
                    <m:r>
                      <a:rPr lang="ar-AE" i="1"/>
                      <m:t>𝐹</m:t>
                    </m:r>
                    <m:r>
                      <a:rPr lang="ar-AE"/>
                      <m:t>=</m:t>
                    </m:r>
                    <m:f>
                      <m:fPr>
                        <m:ctrlPr>
                          <a:rPr lang="ar-AE" i="1"/>
                        </m:ctrlPr>
                      </m:fPr>
                      <m:num>
                        <m:r>
                          <a:rPr lang="ar-AE"/>
                          <m:t>19</m:t>
                        </m:r>
                        <m:r>
                          <a:rPr lang="ar-AE"/>
                          <m:t>.</m:t>
                        </m:r>
                        <m:r>
                          <a:rPr lang="ar-AE"/>
                          <m:t>14</m:t>
                        </m:r>
                      </m:num>
                      <m:den>
                        <m:r>
                          <a:rPr lang="ar-AE"/>
                          <m:t>1</m:t>
                        </m:r>
                        <m:r>
                          <a:rPr lang="ar-AE"/>
                          <m:t>.</m:t>
                        </m:r>
                        <m:r>
                          <a:rPr lang="ar-AE"/>
                          <m:t>89</m:t>
                        </m:r>
                      </m:den>
                    </m:f>
                  </m:oMath>
                </a14:m>
                <a:endParaRPr lang="ar-AE" dirty="0"/>
              </a:p>
              <a:p>
                <a14:m>
                  <m:oMath xmlns:m="http://schemas.openxmlformats.org/officeDocument/2006/math">
                    <m:r>
                      <a:rPr lang="ar-AE" i="1" smtClean="0">
                        <a:solidFill>
                          <a:srgbClr val="FF0000"/>
                        </a:solidFill>
                      </a:rPr>
                      <m:t>𝐹</m:t>
                    </m:r>
                    <m:r>
                      <a:rPr lang="ar-AE">
                        <a:solidFill>
                          <a:srgbClr val="FF0000"/>
                        </a:solidFill>
                      </a:rPr>
                      <m:t>=</m:t>
                    </m:r>
                    <m:r>
                      <a:rPr lang="ar-AE">
                        <a:solidFill>
                          <a:srgbClr val="FF0000"/>
                        </a:solidFill>
                      </a:rPr>
                      <m:t>10</m:t>
                    </m:r>
                    <m:r>
                      <a:rPr lang="ar-AE">
                        <a:solidFill>
                          <a:srgbClr val="FF0000"/>
                        </a:solidFill>
                      </a:rPr>
                      <m:t>.</m:t>
                    </m:r>
                    <m:r>
                      <a:rPr lang="ar-AE">
                        <a:solidFill>
                          <a:srgbClr val="FF0000"/>
                        </a:solidFill>
                      </a:rPr>
                      <m:t>13</m:t>
                    </m:r>
                  </m:oMath>
                </a14:m>
                <a:endParaRPr lang="ar-AE" dirty="0">
                  <a:solidFill>
                    <a:srgbClr val="FF0000"/>
                  </a:solidFill>
                </a:endParaRPr>
              </a:p>
              <a:p>
                <a:pPr marL="0" indent="0">
                  <a:buNone/>
                </a:pPr>
                <a:r>
                  <a:rPr lang="en-US" b="1" dirty="0"/>
                  <a:t>Step 9: Decision</a:t>
                </a:r>
              </a:p>
              <a:p>
                <a:r>
                  <a:rPr lang="en-US" dirty="0"/>
                  <a:t>From F table</a:t>
                </a:r>
              </a:p>
              <a:p>
                <a:pPr marL="0" indent="0">
                  <a:buNone/>
                </a:pPr>
                <a14:m>
                  <m:oMathPara xmlns:m="http://schemas.openxmlformats.org/officeDocument/2006/math">
                    <m:oMathParaPr>
                      <m:jc m:val="centerGroup"/>
                    </m:oMathParaPr>
                    <m:oMath xmlns:m="http://schemas.openxmlformats.org/officeDocument/2006/math">
                      <m:sSub>
                        <m:sSubPr>
                          <m:ctrlPr>
                            <a:rPr lang="ar-AE"/>
                          </m:ctrlPr>
                        </m:sSubPr>
                        <m:e>
                          <m:r>
                            <a:rPr lang="ar-AE" i="1"/>
                            <m:t>𝐹</m:t>
                          </m:r>
                        </m:e>
                        <m:sub>
                          <m:r>
                            <a:rPr lang="ar-AE"/>
                            <m:t>0</m:t>
                          </m:r>
                          <m:r>
                            <a:rPr lang="ar-AE"/>
                            <m:t>.</m:t>
                          </m:r>
                          <m:r>
                            <a:rPr lang="ar-AE"/>
                            <m:t>05</m:t>
                          </m:r>
                        </m:sub>
                      </m:sSub>
                      <m:d>
                        <m:dPr>
                          <m:sepChr m:val=","/>
                          <m:ctrlPr>
                            <a:rPr lang="ar-AE" i="1"/>
                          </m:ctrlPr>
                        </m:dPr>
                        <m:e>
                          <m:r>
                            <a:rPr lang="ar-AE"/>
                            <m:t>2</m:t>
                          </m:r>
                        </m:e>
                        <m:e>
                          <m:r>
                            <a:rPr lang="ar-AE"/>
                            <m:t>6</m:t>
                          </m:r>
                        </m:e>
                      </m:d>
                      <m:r>
                        <a:rPr lang="ar-AE"/>
                        <m:t>≈</m:t>
                      </m:r>
                      <m:r>
                        <a:rPr lang="ar-AE"/>
                        <m:t>5</m:t>
                      </m:r>
                      <m:r>
                        <a:rPr lang="ar-AE"/>
                        <m:t>.</m:t>
                      </m:r>
                      <m:r>
                        <a:rPr lang="ar-AE"/>
                        <m:t>14</m:t>
                      </m:r>
                    </m:oMath>
                  </m:oMathPara>
                </a14:m>
                <a:endParaRPr lang="ar-AE" dirty="0"/>
              </a:p>
              <a:p>
                <a:pPr marL="0" indent="0">
                  <a:buNone/>
                </a:pPr>
                <a:r>
                  <a:rPr lang="en-US" dirty="0"/>
                  <a:t>Since</a:t>
                </a:r>
              </a:p>
              <a:p>
                <a:pPr marL="0" indent="0">
                  <a:buNone/>
                </a:pPr>
                <a14:m>
                  <m:oMathPara xmlns:m="http://schemas.openxmlformats.org/officeDocument/2006/math">
                    <m:oMathParaPr>
                      <m:jc m:val="centerGroup"/>
                    </m:oMathParaPr>
                    <m:oMath xmlns:m="http://schemas.openxmlformats.org/officeDocument/2006/math">
                      <m:sSub>
                        <m:sSubPr>
                          <m:ctrlPr>
                            <a:rPr lang="ar-AE"/>
                          </m:ctrlPr>
                        </m:sSubPr>
                        <m:e>
                          <m:r>
                            <a:rPr lang="ar-AE" i="1"/>
                            <m:t>𝐹</m:t>
                          </m:r>
                        </m:e>
                        <m:sub>
                          <m:r>
                            <a:rPr lang="ar-AE" i="1"/>
                            <m:t>𝑐𝑎𝑙𝑐</m:t>
                          </m:r>
                        </m:sub>
                      </m:sSub>
                      <m:r>
                        <a:rPr lang="ar-AE"/>
                        <m:t>=</m:t>
                      </m:r>
                      <m:r>
                        <a:rPr lang="ar-AE"/>
                        <m:t>10</m:t>
                      </m:r>
                      <m:r>
                        <a:rPr lang="ar-AE"/>
                        <m:t>.</m:t>
                      </m:r>
                      <m:r>
                        <a:rPr lang="ar-AE"/>
                        <m:t>13</m:t>
                      </m:r>
                      <m:r>
                        <a:rPr lang="ar-AE"/>
                        <m:t>&gt;</m:t>
                      </m:r>
                      <m:r>
                        <a:rPr lang="ar-AE"/>
                        <m:t>5</m:t>
                      </m:r>
                      <m:r>
                        <a:rPr lang="ar-AE"/>
                        <m:t>.</m:t>
                      </m:r>
                      <m:r>
                        <a:rPr lang="ar-AE"/>
                        <m:t>14</m:t>
                      </m:r>
                    </m:oMath>
                  </m:oMathPara>
                </a14:m>
                <a:endParaRPr lang="ar-AE" dirty="0"/>
              </a:p>
              <a:p>
                <a:pPr marL="0" indent="0">
                  <a:buNone/>
                </a:pPr>
                <a:r>
                  <a:rPr lang="en-US" dirty="0"/>
                  <a:t>Reject </a:t>
                </a:r>
                <a14:m>
                  <m:oMath xmlns:m="http://schemas.openxmlformats.org/officeDocument/2006/math">
                    <m:sSub>
                      <m:sSubPr>
                        <m:ctrlPr>
                          <a:rPr lang="ar-AE"/>
                        </m:ctrlPr>
                      </m:sSubPr>
                      <m:e>
                        <m:r>
                          <a:rPr lang="ar-AE" i="1"/>
                          <m:t>𝐻</m:t>
                        </m:r>
                      </m:e>
                      <m:sub>
                        <m:r>
                          <a:rPr lang="ar-AE"/>
                          <m:t>0</m:t>
                        </m:r>
                      </m:sub>
                    </m:sSub>
                  </m:oMath>
                </a14:m>
                <a:r>
                  <a:rPr lang="ar-AE" dirty="0"/>
                  <a:t>.</a:t>
                </a:r>
              </a:p>
              <a:p>
                <a:pPr marL="0" indent="0">
                  <a:buNone/>
                </a:pPr>
                <a:endParaRPr lang="en-US" dirty="0"/>
              </a:p>
            </p:txBody>
          </p:sp>
        </mc:Choice>
        <mc:Fallback>
          <p:sp>
            <p:nvSpPr>
              <p:cNvPr id="3" name="Content Placeholder 2">
                <a:extLst>
                  <a:ext uri="{FF2B5EF4-FFF2-40B4-BE49-F238E27FC236}">
                    <a16:creationId xmlns:a16="http://schemas.microsoft.com/office/drawing/2014/main" id="{85E3BA97-29E5-0122-5B1B-25231D2D1655}"/>
                  </a:ext>
                </a:extLst>
              </p:cNvPr>
              <p:cNvSpPr>
                <a:spLocks noGrp="1" noRot="1" noChangeAspect="1" noMove="1" noResize="1" noEditPoints="1" noAdjustHandles="1" noChangeArrowheads="1" noChangeShapeType="1" noTextEdit="1"/>
              </p:cNvSpPr>
              <p:nvPr>
                <p:ph idx="1"/>
              </p:nvPr>
            </p:nvSpPr>
            <p:spPr>
              <a:xfrm>
                <a:off x="838200" y="374904"/>
                <a:ext cx="10515600" cy="5802059"/>
              </a:xfrm>
              <a:blipFill>
                <a:blip r:embed="rId2"/>
                <a:stretch>
                  <a:fillRect l="-1217" t="-1893"/>
                </a:stretch>
              </a:blipFill>
            </p:spPr>
            <p:txBody>
              <a:bodyPr/>
              <a:lstStyle/>
              <a:p>
                <a:r>
                  <a:rPr lang="en-US">
                    <a:noFill/>
                  </a:rPr>
                  <a:t> </a:t>
                </a:r>
              </a:p>
            </p:txBody>
          </p:sp>
        </mc:Fallback>
      </mc:AlternateContent>
    </p:spTree>
    <p:extLst>
      <p:ext uri="{BB962C8B-B14F-4D97-AF65-F5344CB8AC3E}">
        <p14:creationId xmlns:p14="http://schemas.microsoft.com/office/powerpoint/2010/main" val="27642052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FC50A8C-F65E-F5D9-8F01-EA36AAC7C71C}"/>
              </a:ext>
            </a:extLst>
          </p:cNvPr>
          <p:cNvSpPr txBox="1"/>
          <p:nvPr/>
        </p:nvSpPr>
        <p:spPr>
          <a:xfrm>
            <a:off x="4040372" y="1706738"/>
            <a:ext cx="563526" cy="369332"/>
          </a:xfrm>
          <a:prstGeom prst="rect">
            <a:avLst/>
          </a:prstGeom>
          <a:solidFill>
            <a:schemeClr val="accent2">
              <a:lumMod val="20000"/>
              <a:lumOff val="80000"/>
            </a:schemeClr>
          </a:solidFill>
          <a:ln>
            <a:solidFill>
              <a:srgbClr val="FF0000"/>
            </a:solidFill>
          </a:ln>
        </p:spPr>
        <p:txBody>
          <a:bodyPr wrap="square" rtlCol="0">
            <a:spAutoFit/>
          </a:bodyPr>
          <a:lstStyle/>
          <a:p>
            <a:endParaRPr lang="en-US" dirty="0">
              <a:solidFill>
                <a:schemeClr val="accent5">
                  <a:lumMod val="40000"/>
                  <a:lumOff val="60000"/>
                </a:schemeClr>
              </a:solidFill>
              <a:highlight>
                <a:srgbClr val="FF00FF"/>
              </a:highlight>
            </a:endParaRPr>
          </a:p>
        </p:txBody>
      </p:sp>
      <p:pic>
        <p:nvPicPr>
          <p:cNvPr id="1026" name="Picture 2" descr="F-Table">
            <a:extLst>
              <a:ext uri="{FF2B5EF4-FFF2-40B4-BE49-F238E27FC236}">
                <a16:creationId xmlns:a16="http://schemas.microsoft.com/office/drawing/2014/main" id="{8BC214B0-22AD-B22C-DB0F-368C67720EB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55489" y="-95055"/>
            <a:ext cx="9133367" cy="6284870"/>
          </a:xfrm>
          <a:prstGeom prst="rect">
            <a:avLst/>
          </a:prstGeom>
          <a:noFill/>
          <a:extLst>
            <a:ext uri="{909E8E84-426E-40DD-AFC4-6F175D3DCCD1}">
              <a14:hiddenFill xmlns:a14="http://schemas.microsoft.com/office/drawing/2010/main">
                <a:solidFill>
                  <a:srgbClr val="FFFFFF"/>
                </a:solidFill>
              </a14:hiddenFill>
            </a:ext>
          </a:extLst>
        </p:spPr>
      </p:pic>
      <p:sp>
        <p:nvSpPr>
          <p:cNvPr id="5" name="Oval 4">
            <a:extLst>
              <a:ext uri="{FF2B5EF4-FFF2-40B4-BE49-F238E27FC236}">
                <a16:creationId xmlns:a16="http://schemas.microsoft.com/office/drawing/2014/main" id="{0B6B69A8-3F50-1FDF-E774-108088643413}"/>
              </a:ext>
            </a:extLst>
          </p:cNvPr>
          <p:cNvSpPr/>
          <p:nvPr/>
        </p:nvSpPr>
        <p:spPr>
          <a:xfrm>
            <a:off x="3876595" y="1584960"/>
            <a:ext cx="891080" cy="203200"/>
          </a:xfrm>
          <a:prstGeom prst="ellipse">
            <a:avLst/>
          </a:prstGeom>
          <a:solidFill>
            <a:schemeClr val="lt1">
              <a:alpha val="1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0934805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6DA5323-7D7C-4384-85BA-31B09B851D91}">
  <we:reference id="4b785c87-866c-4bad-85d8-5d1ae467ac9a" version="3.22.0.0" store="EXCatalog" storeType="EXCatalog"/>
  <we:alternateReferences>
    <we:reference id="WA104381909" version="3.22.0.0" store="en-US"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15290</TotalTime>
  <Words>4162</Words>
  <Application>Microsoft Office PowerPoint</Application>
  <PresentationFormat>Widescreen</PresentationFormat>
  <Paragraphs>683</Paragraphs>
  <Slides>61</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61</vt:i4>
      </vt:variant>
    </vt:vector>
  </HeadingPairs>
  <TitlesOfParts>
    <vt:vector size="71" baseType="lpstr">
      <vt:lpstr>Aptos</vt:lpstr>
      <vt:lpstr>Aptos Display</vt:lpstr>
      <vt:lpstr>Arial</vt:lpstr>
      <vt:lpstr>Arial-BoldMT</vt:lpstr>
      <vt:lpstr>Cambria Math</vt:lpstr>
      <vt:lpstr>Droid Sans</vt:lpstr>
      <vt:lpstr>Times New Roman</vt:lpstr>
      <vt:lpstr>TimesNewRomanPS-ItalicMT</vt:lpstr>
      <vt:lpstr>TimesNewRomanPSMT</vt:lpstr>
      <vt:lpstr>Office Theme</vt:lpstr>
      <vt:lpstr>Unit 3 Lec1 Concept of population and sample, sampling techniques, estimation, confidence intervals, chi-square test, ANOVA, non-parametric tests), p-values and interpretation. </vt:lpstr>
      <vt:lpstr>PowerPoint Presentation</vt:lpstr>
      <vt:lpstr>Sampling Techniques</vt:lpstr>
      <vt:lpstr>PowerPoint Presentation</vt:lpstr>
      <vt:lpstr>Estimation</vt:lpstr>
      <vt:lpstr>PowerPoint Presentation</vt:lpstr>
      <vt:lpstr>Types of Estimation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Sampling Distribution of the Mean Example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 1 and Type 2 error</vt:lpstr>
      <vt:lpstr>Example 1: Students in SDA have 85% marks in the subject. A sample of 150 students was taken and it was found that the avg marks was 88%. With SD of 4%. Does the marks rate differ from the actual. Significance value 0.05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Chi-Square Test (χ² Test)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Understanding P-Values</vt:lpstr>
      <vt:lpstr>Example 1: A certain type of stainless steel powder is supposed to have a mean particle diameter of μ = 15 units. A random sample of 87 particles had a mean diameter of 15.2 units, with a standard deviation of 1.8 units. A test is made of H0 : μ = 15 versus H1 : μ ̸= 15.  (a) Find the P-value.  (b) Do you believe it is plausible that the mean diameter is 15 units,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Ishfaq Hussain Rather</dc:creator>
  <cp:lastModifiedBy>Ishfaq Hussain Rather</cp:lastModifiedBy>
  <cp:revision>8</cp:revision>
  <dcterms:created xsi:type="dcterms:W3CDTF">2026-02-23T07:13:15Z</dcterms:created>
  <dcterms:modified xsi:type="dcterms:W3CDTF">2026-03-08T00:22:50Z</dcterms:modified>
</cp:coreProperties>
</file>